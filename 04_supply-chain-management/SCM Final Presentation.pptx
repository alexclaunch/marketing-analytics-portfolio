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1E_0.xml" ContentType="application/vnd.ms-powerpoint.comments+xml"/>
  <Override PartName="/ppt/notesSlides/notesSlide13.xml" ContentType="application/vnd.openxmlformats-officedocument.presentationml.notesSlide+xml"/>
  <Override PartName="/ppt/comments/modernComment_10C_0.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75" r:id="rId5"/>
    <p:sldId id="276" r:id="rId6"/>
    <p:sldId id="277" r:id="rId7"/>
    <p:sldId id="278" r:id="rId8"/>
    <p:sldId id="279" r:id="rId9"/>
    <p:sldId id="280" r:id="rId10"/>
    <p:sldId id="281" r:id="rId11"/>
    <p:sldId id="282" r:id="rId12"/>
    <p:sldId id="283" r:id="rId13"/>
    <p:sldId id="284" r:id="rId14"/>
    <p:sldId id="285" r:id="rId15"/>
    <p:sldId id="286" r:id="rId16"/>
    <p:sldId id="268" r:id="rId17"/>
    <p:sldId id="293" r:id="rId18"/>
    <p:sldId id="269" r:id="rId19"/>
    <p:sldId id="287" r:id="rId20"/>
    <p:sldId id="288" r:id="rId21"/>
    <p:sldId id="289" r:id="rId22"/>
    <p:sldId id="290" r:id="rId23"/>
    <p:sldId id="292"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D9974A51-17DD-14CC-654B-665C2CE4633D}" name="Alex Claunch" initials="AC" userId="S::Alex.Claunch@du.edu::d48fbc05-e3a2-4cc4-8928-a3dee7b357f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BEB33-3D16-4949-8BEA-1592584CA3C1}" v="4728" dt="2026-05-28T15:31:08.135"/>
    <p1510:client id="{82E69A5B-86CF-48ED-8C8F-B5750778711F}" v="1" dt="2026-05-28T16:28:15.914"/>
    <p1510:client id="{BA10B12C-EF78-4AA2-9AFC-F14CD474E8D2}" v="14" dt="2026-05-28T17:16:35.674"/>
    <p1510:client id="{D1672BF6-118C-FD4B-907F-0CE09FBB6D17}" v="372" dt="2026-05-28T17:59:44.148"/>
    <p1510:client id="{E2BB1DEB-6622-6C4B-8A12-278528253784}" v="490" dt="2026-05-28T17:45:49.737"/>
  </p1510:revLst>
</p1510:revInfo>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38978"/>
  </p:normalViewPr>
  <p:slideViewPr>
    <p:cSldViewPr snapToGrid="0">
      <p:cViewPr>
        <p:scale>
          <a:sx n="53" d="100"/>
          <a:sy n="53" d="100"/>
        </p:scale>
        <p:origin x="3224" y="120"/>
      </p:cViewPr>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A2522"/>
                </a:solidFill>
                <a:latin typeface="Calibri"/>
              </a:defRPr>
            </a:pPr>
            <a:r>
              <a:rPr lang="en-US" sz="1200" b="0" i="0" u="none" strike="noStrike">
                <a:solidFill>
                  <a:srgbClr val="2A2522"/>
                </a:solidFill>
                <a:latin typeface="Calibri"/>
              </a:rPr>
              <a:t>Coefficient of Variation, by Variable (n = 122 countries)</a:t>
            </a:r>
          </a:p>
        </c:rich>
      </c:tx>
      <c:overlay val="0"/>
    </c:title>
    <c:autoTitleDeleted val="0"/>
    <c:plotArea>
      <c:layout/>
      <c:barChart>
        <c:barDir val="col"/>
        <c:grouping val="clustered"/>
        <c:varyColors val="0"/>
        <c:ser>
          <c:idx val="0"/>
          <c:order val="0"/>
          <c:tx>
            <c:strRef>
              <c:f>Sheet1!$B$1</c:f>
              <c:strCache>
                <c:ptCount val="1"/>
                <c:pt idx="0">
                  <c:v>CV %</c:v>
                </c:pt>
              </c:strCache>
            </c:strRef>
          </c:tx>
          <c:spPr>
            <a:solidFill>
              <a:srgbClr val="7CB342"/>
            </a:solidFill>
            <a:effectLst/>
          </c:spPr>
          <c:invertIfNegative val="0"/>
          <c:dLbls>
            <c:numFmt formatCode="0.0\%" sourceLinked="0"/>
            <c:spPr>
              <a:noFill/>
              <a:ln>
                <a:noFill/>
              </a:ln>
              <a:effectLst/>
            </c:spPr>
            <c:txPr>
              <a:bodyPr/>
              <a:lstStyle/>
              <a:p>
                <a:pPr>
                  <a:defRPr sz="1000" b="1" i="0" u="none" strike="noStrike">
                    <a:solidFill>
                      <a:srgbClr val="2A25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Production (t)</c:v>
                </c:pt>
                <c:pt idx="1">
                  <c:v>Domestic Supply (t)</c:v>
                </c:pt>
                <c:pt idx="2">
                  <c:v>Supply Chain Waste (t)</c:v>
                </c:pt>
                <c:pt idx="3">
                  <c:v>Population</c:v>
                </c:pt>
                <c:pt idx="4">
                  <c:v>Food (t)</c:v>
                </c:pt>
                <c:pt idx="5">
                  <c:v>Waste per Capita (t)</c:v>
                </c:pt>
                <c:pt idx="6">
                  <c:v>Food Supply (kg/cap)</c:v>
                </c:pt>
              </c:strCache>
            </c:strRef>
          </c:cat>
          <c:val>
            <c:numRef>
              <c:f>Sheet1!$B$2:$B$8</c:f>
              <c:numCache>
                <c:formatCode>General</c:formatCode>
                <c:ptCount val="7"/>
                <c:pt idx="0">
                  <c:v>435.9</c:v>
                </c:pt>
                <c:pt idx="1">
                  <c:v>410.1</c:v>
                </c:pt>
                <c:pt idx="2">
                  <c:v>408.8</c:v>
                </c:pt>
                <c:pt idx="3">
                  <c:v>300.8</c:v>
                </c:pt>
                <c:pt idx="4">
                  <c:v>192.1</c:v>
                </c:pt>
                <c:pt idx="5">
                  <c:v>150.19999999999999</c:v>
                </c:pt>
                <c:pt idx="6">
                  <c:v>103.3</c:v>
                </c:pt>
              </c:numCache>
            </c:numRef>
          </c:val>
          <c:extLst>
            <c:ext xmlns:c16="http://schemas.microsoft.com/office/drawing/2014/chart" uri="{C3380CC4-5D6E-409C-BE32-E72D297353CC}">
              <c16:uniqueId val="{00000000-2806-D04D-AB64-862828C35E0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A2522"/>
                </a:solidFill>
                <a:latin typeface="Arial"/>
              </a:defRPr>
            </a:pPr>
            <a:endParaRPr lang="en-US"/>
          </a:p>
        </c:txPr>
        <c:crossAx val="2094734552"/>
        <c:crosses val="autoZero"/>
        <c:auto val="1"/>
        <c:lblAlgn val="ctr"/>
        <c:lblOffset val="100"/>
        <c:noMultiLvlLbl val="1"/>
      </c:catAx>
      <c:valAx>
        <c:axId val="2094734552"/>
        <c:scaling>
          <c:orientation val="minMax"/>
          <c:max val="500"/>
        </c:scaling>
        <c:delete val="0"/>
        <c:axPos val="l"/>
        <c:majorGridlines>
          <c:spPr>
            <a:ln w="6350" cap="flat">
              <a:solidFill>
                <a:srgbClr val="E5DB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5F5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AF4E6"/>
    </a:solidFill>
    <a:ln w="6350" cap="flat">
      <a:solidFill>
        <a:srgbClr val="DCD4BE"/>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A2522"/>
                </a:solidFill>
                <a:latin typeface="Calibri"/>
              </a:defRPr>
            </a:pPr>
            <a:r>
              <a:rPr lang="en-US" sz="1200" b="0" i="0" u="none" strike="noStrike">
                <a:solidFill>
                  <a:srgbClr val="2A2522"/>
                </a:solidFill>
                <a:latin typeface="Calibri"/>
              </a:rPr>
              <a:t>Country share of global supply-chain waste (60.79M t total)</a:t>
            </a:r>
          </a:p>
        </c:rich>
      </c:tx>
      <c:overlay val="0"/>
    </c:title>
    <c:autoTitleDeleted val="0"/>
    <c:plotArea>
      <c:layout/>
      <c:barChart>
        <c:barDir val="col"/>
        <c:grouping val="clustered"/>
        <c:varyColors val="0"/>
        <c:ser>
          <c:idx val="0"/>
          <c:order val="0"/>
          <c:tx>
            <c:strRef>
              <c:f>Sheet1!$B$1</c:f>
              <c:strCache>
                <c:ptCount val="1"/>
                <c:pt idx="0">
                  <c:v>Share of Global SC Waste (%)</c:v>
                </c:pt>
              </c:strCache>
            </c:strRef>
          </c:tx>
          <c:spPr>
            <a:solidFill>
              <a:srgbClr val="7CB342">
                <a:alpha val="100000"/>
              </a:srgbClr>
            </a:solidFill>
            <a:effectLst/>
          </c:spPr>
          <c:invertIfNegative val="0"/>
          <c:dPt>
            <c:idx val="0"/>
            <c:invertIfNegative val="0"/>
            <c:bubble3D val="0"/>
            <c:spPr>
              <a:solidFill>
                <a:srgbClr val="7CB342"/>
              </a:solidFill>
              <a:effectLst/>
            </c:spPr>
            <c:extLst>
              <c:ext xmlns:c16="http://schemas.microsoft.com/office/drawing/2014/chart" uri="{C3380CC4-5D6E-409C-BE32-E72D297353CC}">
                <c16:uniqueId val="{00000001-E023-CE44-9042-2F0FBA0FD212}"/>
              </c:ext>
            </c:extLst>
          </c:dPt>
          <c:dPt>
            <c:idx val="1"/>
            <c:invertIfNegative val="0"/>
            <c:bubble3D val="0"/>
            <c:spPr>
              <a:solidFill>
                <a:srgbClr val="7CB342"/>
              </a:solidFill>
              <a:effectLst/>
            </c:spPr>
            <c:extLst>
              <c:ext xmlns:c16="http://schemas.microsoft.com/office/drawing/2014/chart" uri="{C3380CC4-5D6E-409C-BE32-E72D297353CC}">
                <c16:uniqueId val="{00000003-E023-CE44-9042-2F0FBA0FD212}"/>
              </c:ext>
            </c:extLst>
          </c:dPt>
          <c:dPt>
            <c:idx val="2"/>
            <c:invertIfNegative val="0"/>
            <c:bubble3D val="0"/>
            <c:spPr>
              <a:solidFill>
                <a:srgbClr val="7CB342"/>
              </a:solidFill>
              <a:effectLst/>
            </c:spPr>
            <c:extLst>
              <c:ext xmlns:c16="http://schemas.microsoft.com/office/drawing/2014/chart" uri="{C3380CC4-5D6E-409C-BE32-E72D297353CC}">
                <c16:uniqueId val="{00000005-E023-CE44-9042-2F0FBA0FD212}"/>
              </c:ext>
            </c:extLst>
          </c:dPt>
          <c:dPt>
            <c:idx val="3"/>
            <c:invertIfNegative val="0"/>
            <c:bubble3D val="0"/>
            <c:spPr>
              <a:solidFill>
                <a:srgbClr val="7CB342"/>
              </a:solidFill>
              <a:effectLst/>
            </c:spPr>
            <c:extLst>
              <c:ext xmlns:c16="http://schemas.microsoft.com/office/drawing/2014/chart" uri="{C3380CC4-5D6E-409C-BE32-E72D297353CC}">
                <c16:uniqueId val="{00000007-E023-CE44-9042-2F0FBA0FD212}"/>
              </c:ext>
            </c:extLst>
          </c:dPt>
          <c:dPt>
            <c:idx val="4"/>
            <c:invertIfNegative val="0"/>
            <c:bubble3D val="0"/>
            <c:spPr>
              <a:solidFill>
                <a:srgbClr val="B5D49A"/>
              </a:solidFill>
              <a:effectLst/>
            </c:spPr>
            <c:extLst>
              <c:ext xmlns:c16="http://schemas.microsoft.com/office/drawing/2014/chart" uri="{C3380CC4-5D6E-409C-BE32-E72D297353CC}">
                <c16:uniqueId val="{00000009-E023-CE44-9042-2F0FBA0FD212}"/>
              </c:ext>
            </c:extLst>
          </c:dPt>
          <c:dPt>
            <c:idx val="5"/>
            <c:invertIfNegative val="0"/>
            <c:bubble3D val="0"/>
            <c:spPr>
              <a:solidFill>
                <a:srgbClr val="B5D49A"/>
              </a:solidFill>
              <a:effectLst/>
            </c:spPr>
            <c:extLst>
              <c:ext xmlns:c16="http://schemas.microsoft.com/office/drawing/2014/chart" uri="{C3380CC4-5D6E-409C-BE32-E72D297353CC}">
                <c16:uniqueId val="{0000000B-E023-CE44-9042-2F0FBA0FD212}"/>
              </c:ext>
            </c:extLst>
          </c:dPt>
          <c:dPt>
            <c:idx val="6"/>
            <c:invertIfNegative val="0"/>
            <c:bubble3D val="0"/>
            <c:spPr>
              <a:solidFill>
                <a:srgbClr val="B5D49A"/>
              </a:solidFill>
              <a:effectLst/>
            </c:spPr>
            <c:extLst>
              <c:ext xmlns:c16="http://schemas.microsoft.com/office/drawing/2014/chart" uri="{C3380CC4-5D6E-409C-BE32-E72D297353CC}">
                <c16:uniqueId val="{0000000D-E023-CE44-9042-2F0FBA0FD212}"/>
              </c:ext>
            </c:extLst>
          </c:dPt>
          <c:dPt>
            <c:idx val="7"/>
            <c:invertIfNegative val="0"/>
            <c:bubble3D val="0"/>
            <c:spPr>
              <a:solidFill>
                <a:srgbClr val="DCD4BE"/>
              </a:solidFill>
              <a:effectLst/>
            </c:spPr>
            <c:extLst>
              <c:ext xmlns:c16="http://schemas.microsoft.com/office/drawing/2014/chart" uri="{C3380CC4-5D6E-409C-BE32-E72D297353CC}">
                <c16:uniqueId val="{0000000F-E023-CE44-9042-2F0FBA0FD212}"/>
              </c:ext>
            </c:extLst>
          </c:dPt>
          <c:dLbls>
            <c:numFmt formatCode="0.0\%" sourceLinked="0"/>
            <c:spPr>
              <a:noFill/>
              <a:ln>
                <a:noFill/>
              </a:ln>
              <a:effectLst/>
            </c:spPr>
            <c:txPr>
              <a:bodyPr/>
              <a:lstStyle/>
              <a:p>
                <a:pPr>
                  <a:defRPr sz="1000" b="1" i="0" u="none" strike="noStrike">
                    <a:solidFill>
                      <a:srgbClr val="2A25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United States</c:v>
                </c:pt>
                <c:pt idx="1">
                  <c:v>China</c:v>
                </c:pt>
                <c:pt idx="2">
                  <c:v>Brazil</c:v>
                </c:pt>
                <c:pt idx="3">
                  <c:v>Mexico</c:v>
                </c:pt>
                <c:pt idx="4">
                  <c:v>Indonesia</c:v>
                </c:pt>
                <c:pt idx="5">
                  <c:v>India</c:v>
                </c:pt>
                <c:pt idx="6">
                  <c:v>Egypt</c:v>
                </c:pt>
                <c:pt idx="7">
                  <c:v>All other 115 countries</c:v>
                </c:pt>
              </c:strCache>
            </c:strRef>
          </c:cat>
          <c:val>
            <c:numRef>
              <c:f>Sheet1!$B$2:$B$9</c:f>
              <c:numCache>
                <c:formatCode>General</c:formatCode>
                <c:ptCount val="8"/>
                <c:pt idx="0">
                  <c:v>26</c:v>
                </c:pt>
                <c:pt idx="1">
                  <c:v>19.600000000000001</c:v>
                </c:pt>
                <c:pt idx="2">
                  <c:v>16.899999999999999</c:v>
                </c:pt>
                <c:pt idx="3">
                  <c:v>8.1999999999999993</c:v>
                </c:pt>
                <c:pt idx="4">
                  <c:v>2.2999999999999998</c:v>
                </c:pt>
                <c:pt idx="5">
                  <c:v>2.1</c:v>
                </c:pt>
                <c:pt idx="6">
                  <c:v>1.9</c:v>
                </c:pt>
                <c:pt idx="7">
                  <c:v>23</c:v>
                </c:pt>
              </c:numCache>
            </c:numRef>
          </c:val>
          <c:extLst>
            <c:ext xmlns:c16="http://schemas.microsoft.com/office/drawing/2014/chart" uri="{C3380CC4-5D6E-409C-BE32-E72D297353CC}">
              <c16:uniqueId val="{00000010-E023-CE44-9042-2F0FBA0FD21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A2522"/>
                </a:solidFill>
                <a:latin typeface="Arial"/>
              </a:defRPr>
            </a:pPr>
            <a:endParaRPr lang="en-US"/>
          </a:p>
        </c:txPr>
        <c:crossAx val="2094734552"/>
        <c:crosses val="autoZero"/>
        <c:auto val="1"/>
        <c:lblAlgn val="ctr"/>
        <c:lblOffset val="100"/>
        <c:noMultiLvlLbl val="1"/>
      </c:catAx>
      <c:valAx>
        <c:axId val="2094734552"/>
        <c:scaling>
          <c:orientation val="minMax"/>
          <c:max val="32"/>
        </c:scaling>
        <c:delete val="0"/>
        <c:axPos val="l"/>
        <c:majorGridlines>
          <c:spPr>
            <a:ln w="6350" cap="flat">
              <a:solidFill>
                <a:srgbClr val="E5DB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5F5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AF4E6"/>
    </a:solidFill>
    <a:ln w="6350" cap="flat">
      <a:solidFill>
        <a:srgbClr val="DCD4BE"/>
      </a:solidFill>
    </a:ln>
    <a:effectLst/>
  </c:spPr>
  <c:externalData r:id="rId1">
    <c:autoUpdate val="0"/>
  </c:externalData>
</c:chartSpace>
</file>

<file path=ppt/comments/modernComment_10C_0.xml><?xml version="1.0" encoding="utf-8"?>
<p188:cmLst xmlns:a="http://schemas.openxmlformats.org/drawingml/2006/main" xmlns:r="http://schemas.openxmlformats.org/officeDocument/2006/relationships" xmlns:p188="http://schemas.microsoft.com/office/powerpoint/2018/8/main">
  <p188:cm id="{C335B81E-11AA-7D43-A117-7173AFDC3BE5}" authorId="{D9974A51-17DD-14CC-654B-665C2CE4633D}" created="2026-05-28T16:30:27.368">
    <pc:sldMkLst xmlns:pc="http://schemas.microsoft.com/office/powerpoint/2013/main/command">
      <pc:docMk/>
      <pc:sldMk cId="0" sldId="268"/>
    </pc:sldMkLst>
    <p188:txBody>
      <a:bodyPr/>
      <a:lstStyle/>
      <a:p>
        <a:r>
          <a:rPr lang="en-US"/>
          <a:t>we discussed that you shouldn’t propose solutions that aren’t substantiated in your numbers, but you did so anyway – there’s no evidence through your numbers to use food banks, inland cold-storage, etc.  You’re ideating,  and we spent like 20 minutes yesterday discussing that you shouldn’t do this.  Again, I’m not here to agree or disagree, but rather to see whether your recommendations are supported through analysis (the whole purpose of the process).
</a:t>
        </a:r>
      </a:p>
    </p188:txBody>
  </p188:cm>
</p188:cmLst>
</file>

<file path=ppt/comments/modernComment_11E_0.xml><?xml version="1.0" encoding="utf-8"?>
<p188:cmLst xmlns:a="http://schemas.openxmlformats.org/drawingml/2006/main" xmlns:r="http://schemas.openxmlformats.org/officeDocument/2006/relationships" xmlns:p188="http://schemas.microsoft.com/office/powerpoint/2018/8/main">
  <p188:cm id="{4AFD9EF5-DB41-D94F-9125-88972C7C579A}" authorId="{D9974A51-17DD-14CC-654B-665C2CE4633D}" created="2026-05-28T16:29:49.214">
    <pc:sldMkLst xmlns:pc="http://schemas.microsoft.com/office/powerpoint/2013/main/command">
      <pc:docMk/>
      <pc:sldMk cId="0" sldId="286"/>
    </pc:sldMkLst>
    <p188:txBody>
      <a:bodyPr/>
      <a:lstStyle/>
      <a:p>
        <a:r>
          <a:rPr lang="en-US"/>
          <a:t>Slide 12 shows a clear breakdown of the Top 4, but it’s not recommendations – recommendations are what you’re proposing to do.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10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 we will present our analysis of world food waste through the DMAIC framework.</a:t>
            </a:r>
          </a:p>
          <a:p>
            <a:r>
              <a:rPr lang="en-US"/>
              <a:t>This presentation is not focused on one company because the organization we are analyzing is the global food system itself. Our goal was not simply to find where food waste exists, but to understand what the data forces us to conclude. Based on the feedback from our draft, we focused on creating one unified conclusion grounded in variation statistics instead of presenting several disconnected findings.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defines the problem we are trying to solve: reducing food waste worldwide. We intentionally kept the statement broad because in DMAIC, defining the problem too narrowly too early can bias the analysis before the data is fully explored.</a:t>
            </a:r>
          </a:p>
          <a:p>
            <a:r>
              <a:rPr lang="en-US"/>
              <a:t>The reason this issue matters now is because we finally have large country-level supply chain waste data across 122 countries. This allows us to study food waste at a global system level instead of focusing on only one company or region. The impact is massive, affecting about 7.38 billion people worldwide.</a:t>
            </a:r>
          </a:p>
          <a:p>
            <a:r>
              <a:rPr lang="en-US"/>
              <a:t>Another important point is that our goal was not to decide in advance where the problem exists most. Instead, we wanted the variation in the data to guide the analysis. From this point forward, every slide is focused on answering where the biggest inefficiencies and opportunities actually are based on the statistics, not our assumptions.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our data source and why it is reliable. We used the FAO Food Loss and Waste Database from 2019, which is one of the main global datasets for food waste research.</a:t>
            </a:r>
          </a:p>
          <a:p>
            <a:r>
              <a:rPr lang="en-US" dirty="0"/>
              <a:t>The data covers 122 countries across 5 continents, representing 96% of the world’s population. It also measures over 60 million </a:t>
            </a:r>
            <a:r>
              <a:rPr lang="en-US" dirty="0" err="1"/>
              <a:t>tonnes</a:t>
            </a:r>
            <a:r>
              <a:rPr lang="en-US" dirty="0"/>
              <a:t> of supply chain waste. We simplified 26 raw columns into 7 key variables to make the analysis more focused and consistent.</a:t>
            </a:r>
          </a:p>
          <a:p>
            <a:r>
              <a:rPr lang="en-US" dirty="0"/>
              <a:t>Because this dataset is so broad, our findings are based on global-level evidence rather than a small sample.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we cleaned the dataset to make the analysis more accurate and comparable. We started with 233 raw entries and narrowed it down to 122 countries with complete and reliable data.</a:t>
            </a:r>
          </a:p>
          <a:p>
            <a:r>
              <a:rPr lang="en-US" dirty="0"/>
              <a:t>We removed non-country entries, micro-states with populations under 2 million, and countries missing key supply chain variables. The goal was not convenience, but consistency and fairness in comparison.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final variable list. Out of 26 raw FAO columns, these are the seven we kept and analyzed in every step that follows. </a:t>
            </a:r>
          </a:p>
          <a:p>
            <a:endParaRPr lang="en-US"/>
          </a:p>
          <a:p>
            <a:r>
              <a:rPr lang="en-US"/>
              <a:t>Walk the audience down the chain — the variables map to the actual flow of food: production at the top, then trade-adjusted supply, then what reaches consumers, then what's lost. Call out that the last two are per-capita versions — those are the ones that let us separate scale effects from structural effects in Analyze. That separation is what makes the whole analysis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specific gap Analyze has to close. The naive solution would be a uniform 10% cut applied globally — that's the strawman the next two slides will demolish. Set up the tension: is this gap closeable with uniform global policy, or does the variance force us to a targeted strategy? We'll answer that with statistics, not opinion.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lenses, applied to all 7 variables and 122 countries — no cherry-picking. Spend extra time on CV: it's the only statistic that lets us compare variance on different scales. Population in billions and food supply in kilos per person can't be compared directly, but their CVs can. That's why CV is the spine of the analysis — it's what makes seven separate variables collapse into one unified picture.  </a:t>
            </a:r>
          </a:p>
          <a:p>
            <a:r>
              <a:rPr lang="en-US"/>
              <a:t>       </a:t>
            </a:r>
          </a:p>
          <a:p>
            <a:r>
              <a:rPr lang="en-US"/>
              <a:t>To analyze our seven variables across 122 countries, we applied three statistical lenses. First, descriptive statistics to understand the basic distribution. Second, the Coefficient of Variation, which lets us compare variability across variables that operate on completely different scales. And third, pivot tables broken out by continent to check for geographic clustering. Together, these three methods give us a well-rounded view of where waste is concentrated and why.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CV column and say: the top four rows all sit above 400%; then there's a cliff, and the bottom three drop below 200. That cliff is the entire story — and the next slide visualizes exactly why it matters. </a:t>
            </a:r>
          </a:p>
          <a:p>
            <a:endParaRPr lang="en-US" dirty="0"/>
          </a:p>
          <a:p>
            <a:endParaRPr lang="en-US" dirty="0"/>
          </a:p>
          <a:p>
            <a:endParaRPr lang="en-US" dirty="0"/>
          </a:p>
          <a:p>
            <a:r>
              <a:rPr lang="en-US" b="1" dirty="0"/>
              <a:t>1. The "average country" is misleading.</a:t>
            </a:r>
            <a:r>
              <a:rPr lang="en-US" dirty="0"/>
              <a:t> SC Waste mean = 498,000 </a:t>
            </a:r>
            <a:r>
              <a:rPr lang="en-US" dirty="0" err="1"/>
              <a:t>tonnes</a:t>
            </a:r>
            <a:r>
              <a:rPr lang="en-US" dirty="0"/>
              <a:t>. Median = 58,000 </a:t>
            </a:r>
            <a:r>
              <a:rPr lang="en-US" dirty="0" err="1"/>
              <a:t>tonnes</a:t>
            </a:r>
            <a:r>
              <a:rPr lang="en-US" dirty="0"/>
              <a:t>. Mean is 8.6× the median — the largest mean-to-median ratio in the entire dataset. So talking about the "average" country actually describes almost no real country. Most countries waste a small amount; a few outliers drag the average up.</a:t>
            </a:r>
          </a:p>
          <a:p>
            <a:r>
              <a:rPr lang="en-US" b="1" dirty="0"/>
              <a:t>2. China's waste-to-food paradox.</a:t>
            </a:r>
            <a:r>
              <a:rPr lang="en-US" dirty="0"/>
              <a:t> China generates 11.94M </a:t>
            </a:r>
            <a:r>
              <a:rPr lang="en-US" dirty="0" err="1"/>
              <a:t>tonnes</a:t>
            </a:r>
            <a:r>
              <a:rPr lang="en-US" dirty="0"/>
              <a:t> of SC waste but only directs 8.9M </a:t>
            </a:r>
            <a:r>
              <a:rPr lang="en-US" dirty="0" err="1"/>
              <a:t>tonnes</a:t>
            </a:r>
            <a:r>
              <a:rPr lang="en-US" dirty="0"/>
              <a:t> to food consumption. The waste literally exceeds the food delivered by 34%. That's a single number from the dataset that's visually striking — could be its own callout.</a:t>
            </a:r>
          </a:p>
          <a:p>
            <a:r>
              <a:rPr lang="en-US" b="1" dirty="0"/>
              <a:t>3. Brazil's loss rate is 3× the US.</a:t>
            </a:r>
            <a:r>
              <a:rPr lang="en-US" dirty="0"/>
              <a:t> Brazil loses 16.1% of its domestic supply to SC waste. The US loses 5.0%. Similar supply chain scale, three times the loss rate. Pure ratio comparison from the data.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bar is high. That means every variable in our dataset is heavily influenced by a handful of outlier countries. The next slide identifies them.</a:t>
            </a:r>
          </a:p>
          <a:p>
            <a:endParaRPr lang="en-US" dirty="0"/>
          </a:p>
          <a:p>
            <a:r>
              <a:rPr lang="en-US" dirty="0"/>
              <a:t>Of all seven variables, how much food reaches each person per year is the most evenly distributed. The unevenness in our data lives upstream — in production and waste — not in what people receive.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country wastes 58,000 tons; the US alone wastes 15.8 million. 119 of 122 countries each generate less than the US by itself. This is what extreme concentration looks like numerically.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high CV combined with the skewness of 6.06 mathematically predicts a Pareto tail.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CV over 100% indicates extreme volatility and variance in the dataset, meaning the waste isn't evenly distributed; it's highly skewed. this high variation makes sense when we look at the sheer scale and varying populations of these countries. We are comparing massive, distinctly structured global economies, which naturally drives up that variance."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country has a different waste signature, and the variance points to a different intervention type. The US is a pure volume problem at a normal efficiency rate. China has the structural paradox — waste exceeds food delivered. Brazil and Mexico have structural inefficiency at the per-capita level. The closing math is the persuasive moment: 14.4% reduction in each of these four removes 6.19 million tonnes — slightly above the global 6.08M target. The other 118 countries don't have to move at all. Pareto in action.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actual interventions, and every single one is anchored to a specific variance signal — not generic supply chain best practices. Use the US example to land the point: we're not recommending food recovery because it's trendy, we're recommending it because the variance shows the US has a volume problem at a normal efficiency rate. Same logic for China (waste-to-food ratio), Brazil (loss rate vs. benchmark), and Mexico (production-loss rate). The recommendation IS the signal — the slide names both so it's obvious how they connect.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4DB5D-4392-0206-75E1-D42DFC0DC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A543D-F2ED-16A2-66A2-998B3CF50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6D95C-6956-EB9C-58C5-0462F7B46472}"/>
              </a:ext>
            </a:extLst>
          </p:cNvPr>
          <p:cNvSpPr>
            <a:spLocks noGrp="1"/>
          </p:cNvSpPr>
          <p:nvPr>
            <p:ph type="body" idx="1"/>
          </p:nvPr>
        </p:nvSpPr>
        <p:spPr/>
        <p:txBody>
          <a:bodyPr/>
          <a:lstStyle/>
          <a:p>
            <a:r>
              <a:rPr lang="en-US"/>
              <a:t>These are the actual interventions, and every single one is anchored to a specific variance signal — not generic supply chain best practices. Use the US example to land the point: we're not recommending food recovery because it's trendy, we're recommending it because the variance shows the US has a volume problem at a normal efficiency rate. Same logic for China (waste-to-food ratio), Brazil (loss rate vs. benchmark), and Mexico (production-loss rate). The recommendation IS the signal — the slide names both so it's obvious how they connect.</a:t>
            </a:r>
          </a:p>
        </p:txBody>
      </p:sp>
      <p:sp>
        <p:nvSpPr>
          <p:cNvPr id="4" name="Slide Number Placeholder 3">
            <a:extLst>
              <a:ext uri="{FF2B5EF4-FFF2-40B4-BE49-F238E27FC236}">
                <a16:creationId xmlns:a16="http://schemas.microsoft.com/office/drawing/2014/main" id="{2B3F6FA4-9E2E-F54A-6758-3345DCE9EAF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278198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KPIs at a high level — the audience can read the numbers. Spend the time on the bottom row: the variance check on top-4 concentration is the most important KPI on the slide. We explicitly track whether the strategy is compressing concentration. Absolute tonnage can move for unrelated reasons; the variance metric is the truth-teller. If concentration doesn't move, the strategy isn't working — even if total waste drops.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this slide is where we want to be careful. Our data shows where waste is concentrated, but it doesn’t prove that there’s a specific operational fix yet.</a:t>
            </a:r>
          </a:p>
          <a:p>
            <a:endParaRPr lang="en-US"/>
          </a:p>
          <a:p>
            <a:r>
              <a:rPr lang="en-US"/>
              <a:t>So instead of jumping into solutions like contracts, storage, or food recovery options. Our control plan needs to start with monitoring the top 3 waste distributors in the world. We would track total waste, waste rate, per-capita waste, and whether the 10% gap is shrinking.</a:t>
            </a:r>
          </a:p>
          <a:p>
            <a:endParaRPr lang="en-US"/>
          </a:p>
          <a:p>
            <a:r>
              <a:rPr lang="en-US"/>
              <a:t>The biggest next step is collecting cause-level data: what food’s being wasted, where in the supply chain, and why. From there, we can reassess whether the 16% target is realistic and only expand the strategy when the evidence supports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here’s our DMAIC takeaways.</a:t>
            </a:r>
          </a:p>
          <a:p>
            <a:endParaRPr lang="en-US"/>
          </a:p>
          <a:p>
            <a:r>
              <a:rPr lang="en-US"/>
              <a:t>For Define, our problem started really broad, but that was useful because we let the data narrow the focus instead of picking target countries ahead of time. </a:t>
            </a:r>
          </a:p>
          <a:p>
            <a:endParaRPr lang="en-US"/>
          </a:p>
          <a:p>
            <a:r>
              <a:rPr lang="en-US"/>
              <a:t>In Measure, cleaning the dataset from 233 entries to 122 mattered because every CV calculation depended on having comparable data.</a:t>
            </a:r>
          </a:p>
          <a:p>
            <a:endParaRPr lang="en-US"/>
          </a:p>
          <a:p>
            <a:r>
              <a:rPr lang="en-US"/>
              <a:t>For Analyze, the main takeaway was that global averages alone weren’t enough. Looking only at worldwide averages made the problem seem more evenly distributed than it actually was. Once we compared countries individually, we saw that food waste was heavily concentrated in one particular group.</a:t>
            </a:r>
          </a:p>
          <a:p>
            <a:endParaRPr lang="en-US"/>
          </a:p>
          <a:p>
            <a:r>
              <a:rPr lang="en-US"/>
              <a:t>For Improve, the data identified the target countries, so we tried not to force recommendations before the evidence actually supported them. </a:t>
            </a:r>
          </a:p>
          <a:p>
            <a:endParaRPr lang="en-US"/>
          </a:p>
          <a:p>
            <a:r>
              <a:rPr lang="en-US"/>
              <a:t>And for Control, the KPIs were tied to 2019 baselines, meaning progress would be measured against actual values instead of just broad goals.</a:t>
            </a:r>
          </a:p>
          <a:p>
            <a:endParaRPr lang="en-US"/>
          </a:p>
          <a:p>
            <a:r>
              <a:rPr lang="en-US"/>
              <a:t>For course connections, this tied closely to structured problem solving because DMAIC helped us avoid jumping to solutions too early. It also connected to supply chain planning because the strategy depends on reliable data, continuous analysis, and adjusting as new information came in.</a:t>
            </a:r>
          </a:p>
          <a:p>
            <a:endParaRPr lang="en-US"/>
          </a:p>
          <a:p>
            <a:r>
              <a:rPr lang="en-US"/>
              <a:t>The Six Pillars connection is that food waste is an end-to-end supply chain issue, not something that can be blamed on one single stage. Finally, from a sustainable SCM perspective, this project showed us that large global problems may not have one universal solution. And a responsible strategy has to recognize what the data proves, but also what it doesn’t prove </a:t>
            </a:r>
            <a:r>
              <a:rPr lang="en-US" u="sng" cap="all" baseline="0"/>
              <a:t>yet</a:t>
            </a:r>
            <a:r>
              <a:rPr lang="en-US"/>
              <a: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To reiterate and close things off, these were our final overall findings from the project. All our variables pointed toward food waste being highly concentrated within a smaller portion of the system.</a:t>
            </a:r>
          </a:p>
          <a:p>
            <a:endParaRPr lang="en-US"/>
          </a:p>
          <a:p>
            <a:r>
              <a:rPr lang="en-US"/>
              <a:t>That portion being made up of the U.S., China, and Brazil. As they all account for a significant share of the global waste gap, which helped narrow down where the biggest opportunities for reduction exist.</a:t>
            </a:r>
          </a:p>
          <a:p>
            <a:endParaRPr lang="en-US"/>
          </a:p>
          <a:p>
            <a:r>
              <a:rPr lang="en-US"/>
              <a:t>Finally, a 16% reduction across </a:t>
            </a:r>
            <a:r>
              <a:rPr lang="en-US" u="sng" cap="all" baseline="0"/>
              <a:t>each</a:t>
            </a:r>
            <a:r>
              <a:rPr lang="en-US"/>
              <a:t> of these 3 countries. would </a:t>
            </a:r>
            <a:r>
              <a:rPr lang="en-US" u="sng" cap="all" baseline="0"/>
              <a:t>theoretically</a:t>
            </a:r>
            <a:r>
              <a:rPr lang="en-US"/>
              <a:t> close the 10% global gap. But our dataset has yet to prove that reduction is operationally achievable yet. So, our conclusion is not that we solved the problem, but that our data shows where future research and strategy should start.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That said, thank you all so much for your time</a:t>
            </a:r>
          </a:p>
        </p:txBody>
      </p:sp>
    </p:spTree>
    <p:extLst>
      <p:ext uri="{BB962C8B-B14F-4D97-AF65-F5344CB8AC3E}">
        <p14:creationId xmlns:p14="http://schemas.microsoft.com/office/powerpoint/2010/main" val="760715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1E_0.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C_0.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Excel_Worksheet2.xlsx"/><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1886" y="0"/>
            <a:ext cx="4571886" cy="5143500"/>
          </a:xfrm>
          <a:prstGeom prst="rect">
            <a:avLst/>
          </a:prstGeom>
          <a:solidFill>
            <a:srgbClr val="7CB342"/>
          </a:solidFill>
          <a:ln w="12700">
            <a:solidFill>
              <a:srgbClr val="7CB342"/>
            </a:solidFill>
            <a:prstDash val="solid"/>
          </a:ln>
        </p:spPr>
        <p:txBody>
          <a:bodyPr/>
          <a:lstStyle/>
          <a:p>
            <a:endParaRPr lang="en-US" sz="1350"/>
          </a:p>
        </p:txBody>
      </p:sp>
      <p:sp>
        <p:nvSpPr>
          <p:cNvPr id="3" name="Text 1"/>
          <p:cNvSpPr/>
          <p:nvPr/>
        </p:nvSpPr>
        <p:spPr>
          <a:xfrm>
            <a:off x="480060" y="480060"/>
            <a:ext cx="3771900" cy="274320"/>
          </a:xfrm>
          <a:prstGeom prst="rect">
            <a:avLst/>
          </a:prstGeom>
          <a:noFill/>
          <a:ln/>
        </p:spPr>
        <p:txBody>
          <a:bodyPr wrap="square" lIns="0" tIns="0" rIns="0" bIns="0" rtlCol="0" anchor="ctr"/>
          <a:lstStyle/>
          <a:p>
            <a:r>
              <a:rPr lang="en-US" sz="1400" b="1" kern="0" spc="375">
                <a:solidFill>
                  <a:srgbClr val="7CB342"/>
                </a:solidFill>
                <a:latin typeface="Calibri" pitchFamily="34" charset="0"/>
                <a:ea typeface="Calibri" pitchFamily="34" charset="-122"/>
                <a:cs typeface="Calibri" pitchFamily="34" charset="-120"/>
              </a:rPr>
              <a:t>DMAIC  |  FAO 2019</a:t>
            </a:r>
            <a:endParaRPr lang="en-US" sz="1400"/>
          </a:p>
        </p:txBody>
      </p:sp>
      <p:sp>
        <p:nvSpPr>
          <p:cNvPr id="4" name="Text 2"/>
          <p:cNvSpPr/>
          <p:nvPr/>
        </p:nvSpPr>
        <p:spPr>
          <a:xfrm>
            <a:off x="480060" y="1303020"/>
            <a:ext cx="3977640" cy="2880360"/>
          </a:xfrm>
          <a:prstGeom prst="rect">
            <a:avLst/>
          </a:prstGeom>
          <a:noFill/>
          <a:ln/>
        </p:spPr>
        <p:txBody>
          <a:bodyPr wrap="square" lIns="0" tIns="0" rIns="0" bIns="0" rtlCol="0" anchor="ctr"/>
          <a:lstStyle/>
          <a:p>
            <a:pPr>
              <a:lnSpc>
                <a:spcPct val="95000"/>
              </a:lnSpc>
            </a:pPr>
            <a:r>
              <a:rPr lang="en-US" sz="5850" b="1">
                <a:solidFill>
                  <a:srgbClr val="1A1A1A"/>
                </a:solidFill>
                <a:latin typeface="Georgia" pitchFamily="34" charset="0"/>
                <a:ea typeface="Georgia" pitchFamily="34" charset="-122"/>
                <a:cs typeface="Georgia" pitchFamily="34" charset="-120"/>
              </a:rPr>
              <a:t>WORLD</a:t>
            </a:r>
            <a:endParaRPr lang="en-US" sz="5850"/>
          </a:p>
          <a:p>
            <a:pPr>
              <a:lnSpc>
                <a:spcPct val="95000"/>
              </a:lnSpc>
            </a:pPr>
            <a:r>
              <a:rPr lang="en-US" sz="5850" b="1">
                <a:solidFill>
                  <a:srgbClr val="1A1A1A"/>
                </a:solidFill>
                <a:latin typeface="Georgia" pitchFamily="34" charset="0"/>
                <a:ea typeface="Georgia" pitchFamily="34" charset="-122"/>
                <a:cs typeface="Georgia" pitchFamily="34" charset="-120"/>
              </a:rPr>
              <a:t>FOOD</a:t>
            </a:r>
            <a:endParaRPr lang="en-US" sz="5850"/>
          </a:p>
          <a:p>
            <a:pPr>
              <a:lnSpc>
                <a:spcPct val="95000"/>
              </a:lnSpc>
            </a:pPr>
            <a:r>
              <a:rPr lang="en-US" sz="5850" b="1">
                <a:solidFill>
                  <a:srgbClr val="1A1A1A"/>
                </a:solidFill>
                <a:latin typeface="Georgia" pitchFamily="34" charset="0"/>
                <a:ea typeface="Georgia" pitchFamily="34" charset="-122"/>
                <a:cs typeface="Georgia" pitchFamily="34" charset="-120"/>
              </a:rPr>
              <a:t>WASTE</a:t>
            </a:r>
            <a:endParaRPr lang="en-US" sz="5850"/>
          </a:p>
        </p:txBody>
      </p:sp>
      <p:sp>
        <p:nvSpPr>
          <p:cNvPr id="5" name="Text 3"/>
          <p:cNvSpPr/>
          <p:nvPr/>
        </p:nvSpPr>
        <p:spPr>
          <a:xfrm>
            <a:off x="480060" y="4389120"/>
            <a:ext cx="3977640" cy="308610"/>
          </a:xfrm>
          <a:prstGeom prst="rect">
            <a:avLst/>
          </a:prstGeom>
          <a:noFill/>
          <a:ln/>
        </p:spPr>
        <p:txBody>
          <a:bodyPr wrap="square" lIns="0" tIns="0" rIns="0" bIns="0" rtlCol="0" anchor="ctr"/>
          <a:lstStyle/>
          <a:p>
            <a:r>
              <a:rPr lang="en-US" sz="1400" i="1">
                <a:solidFill>
                  <a:srgbClr val="7CB342"/>
                </a:solidFill>
                <a:latin typeface="Georgia" pitchFamily="34" charset="0"/>
                <a:ea typeface="Georgia" pitchFamily="34" charset="-122"/>
                <a:cs typeface="Georgia" pitchFamily="34" charset="-120"/>
              </a:rPr>
              <a:t>Supply Chain Strategy</a:t>
            </a:r>
            <a:endParaRPr lang="en-US" sz="1400"/>
          </a:p>
        </p:txBody>
      </p:sp>
      <p:sp>
        <p:nvSpPr>
          <p:cNvPr id="6" name="Text 4"/>
          <p:cNvSpPr/>
          <p:nvPr/>
        </p:nvSpPr>
        <p:spPr>
          <a:xfrm>
            <a:off x="5051946" y="1303020"/>
            <a:ext cx="3977640" cy="274320"/>
          </a:xfrm>
          <a:prstGeom prst="rect">
            <a:avLst/>
          </a:prstGeom>
          <a:noFill/>
          <a:ln/>
        </p:spPr>
        <p:txBody>
          <a:bodyPr wrap="square" lIns="0" tIns="0" rIns="0" bIns="0" rtlCol="0" anchor="ctr"/>
          <a:lstStyle/>
          <a:p>
            <a:r>
              <a:rPr lang="en-US" sz="1400" b="1" kern="0" spc="375">
                <a:solidFill>
                  <a:srgbClr val="FAF6EC"/>
                </a:solidFill>
                <a:latin typeface="Calibri" pitchFamily="34" charset="0"/>
                <a:ea typeface="Calibri" pitchFamily="34" charset="-122"/>
                <a:cs typeface="Calibri" pitchFamily="34" charset="-120"/>
              </a:rPr>
              <a:t>PRESENTED BY</a:t>
            </a:r>
            <a:endParaRPr lang="en-US" sz="1400"/>
          </a:p>
        </p:txBody>
      </p:sp>
      <p:sp>
        <p:nvSpPr>
          <p:cNvPr id="7" name="Text 5"/>
          <p:cNvSpPr/>
          <p:nvPr/>
        </p:nvSpPr>
        <p:spPr>
          <a:xfrm>
            <a:off x="5051946" y="1783080"/>
            <a:ext cx="4114800" cy="2606040"/>
          </a:xfrm>
          <a:prstGeom prst="rect">
            <a:avLst/>
          </a:prstGeom>
          <a:noFill/>
          <a:ln/>
        </p:spPr>
        <p:txBody>
          <a:bodyPr wrap="square" lIns="0" tIns="0" rIns="0" bIns="0" rtlCol="0" anchor="ctr"/>
          <a:lstStyle/>
          <a:p>
            <a:pPr>
              <a:spcAft>
                <a:spcPts val="450"/>
              </a:spcAft>
            </a:pPr>
            <a:r>
              <a:rPr lang="en-US" sz="1950">
                <a:solidFill>
                  <a:srgbClr val="FAF6EC"/>
                </a:solidFill>
                <a:latin typeface="Georgia" pitchFamily="34" charset="0"/>
                <a:ea typeface="Georgia" pitchFamily="34" charset="-122"/>
                <a:cs typeface="Georgia" pitchFamily="34" charset="-120"/>
              </a:rPr>
              <a:t>Alex Claunch</a:t>
            </a:r>
            <a:endParaRPr lang="en-US" sz="1950"/>
          </a:p>
          <a:p>
            <a:pPr>
              <a:spcAft>
                <a:spcPts val="450"/>
              </a:spcAft>
            </a:pPr>
            <a:r>
              <a:rPr lang="en-US" sz="1950">
                <a:solidFill>
                  <a:srgbClr val="FAF6EC"/>
                </a:solidFill>
                <a:latin typeface="Georgia" pitchFamily="34" charset="0"/>
                <a:ea typeface="Georgia" pitchFamily="34" charset="-122"/>
                <a:cs typeface="Georgia" pitchFamily="34" charset="-120"/>
              </a:rPr>
              <a:t>Abel Lopez</a:t>
            </a:r>
            <a:endParaRPr lang="en-US" sz="1950"/>
          </a:p>
          <a:p>
            <a:pPr>
              <a:spcAft>
                <a:spcPts val="450"/>
              </a:spcAft>
            </a:pPr>
            <a:r>
              <a:rPr lang="en-US" sz="1950">
                <a:solidFill>
                  <a:srgbClr val="FAF6EC"/>
                </a:solidFill>
                <a:latin typeface="Georgia" pitchFamily="34" charset="0"/>
                <a:ea typeface="Georgia" pitchFamily="34" charset="-122"/>
                <a:cs typeface="Georgia" pitchFamily="34" charset="-120"/>
              </a:rPr>
              <a:t>Benjamin Aamodt</a:t>
            </a:r>
            <a:endParaRPr lang="en-US" sz="1950"/>
          </a:p>
          <a:p>
            <a:pPr>
              <a:spcAft>
                <a:spcPts val="450"/>
              </a:spcAft>
            </a:pPr>
            <a:r>
              <a:rPr lang="en-US" sz="1950">
                <a:solidFill>
                  <a:srgbClr val="FAF6EC"/>
                </a:solidFill>
                <a:latin typeface="Georgia" pitchFamily="34" charset="0"/>
                <a:ea typeface="Georgia" pitchFamily="34" charset="-122"/>
                <a:cs typeface="Georgia" pitchFamily="34" charset="-120"/>
              </a:rPr>
              <a:t>Joon Park</a:t>
            </a:r>
            <a:endParaRPr lang="en-US" sz="1950"/>
          </a:p>
          <a:p>
            <a:pPr>
              <a:spcAft>
                <a:spcPts val="450"/>
              </a:spcAft>
            </a:pPr>
            <a:r>
              <a:rPr lang="en-US" sz="1950">
                <a:solidFill>
                  <a:srgbClr val="FAF6EC"/>
                </a:solidFill>
                <a:latin typeface="Georgia" pitchFamily="34" charset="0"/>
                <a:ea typeface="Georgia" pitchFamily="34" charset="-122"/>
                <a:cs typeface="Georgia" pitchFamily="34" charset="-120"/>
              </a:rPr>
              <a:t>Julius Pedro</a:t>
            </a:r>
            <a:endParaRPr lang="en-US" sz="19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1  —  DEFINE</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Problem Statement</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Shape 3"/>
          <p:cNvSpPr/>
          <p:nvPr/>
        </p:nvSpPr>
        <p:spPr>
          <a:xfrm>
            <a:off x="411480" y="1303020"/>
            <a:ext cx="8298180" cy="1577340"/>
          </a:xfrm>
          <a:prstGeom prst="rect">
            <a:avLst/>
          </a:prstGeom>
          <a:solidFill>
            <a:srgbClr val="FFFFFF"/>
          </a:solidFill>
          <a:ln w="9525">
            <a:solidFill>
              <a:srgbClr val="DCD4BE"/>
            </a:solidFill>
            <a:prstDash val="solid"/>
          </a:ln>
        </p:spPr>
        <p:txBody>
          <a:bodyPr/>
          <a:lstStyle/>
          <a:p>
            <a:endParaRPr lang="en-US" sz="1350"/>
          </a:p>
        </p:txBody>
      </p:sp>
      <p:sp>
        <p:nvSpPr>
          <p:cNvPr id="6" name="Shape 4"/>
          <p:cNvSpPr/>
          <p:nvPr/>
        </p:nvSpPr>
        <p:spPr>
          <a:xfrm>
            <a:off x="411480" y="1303020"/>
            <a:ext cx="82296" cy="1577340"/>
          </a:xfrm>
          <a:prstGeom prst="rect">
            <a:avLst/>
          </a:prstGeom>
          <a:solidFill>
            <a:srgbClr val="7CB342"/>
          </a:solidFill>
          <a:ln w="12700">
            <a:solidFill>
              <a:srgbClr val="7CB342"/>
            </a:solidFill>
            <a:prstDash val="solid"/>
          </a:ln>
        </p:spPr>
        <p:txBody>
          <a:bodyPr/>
          <a:lstStyle/>
          <a:p>
            <a:endParaRPr lang="en-US" sz="1350"/>
          </a:p>
        </p:txBody>
      </p:sp>
      <p:sp>
        <p:nvSpPr>
          <p:cNvPr id="7" name="Text 5"/>
          <p:cNvSpPr/>
          <p:nvPr/>
        </p:nvSpPr>
        <p:spPr>
          <a:xfrm>
            <a:off x="754380" y="1440180"/>
            <a:ext cx="7749540" cy="1097280"/>
          </a:xfrm>
          <a:prstGeom prst="rect">
            <a:avLst/>
          </a:prstGeom>
          <a:noFill/>
          <a:ln/>
        </p:spPr>
        <p:txBody>
          <a:bodyPr wrap="square" lIns="0" tIns="0" rIns="0" bIns="0" rtlCol="0" anchor="ctr"/>
          <a:lstStyle/>
          <a:p>
            <a:r>
              <a:rPr lang="en-US" sz="2250" i="1">
                <a:solidFill>
                  <a:srgbClr val="1A1A1A"/>
                </a:solidFill>
                <a:latin typeface="Georgia" pitchFamily="34" charset="0"/>
                <a:ea typeface="Georgia" pitchFamily="34" charset="-122"/>
                <a:cs typeface="Georgia" pitchFamily="34" charset="-120"/>
              </a:rPr>
              <a:t>“There’s an opportunity to reduce food waste worldwide.”</a:t>
            </a:r>
            <a:endParaRPr lang="en-US" sz="2250"/>
          </a:p>
        </p:txBody>
      </p:sp>
      <p:sp>
        <p:nvSpPr>
          <p:cNvPr id="8" name="Text 6"/>
          <p:cNvSpPr/>
          <p:nvPr/>
        </p:nvSpPr>
        <p:spPr>
          <a:xfrm>
            <a:off x="754380" y="2537460"/>
            <a:ext cx="7749540" cy="205740"/>
          </a:xfrm>
          <a:prstGeom prst="rect">
            <a:avLst/>
          </a:prstGeom>
          <a:noFill/>
          <a:ln/>
        </p:spPr>
        <p:txBody>
          <a:bodyPr wrap="square" lIns="0" tIns="0" rIns="0" bIns="0" rtlCol="0" anchor="ctr"/>
          <a:lstStyle/>
          <a:p>
            <a:endParaRPr lang="en-US" sz="1200"/>
          </a:p>
        </p:txBody>
      </p:sp>
      <p:sp>
        <p:nvSpPr>
          <p:cNvPr id="9" name="Shape 7"/>
          <p:cNvSpPr/>
          <p:nvPr/>
        </p:nvSpPr>
        <p:spPr>
          <a:xfrm>
            <a:off x="411480" y="3223260"/>
            <a:ext cx="2708910" cy="1234440"/>
          </a:xfrm>
          <a:prstGeom prst="rect">
            <a:avLst/>
          </a:prstGeom>
          <a:solidFill>
            <a:srgbClr val="F5EDD6"/>
          </a:solidFill>
          <a:ln w="6350">
            <a:solidFill>
              <a:srgbClr val="DCD4BE"/>
            </a:solidFill>
            <a:prstDash val="solid"/>
          </a:ln>
        </p:spPr>
        <p:txBody>
          <a:bodyPr/>
          <a:lstStyle/>
          <a:p>
            <a:endParaRPr lang="en-US" sz="1350"/>
          </a:p>
        </p:txBody>
      </p:sp>
      <p:sp>
        <p:nvSpPr>
          <p:cNvPr id="10" name="Shape 8"/>
          <p:cNvSpPr/>
          <p:nvPr/>
        </p:nvSpPr>
        <p:spPr>
          <a:xfrm>
            <a:off x="411480" y="3211414"/>
            <a:ext cx="2983230" cy="66710"/>
          </a:xfrm>
          <a:prstGeom prst="rect">
            <a:avLst/>
          </a:prstGeom>
          <a:solidFill>
            <a:srgbClr val="93C172"/>
          </a:solidFill>
          <a:ln w="12700">
            <a:solidFill>
              <a:srgbClr val="93C172"/>
            </a:solidFill>
            <a:prstDash val="solid"/>
          </a:ln>
        </p:spPr>
        <p:txBody>
          <a:bodyPr/>
          <a:lstStyle/>
          <a:p>
            <a:endParaRPr lang="en-US" sz="1350"/>
          </a:p>
        </p:txBody>
      </p:sp>
      <p:sp>
        <p:nvSpPr>
          <p:cNvPr id="11" name="Text 9"/>
          <p:cNvSpPr/>
          <p:nvPr/>
        </p:nvSpPr>
        <p:spPr>
          <a:xfrm>
            <a:off x="582930" y="3394710"/>
            <a:ext cx="236601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WHY NOW</a:t>
            </a:r>
            <a:endParaRPr lang="en-US" sz="1400"/>
          </a:p>
        </p:txBody>
      </p:sp>
      <p:sp>
        <p:nvSpPr>
          <p:cNvPr id="12" name="Text 10"/>
          <p:cNvSpPr/>
          <p:nvPr/>
        </p:nvSpPr>
        <p:spPr>
          <a:xfrm>
            <a:off x="582930" y="3703320"/>
            <a:ext cx="2366010" cy="617220"/>
          </a:xfrm>
          <a:prstGeom prst="rect">
            <a:avLst/>
          </a:prstGeom>
          <a:noFill/>
          <a:ln/>
        </p:spPr>
        <p:txBody>
          <a:bodyPr wrap="square" lIns="0" tIns="0" rIns="0" bIns="0" rtlCol="0" anchor="t"/>
          <a:lstStyle/>
          <a:p>
            <a:r>
              <a:rPr lang="en-US" sz="1200">
                <a:solidFill>
                  <a:srgbClr val="1A1A1A"/>
                </a:solidFill>
                <a:latin typeface="Georgia" pitchFamily="34" charset="0"/>
                <a:ea typeface="Georgia" pitchFamily="34" charset="-122"/>
                <a:cs typeface="Georgia" pitchFamily="34" charset="-120"/>
              </a:rPr>
              <a:t>First country-level global SC waste data</a:t>
            </a:r>
            <a:endParaRPr lang="en-US" sz="1200"/>
          </a:p>
        </p:txBody>
      </p:sp>
      <p:sp>
        <p:nvSpPr>
          <p:cNvPr id="13" name="Shape 11"/>
          <p:cNvSpPr/>
          <p:nvPr/>
        </p:nvSpPr>
        <p:spPr>
          <a:xfrm>
            <a:off x="3223260" y="3223260"/>
            <a:ext cx="2708910" cy="1234440"/>
          </a:xfrm>
          <a:prstGeom prst="rect">
            <a:avLst/>
          </a:prstGeom>
          <a:solidFill>
            <a:srgbClr val="F5EDD6"/>
          </a:solidFill>
          <a:ln w="6350">
            <a:solidFill>
              <a:srgbClr val="DCD4BE"/>
            </a:solidFill>
            <a:prstDash val="solid"/>
          </a:ln>
        </p:spPr>
        <p:txBody>
          <a:bodyPr/>
          <a:lstStyle/>
          <a:p>
            <a:endParaRPr lang="en-US" sz="1350"/>
          </a:p>
        </p:txBody>
      </p:sp>
      <p:sp>
        <p:nvSpPr>
          <p:cNvPr id="14" name="Shape 12"/>
          <p:cNvSpPr/>
          <p:nvPr/>
        </p:nvSpPr>
        <p:spPr>
          <a:xfrm>
            <a:off x="3223260" y="3223260"/>
            <a:ext cx="2708910" cy="54864"/>
          </a:xfrm>
          <a:prstGeom prst="rect">
            <a:avLst/>
          </a:prstGeom>
          <a:solidFill>
            <a:srgbClr val="93C172"/>
          </a:solidFill>
          <a:ln w="12700">
            <a:solidFill>
              <a:srgbClr val="93C172"/>
            </a:solidFill>
            <a:prstDash val="solid"/>
          </a:ln>
        </p:spPr>
        <p:txBody>
          <a:bodyPr/>
          <a:lstStyle/>
          <a:p>
            <a:endParaRPr lang="en-US" sz="1350"/>
          </a:p>
        </p:txBody>
      </p:sp>
      <p:sp>
        <p:nvSpPr>
          <p:cNvPr id="15" name="Text 13"/>
          <p:cNvSpPr/>
          <p:nvPr/>
        </p:nvSpPr>
        <p:spPr>
          <a:xfrm>
            <a:off x="3394710" y="3394710"/>
            <a:ext cx="236601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WHO BENEFITS</a:t>
            </a:r>
            <a:endParaRPr lang="en-US" sz="1400"/>
          </a:p>
        </p:txBody>
      </p:sp>
      <p:sp>
        <p:nvSpPr>
          <p:cNvPr id="16" name="Text 14"/>
          <p:cNvSpPr/>
          <p:nvPr/>
        </p:nvSpPr>
        <p:spPr>
          <a:xfrm>
            <a:off x="3394710" y="3703320"/>
            <a:ext cx="2366010" cy="617220"/>
          </a:xfrm>
          <a:prstGeom prst="rect">
            <a:avLst/>
          </a:prstGeom>
          <a:noFill/>
          <a:ln/>
        </p:spPr>
        <p:txBody>
          <a:bodyPr wrap="square" lIns="0" tIns="0" rIns="0" bIns="0" rtlCol="0" anchor="t"/>
          <a:lstStyle/>
          <a:p>
            <a:r>
              <a:rPr lang="en-US" sz="1200">
                <a:solidFill>
                  <a:srgbClr val="1A1A1A"/>
                </a:solidFill>
                <a:latin typeface="Georgia" pitchFamily="34" charset="0"/>
                <a:ea typeface="Georgia" pitchFamily="34" charset="-122"/>
                <a:cs typeface="Georgia" pitchFamily="34" charset="-120"/>
              </a:rPr>
              <a:t>7.38B people  ·  122 countries</a:t>
            </a:r>
            <a:endParaRPr lang="en-US" sz="1200"/>
          </a:p>
        </p:txBody>
      </p:sp>
      <p:sp>
        <p:nvSpPr>
          <p:cNvPr id="17" name="Shape 15"/>
          <p:cNvSpPr/>
          <p:nvPr/>
        </p:nvSpPr>
        <p:spPr>
          <a:xfrm>
            <a:off x="6035040" y="3223260"/>
            <a:ext cx="2708910" cy="1234440"/>
          </a:xfrm>
          <a:prstGeom prst="rect">
            <a:avLst/>
          </a:prstGeom>
          <a:solidFill>
            <a:srgbClr val="F5EDD6"/>
          </a:solidFill>
          <a:ln w="6350">
            <a:solidFill>
              <a:srgbClr val="DCD4BE"/>
            </a:solidFill>
            <a:prstDash val="solid"/>
          </a:ln>
        </p:spPr>
        <p:txBody>
          <a:bodyPr/>
          <a:lstStyle/>
          <a:p>
            <a:endParaRPr lang="en-US" sz="1350"/>
          </a:p>
        </p:txBody>
      </p:sp>
      <p:sp>
        <p:nvSpPr>
          <p:cNvPr id="18" name="Shape 16"/>
          <p:cNvSpPr/>
          <p:nvPr/>
        </p:nvSpPr>
        <p:spPr>
          <a:xfrm>
            <a:off x="6035040" y="3223260"/>
            <a:ext cx="2708910" cy="54864"/>
          </a:xfrm>
          <a:prstGeom prst="rect">
            <a:avLst/>
          </a:prstGeom>
          <a:solidFill>
            <a:srgbClr val="93C172"/>
          </a:solidFill>
          <a:ln w="12700">
            <a:solidFill>
              <a:srgbClr val="93C172"/>
            </a:solidFill>
            <a:prstDash val="solid"/>
          </a:ln>
        </p:spPr>
        <p:txBody>
          <a:bodyPr/>
          <a:lstStyle/>
          <a:p>
            <a:endParaRPr lang="en-US" sz="1350"/>
          </a:p>
        </p:txBody>
      </p:sp>
      <p:sp>
        <p:nvSpPr>
          <p:cNvPr id="19" name="Text 17"/>
          <p:cNvSpPr/>
          <p:nvPr/>
        </p:nvSpPr>
        <p:spPr>
          <a:xfrm>
            <a:off x="6206490" y="3394710"/>
            <a:ext cx="236601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HOW WE SOLVE</a:t>
            </a:r>
            <a:endParaRPr lang="en-US" sz="1400"/>
          </a:p>
        </p:txBody>
      </p:sp>
      <p:sp>
        <p:nvSpPr>
          <p:cNvPr id="20" name="Text 18"/>
          <p:cNvSpPr/>
          <p:nvPr/>
        </p:nvSpPr>
        <p:spPr>
          <a:xfrm>
            <a:off x="6206490" y="3703320"/>
            <a:ext cx="2366010" cy="617220"/>
          </a:xfrm>
          <a:prstGeom prst="rect">
            <a:avLst/>
          </a:prstGeom>
          <a:noFill/>
          <a:ln/>
        </p:spPr>
        <p:txBody>
          <a:bodyPr wrap="square" lIns="0" tIns="0" rIns="0" bIns="0" rtlCol="0" anchor="t"/>
          <a:lstStyle/>
          <a:p>
            <a:r>
              <a:rPr lang="en-US" sz="1200">
                <a:solidFill>
                  <a:srgbClr val="1A1A1A"/>
                </a:solidFill>
                <a:latin typeface="Georgia" pitchFamily="34" charset="0"/>
                <a:ea typeface="Georgia" pitchFamily="34" charset="-122"/>
                <a:cs typeface="Georgia" pitchFamily="34" charset="-120"/>
              </a:rPr>
              <a:t>DMAIC applied at system level</a:t>
            </a:r>
            <a:endParaRPr lang="en-US" sz="1200"/>
          </a:p>
        </p:txBody>
      </p:sp>
      <p:sp>
        <p:nvSpPr>
          <p:cNvPr id="21" name="Text 19"/>
          <p:cNvSpPr/>
          <p:nvPr/>
        </p:nvSpPr>
        <p:spPr>
          <a:xfrm>
            <a:off x="411480" y="4800600"/>
            <a:ext cx="5486400" cy="205740"/>
          </a:xfrm>
          <a:prstGeom prst="rect">
            <a:avLst/>
          </a:prstGeom>
          <a:noFill/>
          <a:ln/>
        </p:spPr>
        <p:txBody>
          <a:bodyPr wrap="square" lIns="0" tIns="0" rIns="0" bIns="0" rtlCol="0" anchor="ctr"/>
          <a:lstStyle/>
          <a:p>
            <a:endParaRPr lang="en-US" sz="6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2  —  MEASURE</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Data Source &amp; Sufficiency</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268730"/>
            <a:ext cx="4114800" cy="20574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DATA SOURCE</a:t>
            </a:r>
            <a:endParaRPr lang="en-US" sz="1400"/>
          </a:p>
        </p:txBody>
      </p:sp>
      <p:sp>
        <p:nvSpPr>
          <p:cNvPr id="6" name="Text 4"/>
          <p:cNvSpPr/>
          <p:nvPr/>
        </p:nvSpPr>
        <p:spPr>
          <a:xfrm>
            <a:off x="411480" y="1647314"/>
            <a:ext cx="4114800" cy="308610"/>
          </a:xfrm>
          <a:prstGeom prst="rect">
            <a:avLst/>
          </a:prstGeom>
          <a:noFill/>
          <a:ln/>
        </p:spPr>
        <p:txBody>
          <a:bodyPr wrap="square" lIns="0" tIns="0" rIns="0" bIns="0" rtlCol="0" anchor="ctr"/>
          <a:lstStyle/>
          <a:p>
            <a:r>
              <a:rPr lang="en-US" sz="1200" b="1">
                <a:solidFill>
                  <a:srgbClr val="1A1A1A"/>
                </a:solidFill>
                <a:latin typeface="Georgia" pitchFamily="34" charset="0"/>
                <a:ea typeface="Georgia" pitchFamily="34" charset="-122"/>
                <a:cs typeface="Georgia" pitchFamily="34" charset="-120"/>
              </a:rPr>
              <a:t>FAO Food Loss &amp; Waste Database, 2019</a:t>
            </a:r>
          </a:p>
          <a:p>
            <a:r>
              <a:rPr lang="en-US" sz="1200"/>
              <a:t>Is located at end of slide deck</a:t>
            </a:r>
          </a:p>
        </p:txBody>
      </p:sp>
      <p:sp>
        <p:nvSpPr>
          <p:cNvPr id="8" name="Text 6"/>
          <p:cNvSpPr/>
          <p:nvPr/>
        </p:nvSpPr>
        <p:spPr>
          <a:xfrm>
            <a:off x="411480" y="2211705"/>
            <a:ext cx="4114800" cy="20574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SUFFICIENCY</a:t>
            </a:r>
            <a:endParaRPr lang="en-US" sz="1400"/>
          </a:p>
        </p:txBody>
      </p:sp>
      <p:sp>
        <p:nvSpPr>
          <p:cNvPr id="9" name="Text 7"/>
          <p:cNvSpPr/>
          <p:nvPr/>
        </p:nvSpPr>
        <p:spPr>
          <a:xfrm>
            <a:off x="411480" y="2123192"/>
            <a:ext cx="4251960" cy="1714500"/>
          </a:xfrm>
          <a:prstGeom prst="rect">
            <a:avLst/>
          </a:prstGeom>
          <a:noFill/>
          <a:ln/>
        </p:spPr>
        <p:txBody>
          <a:bodyPr wrap="square" lIns="0" tIns="0" rIns="0" bIns="0" rtlCol="0" anchor="ctr"/>
          <a:lstStyle/>
          <a:p>
            <a:pPr marL="257175" indent="-257175">
              <a:spcAft>
                <a:spcPts val="600"/>
              </a:spcAft>
              <a:buSzPct val="100000"/>
              <a:buChar char="■"/>
            </a:pPr>
            <a:r>
              <a:rPr lang="en-US" sz="1200">
                <a:solidFill>
                  <a:srgbClr val="1A1A1A"/>
                </a:solidFill>
                <a:latin typeface="Calibri" pitchFamily="34" charset="0"/>
                <a:ea typeface="Calibri" pitchFamily="34" charset="-122"/>
                <a:cs typeface="Calibri" pitchFamily="34" charset="-120"/>
              </a:rPr>
              <a:t>122 sovereign countries, 5 continents</a:t>
            </a:r>
            <a:endParaRPr lang="en-US" sz="1200"/>
          </a:p>
          <a:p>
            <a:pPr marL="257175" indent="-257175">
              <a:spcAft>
                <a:spcPts val="600"/>
              </a:spcAft>
              <a:buSzPct val="100000"/>
              <a:buChar char="■"/>
            </a:pPr>
            <a:r>
              <a:rPr lang="en-US" sz="1200">
                <a:solidFill>
                  <a:srgbClr val="1A1A1A"/>
                </a:solidFill>
                <a:latin typeface="Calibri" pitchFamily="34" charset="0"/>
                <a:ea typeface="Calibri" pitchFamily="34" charset="-122"/>
                <a:cs typeface="Calibri" pitchFamily="34" charset="-120"/>
              </a:rPr>
              <a:t>7.38B people  ·  96% of 2019 world population</a:t>
            </a:r>
            <a:endParaRPr lang="en-US" sz="1200"/>
          </a:p>
          <a:p>
            <a:pPr marL="257175" indent="-257175">
              <a:spcAft>
                <a:spcPts val="600"/>
              </a:spcAft>
              <a:buSzPct val="100000"/>
              <a:buChar char="■"/>
            </a:pPr>
            <a:r>
              <a:rPr lang="en-US" sz="1200">
                <a:solidFill>
                  <a:srgbClr val="1A1A1A"/>
                </a:solidFill>
                <a:latin typeface="Calibri" pitchFamily="34" charset="0"/>
                <a:ea typeface="Calibri" pitchFamily="34" charset="-122"/>
                <a:cs typeface="Calibri" pitchFamily="34" charset="-120"/>
              </a:rPr>
              <a:t>60.8M tonnes of SC waste captured</a:t>
            </a:r>
            <a:endParaRPr lang="en-US" sz="1200"/>
          </a:p>
          <a:p>
            <a:pPr marL="257175" indent="-257175">
              <a:spcAft>
                <a:spcPts val="600"/>
              </a:spcAft>
              <a:buSzPct val="100000"/>
              <a:buChar char="■"/>
            </a:pPr>
            <a:r>
              <a:rPr lang="en-US" sz="1200">
                <a:solidFill>
                  <a:srgbClr val="1A1A1A"/>
                </a:solidFill>
                <a:latin typeface="Calibri" pitchFamily="34" charset="0"/>
                <a:ea typeface="Calibri" pitchFamily="34" charset="-122"/>
                <a:cs typeface="Calibri" pitchFamily="34" charset="-120"/>
              </a:rPr>
              <a:t>7 analytical variables  ·  26 raw columns reduced</a:t>
            </a:r>
            <a:endParaRPr lang="en-US" sz="1200"/>
          </a:p>
        </p:txBody>
      </p:sp>
      <p:sp>
        <p:nvSpPr>
          <p:cNvPr id="10" name="Shape 8"/>
          <p:cNvSpPr/>
          <p:nvPr/>
        </p:nvSpPr>
        <p:spPr>
          <a:xfrm>
            <a:off x="4937760" y="1234440"/>
            <a:ext cx="1954530" cy="1062990"/>
          </a:xfrm>
          <a:prstGeom prst="rect">
            <a:avLst/>
          </a:prstGeom>
          <a:solidFill>
            <a:schemeClr val="accent6"/>
          </a:solidFill>
          <a:ln w="12700">
            <a:solidFill>
              <a:schemeClr val="accent6"/>
            </a:solidFill>
            <a:prstDash val="solid"/>
          </a:ln>
        </p:spPr>
        <p:txBody>
          <a:bodyPr/>
          <a:lstStyle/>
          <a:p>
            <a:endParaRPr lang="en-US" sz="1350"/>
          </a:p>
        </p:txBody>
      </p:sp>
      <p:sp>
        <p:nvSpPr>
          <p:cNvPr id="11" name="Text 9"/>
          <p:cNvSpPr/>
          <p:nvPr/>
        </p:nvSpPr>
        <p:spPr>
          <a:xfrm>
            <a:off x="5040630" y="1337310"/>
            <a:ext cx="1748790" cy="617220"/>
          </a:xfrm>
          <a:prstGeom prst="rect">
            <a:avLst/>
          </a:prstGeom>
          <a:solidFill>
            <a:schemeClr val="accent6"/>
          </a:solidFill>
          <a:ln>
            <a:solidFill>
              <a:schemeClr val="accent6"/>
            </a:solidFill>
          </a:ln>
        </p:spPr>
        <p:txBody>
          <a:bodyPr wrap="square" lIns="0" tIns="0" rIns="0" bIns="0" rtlCol="0" anchor="ctr"/>
          <a:lstStyle/>
          <a:p>
            <a:r>
              <a:rPr lang="en-US" sz="2850" b="1">
                <a:solidFill>
                  <a:srgbClr val="FFFFFF"/>
                </a:solidFill>
                <a:latin typeface="Georgia" pitchFamily="34" charset="0"/>
                <a:ea typeface="Georgia" pitchFamily="34" charset="-122"/>
                <a:cs typeface="Georgia" pitchFamily="34" charset="-120"/>
              </a:rPr>
              <a:t>122</a:t>
            </a:r>
            <a:endParaRPr lang="en-US" sz="2850"/>
          </a:p>
        </p:txBody>
      </p:sp>
      <p:sp>
        <p:nvSpPr>
          <p:cNvPr id="12" name="Text 10"/>
          <p:cNvSpPr/>
          <p:nvPr/>
        </p:nvSpPr>
        <p:spPr>
          <a:xfrm>
            <a:off x="5040630" y="1954530"/>
            <a:ext cx="1748790" cy="274320"/>
          </a:xfrm>
          <a:prstGeom prst="rect">
            <a:avLst/>
          </a:prstGeom>
          <a:solidFill>
            <a:schemeClr val="accent6"/>
          </a:solidFill>
          <a:ln>
            <a:solidFill>
              <a:schemeClr val="accent6"/>
            </a:solidFill>
          </a:ln>
        </p:spPr>
        <p:txBody>
          <a:bodyPr wrap="square" lIns="0" tIns="0" rIns="0" bIns="0" rtlCol="0" anchor="ctr"/>
          <a:lstStyle/>
          <a:p>
            <a:r>
              <a:rPr lang="en-US" sz="1200" kern="0" spc="225">
                <a:solidFill>
                  <a:schemeClr val="bg1"/>
                </a:solidFill>
                <a:latin typeface="Calibri" pitchFamily="34" charset="0"/>
                <a:ea typeface="Calibri" pitchFamily="34" charset="-122"/>
                <a:cs typeface="Calibri" pitchFamily="34" charset="-120"/>
              </a:rPr>
              <a:t>Countries</a:t>
            </a:r>
            <a:endParaRPr lang="en-US" sz="1200">
              <a:solidFill>
                <a:schemeClr val="bg1"/>
              </a:solidFill>
            </a:endParaRPr>
          </a:p>
        </p:txBody>
      </p:sp>
      <p:sp>
        <p:nvSpPr>
          <p:cNvPr id="13" name="Shape 11"/>
          <p:cNvSpPr/>
          <p:nvPr/>
        </p:nvSpPr>
        <p:spPr>
          <a:xfrm>
            <a:off x="6995160" y="1234440"/>
            <a:ext cx="1954530" cy="1062990"/>
          </a:xfrm>
          <a:prstGeom prst="rect">
            <a:avLst/>
          </a:prstGeom>
          <a:solidFill>
            <a:schemeClr val="accent6"/>
          </a:solidFill>
          <a:ln w="12700">
            <a:solidFill>
              <a:schemeClr val="accent6"/>
            </a:solidFill>
            <a:prstDash val="solid"/>
          </a:ln>
        </p:spPr>
        <p:txBody>
          <a:bodyPr/>
          <a:lstStyle/>
          <a:p>
            <a:endParaRPr lang="en-US" sz="1350"/>
          </a:p>
        </p:txBody>
      </p:sp>
      <p:sp>
        <p:nvSpPr>
          <p:cNvPr id="14" name="Text 12"/>
          <p:cNvSpPr/>
          <p:nvPr/>
        </p:nvSpPr>
        <p:spPr>
          <a:xfrm>
            <a:off x="7098030" y="1337310"/>
            <a:ext cx="1748790" cy="617220"/>
          </a:xfrm>
          <a:prstGeom prst="rect">
            <a:avLst/>
          </a:prstGeom>
          <a:solidFill>
            <a:schemeClr val="accent6"/>
          </a:solidFill>
          <a:ln>
            <a:solidFill>
              <a:schemeClr val="accent6"/>
            </a:solidFill>
          </a:ln>
        </p:spPr>
        <p:txBody>
          <a:bodyPr wrap="square" lIns="0" tIns="0" rIns="0" bIns="0" rtlCol="0" anchor="ctr"/>
          <a:lstStyle/>
          <a:p>
            <a:r>
              <a:rPr lang="en-US" sz="2850" b="1">
                <a:solidFill>
                  <a:srgbClr val="FFFFFF"/>
                </a:solidFill>
                <a:latin typeface="Georgia" pitchFamily="34" charset="0"/>
                <a:ea typeface="Georgia" pitchFamily="34" charset="-122"/>
                <a:cs typeface="Georgia" pitchFamily="34" charset="-120"/>
              </a:rPr>
              <a:t>5</a:t>
            </a:r>
            <a:endParaRPr lang="en-US" sz="2850"/>
          </a:p>
        </p:txBody>
      </p:sp>
      <p:sp>
        <p:nvSpPr>
          <p:cNvPr id="15" name="Text 13"/>
          <p:cNvSpPr/>
          <p:nvPr/>
        </p:nvSpPr>
        <p:spPr>
          <a:xfrm>
            <a:off x="7098030" y="1954530"/>
            <a:ext cx="1748790" cy="274320"/>
          </a:xfrm>
          <a:prstGeom prst="rect">
            <a:avLst/>
          </a:prstGeom>
          <a:solidFill>
            <a:schemeClr val="accent6"/>
          </a:solidFill>
          <a:ln>
            <a:solidFill>
              <a:schemeClr val="accent6"/>
            </a:solidFill>
          </a:ln>
        </p:spPr>
        <p:txBody>
          <a:bodyPr wrap="square" lIns="0" tIns="0" rIns="0" bIns="0" rtlCol="0" anchor="ctr"/>
          <a:lstStyle/>
          <a:p>
            <a:r>
              <a:rPr lang="en-US" sz="1200" kern="0" spc="225">
                <a:solidFill>
                  <a:schemeClr val="bg1"/>
                </a:solidFill>
                <a:latin typeface="Calibri" pitchFamily="34" charset="0"/>
                <a:ea typeface="Calibri" pitchFamily="34" charset="-122"/>
                <a:cs typeface="Calibri" pitchFamily="34" charset="-120"/>
              </a:rPr>
              <a:t>Continents</a:t>
            </a:r>
            <a:endParaRPr lang="en-US" sz="1200">
              <a:solidFill>
                <a:schemeClr val="bg1"/>
              </a:solidFill>
            </a:endParaRPr>
          </a:p>
        </p:txBody>
      </p:sp>
      <p:sp>
        <p:nvSpPr>
          <p:cNvPr id="16" name="Shape 14"/>
          <p:cNvSpPr/>
          <p:nvPr/>
        </p:nvSpPr>
        <p:spPr>
          <a:xfrm>
            <a:off x="4937760" y="2400300"/>
            <a:ext cx="1954530" cy="1062990"/>
          </a:xfrm>
          <a:prstGeom prst="rect">
            <a:avLst/>
          </a:prstGeom>
          <a:solidFill>
            <a:schemeClr val="accent6"/>
          </a:solidFill>
          <a:ln w="12700">
            <a:solidFill>
              <a:schemeClr val="accent6"/>
            </a:solidFill>
            <a:prstDash val="solid"/>
          </a:ln>
        </p:spPr>
        <p:txBody>
          <a:bodyPr/>
          <a:lstStyle/>
          <a:p>
            <a:endParaRPr lang="en-US" sz="1350"/>
          </a:p>
        </p:txBody>
      </p:sp>
      <p:sp>
        <p:nvSpPr>
          <p:cNvPr id="17" name="Text 15"/>
          <p:cNvSpPr/>
          <p:nvPr/>
        </p:nvSpPr>
        <p:spPr>
          <a:xfrm>
            <a:off x="5040630" y="2503170"/>
            <a:ext cx="1748790" cy="617220"/>
          </a:xfrm>
          <a:prstGeom prst="rect">
            <a:avLst/>
          </a:prstGeom>
          <a:solidFill>
            <a:schemeClr val="accent6"/>
          </a:solidFill>
          <a:ln>
            <a:solidFill>
              <a:schemeClr val="accent6"/>
            </a:solidFill>
          </a:ln>
        </p:spPr>
        <p:txBody>
          <a:bodyPr wrap="square" lIns="0" tIns="0" rIns="0" bIns="0" rtlCol="0" anchor="ctr"/>
          <a:lstStyle/>
          <a:p>
            <a:r>
              <a:rPr lang="en-US" sz="2850" b="1">
                <a:solidFill>
                  <a:srgbClr val="FFFFFF"/>
                </a:solidFill>
                <a:latin typeface="Georgia" pitchFamily="34" charset="0"/>
                <a:ea typeface="Georgia" pitchFamily="34" charset="-122"/>
                <a:cs typeface="Georgia" pitchFamily="34" charset="-120"/>
              </a:rPr>
              <a:t>7</a:t>
            </a:r>
            <a:endParaRPr lang="en-US" sz="2850"/>
          </a:p>
        </p:txBody>
      </p:sp>
      <p:sp>
        <p:nvSpPr>
          <p:cNvPr id="18" name="Text 16"/>
          <p:cNvSpPr/>
          <p:nvPr/>
        </p:nvSpPr>
        <p:spPr>
          <a:xfrm>
            <a:off x="5040630" y="3120390"/>
            <a:ext cx="1748790" cy="274320"/>
          </a:xfrm>
          <a:prstGeom prst="rect">
            <a:avLst/>
          </a:prstGeom>
          <a:solidFill>
            <a:schemeClr val="accent6"/>
          </a:solidFill>
          <a:ln>
            <a:solidFill>
              <a:schemeClr val="accent6"/>
            </a:solidFill>
          </a:ln>
        </p:spPr>
        <p:txBody>
          <a:bodyPr wrap="square" lIns="0" tIns="0" rIns="0" bIns="0" rtlCol="0" anchor="ctr"/>
          <a:lstStyle/>
          <a:p>
            <a:r>
              <a:rPr lang="en-US" sz="1200" kern="0" spc="225">
                <a:solidFill>
                  <a:schemeClr val="bg1"/>
                </a:solidFill>
                <a:latin typeface="Calibri" pitchFamily="34" charset="0"/>
                <a:ea typeface="Calibri" pitchFamily="34" charset="-122"/>
                <a:cs typeface="Calibri" pitchFamily="34" charset="-120"/>
              </a:rPr>
              <a:t>Variables analyzed</a:t>
            </a:r>
            <a:endParaRPr lang="en-US" sz="1200">
              <a:solidFill>
                <a:schemeClr val="bg1"/>
              </a:solidFill>
            </a:endParaRPr>
          </a:p>
        </p:txBody>
      </p:sp>
      <p:sp>
        <p:nvSpPr>
          <p:cNvPr id="19" name="Shape 17"/>
          <p:cNvSpPr/>
          <p:nvPr/>
        </p:nvSpPr>
        <p:spPr>
          <a:xfrm>
            <a:off x="6995160" y="2400300"/>
            <a:ext cx="1954530" cy="1062990"/>
          </a:xfrm>
          <a:prstGeom prst="rect">
            <a:avLst/>
          </a:prstGeom>
          <a:solidFill>
            <a:schemeClr val="accent6"/>
          </a:solidFill>
          <a:ln w="12700">
            <a:solidFill>
              <a:schemeClr val="accent6"/>
            </a:solidFill>
            <a:prstDash val="solid"/>
          </a:ln>
        </p:spPr>
        <p:txBody>
          <a:bodyPr/>
          <a:lstStyle/>
          <a:p>
            <a:endParaRPr lang="en-US" sz="1350"/>
          </a:p>
        </p:txBody>
      </p:sp>
      <p:sp>
        <p:nvSpPr>
          <p:cNvPr id="20" name="Text 18"/>
          <p:cNvSpPr/>
          <p:nvPr/>
        </p:nvSpPr>
        <p:spPr>
          <a:xfrm>
            <a:off x="7098030" y="2503170"/>
            <a:ext cx="1748790" cy="617220"/>
          </a:xfrm>
          <a:prstGeom prst="rect">
            <a:avLst/>
          </a:prstGeom>
          <a:solidFill>
            <a:schemeClr val="accent6"/>
          </a:solidFill>
          <a:ln>
            <a:solidFill>
              <a:schemeClr val="accent6"/>
            </a:solidFill>
          </a:ln>
        </p:spPr>
        <p:txBody>
          <a:bodyPr wrap="square" lIns="0" tIns="0" rIns="0" bIns="0" rtlCol="0" anchor="ctr"/>
          <a:lstStyle/>
          <a:p>
            <a:r>
              <a:rPr lang="en-US" sz="2850" b="1">
                <a:solidFill>
                  <a:srgbClr val="FFFFFF"/>
                </a:solidFill>
                <a:latin typeface="Georgia" pitchFamily="34" charset="0"/>
                <a:ea typeface="Georgia" pitchFamily="34" charset="-122"/>
                <a:cs typeface="Georgia" pitchFamily="34" charset="-120"/>
              </a:rPr>
              <a:t>26</a:t>
            </a:r>
            <a:endParaRPr lang="en-US" sz="2850"/>
          </a:p>
        </p:txBody>
      </p:sp>
      <p:sp>
        <p:nvSpPr>
          <p:cNvPr id="21" name="Text 19"/>
          <p:cNvSpPr/>
          <p:nvPr/>
        </p:nvSpPr>
        <p:spPr>
          <a:xfrm>
            <a:off x="7098030" y="3120390"/>
            <a:ext cx="1748790" cy="274320"/>
          </a:xfrm>
          <a:prstGeom prst="rect">
            <a:avLst/>
          </a:prstGeom>
          <a:solidFill>
            <a:schemeClr val="accent6"/>
          </a:solidFill>
          <a:ln>
            <a:solidFill>
              <a:schemeClr val="accent6"/>
            </a:solidFill>
          </a:ln>
        </p:spPr>
        <p:txBody>
          <a:bodyPr wrap="square" lIns="0" tIns="0" rIns="0" bIns="0" rtlCol="0" anchor="ctr"/>
          <a:lstStyle/>
          <a:p>
            <a:r>
              <a:rPr lang="en-US" sz="1200" kern="0" spc="225">
                <a:solidFill>
                  <a:schemeClr val="bg1"/>
                </a:solidFill>
                <a:latin typeface="Calibri" pitchFamily="34" charset="0"/>
                <a:ea typeface="Calibri" pitchFamily="34" charset="-122"/>
                <a:cs typeface="Calibri" pitchFamily="34" charset="-120"/>
              </a:rPr>
              <a:t>Raw columns reduced</a:t>
            </a:r>
            <a:endParaRPr lang="en-US" sz="1200">
              <a:solidFill>
                <a:schemeClr val="bg1"/>
              </a:solidFill>
            </a:endParaRPr>
          </a:p>
        </p:txBody>
      </p:sp>
      <p:sp>
        <p:nvSpPr>
          <p:cNvPr id="22" name="Shape 20"/>
          <p:cNvSpPr/>
          <p:nvPr/>
        </p:nvSpPr>
        <p:spPr>
          <a:xfrm>
            <a:off x="4937760" y="3566160"/>
            <a:ext cx="1954530" cy="1062990"/>
          </a:xfrm>
          <a:prstGeom prst="rect">
            <a:avLst/>
          </a:prstGeom>
          <a:solidFill>
            <a:schemeClr val="accent6"/>
          </a:solidFill>
          <a:ln w="12700">
            <a:solidFill>
              <a:schemeClr val="accent6"/>
            </a:solidFill>
            <a:prstDash val="solid"/>
          </a:ln>
        </p:spPr>
        <p:txBody>
          <a:bodyPr/>
          <a:lstStyle/>
          <a:p>
            <a:endParaRPr lang="en-US" sz="1350"/>
          </a:p>
        </p:txBody>
      </p:sp>
      <p:sp>
        <p:nvSpPr>
          <p:cNvPr id="23" name="Text 21"/>
          <p:cNvSpPr/>
          <p:nvPr/>
        </p:nvSpPr>
        <p:spPr>
          <a:xfrm>
            <a:off x="5040630" y="3669030"/>
            <a:ext cx="1748790" cy="617220"/>
          </a:xfrm>
          <a:prstGeom prst="rect">
            <a:avLst/>
          </a:prstGeom>
          <a:solidFill>
            <a:schemeClr val="accent6"/>
          </a:solidFill>
          <a:ln>
            <a:solidFill>
              <a:schemeClr val="accent6"/>
            </a:solidFill>
          </a:ln>
        </p:spPr>
        <p:txBody>
          <a:bodyPr wrap="square" lIns="0" tIns="0" rIns="0" bIns="0" rtlCol="0" anchor="ctr"/>
          <a:lstStyle/>
          <a:p>
            <a:r>
              <a:rPr lang="en-US" sz="2850" b="1">
                <a:solidFill>
                  <a:srgbClr val="FFFFFF"/>
                </a:solidFill>
                <a:latin typeface="Georgia" pitchFamily="34" charset="0"/>
                <a:ea typeface="Georgia" pitchFamily="34" charset="-122"/>
                <a:cs typeface="Georgia" pitchFamily="34" charset="-120"/>
              </a:rPr>
              <a:t>60.8M t</a:t>
            </a:r>
            <a:endParaRPr lang="en-US" sz="2850"/>
          </a:p>
        </p:txBody>
      </p:sp>
      <p:sp>
        <p:nvSpPr>
          <p:cNvPr id="24" name="Text 22"/>
          <p:cNvSpPr/>
          <p:nvPr/>
        </p:nvSpPr>
        <p:spPr>
          <a:xfrm>
            <a:off x="5040630" y="4286250"/>
            <a:ext cx="1748790" cy="274320"/>
          </a:xfrm>
          <a:prstGeom prst="rect">
            <a:avLst/>
          </a:prstGeom>
          <a:solidFill>
            <a:schemeClr val="accent6"/>
          </a:solidFill>
          <a:ln>
            <a:solidFill>
              <a:schemeClr val="accent6"/>
            </a:solidFill>
          </a:ln>
        </p:spPr>
        <p:txBody>
          <a:bodyPr wrap="square" lIns="0" tIns="0" rIns="0" bIns="0" rtlCol="0" anchor="ctr"/>
          <a:lstStyle/>
          <a:p>
            <a:r>
              <a:rPr lang="en-US" sz="1200" kern="0" spc="225">
                <a:solidFill>
                  <a:schemeClr val="bg1"/>
                </a:solidFill>
                <a:latin typeface="Calibri" pitchFamily="34" charset="0"/>
                <a:ea typeface="Calibri" pitchFamily="34" charset="-122"/>
                <a:cs typeface="Calibri" pitchFamily="34" charset="-120"/>
              </a:rPr>
              <a:t>SC waste measured</a:t>
            </a:r>
            <a:endParaRPr lang="en-US" sz="1200">
              <a:solidFill>
                <a:schemeClr val="bg1"/>
              </a:solidFill>
            </a:endParaRPr>
          </a:p>
        </p:txBody>
      </p:sp>
      <p:sp>
        <p:nvSpPr>
          <p:cNvPr id="25" name="Shape 23"/>
          <p:cNvSpPr/>
          <p:nvPr/>
        </p:nvSpPr>
        <p:spPr>
          <a:xfrm>
            <a:off x="6995160" y="3566160"/>
            <a:ext cx="1954530" cy="1062990"/>
          </a:xfrm>
          <a:prstGeom prst="rect">
            <a:avLst/>
          </a:prstGeom>
          <a:solidFill>
            <a:schemeClr val="accent6"/>
          </a:solidFill>
          <a:ln w="12700">
            <a:solidFill>
              <a:schemeClr val="accent6"/>
            </a:solidFill>
            <a:prstDash val="solid"/>
          </a:ln>
        </p:spPr>
        <p:txBody>
          <a:bodyPr/>
          <a:lstStyle/>
          <a:p>
            <a:endParaRPr lang="en-US" sz="1350"/>
          </a:p>
        </p:txBody>
      </p:sp>
      <p:sp>
        <p:nvSpPr>
          <p:cNvPr id="26" name="Text 24"/>
          <p:cNvSpPr/>
          <p:nvPr/>
        </p:nvSpPr>
        <p:spPr>
          <a:xfrm>
            <a:off x="7098030" y="3669030"/>
            <a:ext cx="1748790" cy="617220"/>
          </a:xfrm>
          <a:prstGeom prst="rect">
            <a:avLst/>
          </a:prstGeom>
          <a:solidFill>
            <a:schemeClr val="accent6"/>
          </a:solidFill>
          <a:ln>
            <a:solidFill>
              <a:schemeClr val="accent6"/>
            </a:solidFill>
          </a:ln>
        </p:spPr>
        <p:txBody>
          <a:bodyPr wrap="square" lIns="0" tIns="0" rIns="0" bIns="0" rtlCol="0" anchor="ctr"/>
          <a:lstStyle/>
          <a:p>
            <a:r>
              <a:rPr lang="en-US" sz="2850" b="1">
                <a:solidFill>
                  <a:srgbClr val="FFFFFF"/>
                </a:solidFill>
                <a:latin typeface="Georgia" pitchFamily="34" charset="0"/>
                <a:ea typeface="Georgia" pitchFamily="34" charset="-122"/>
                <a:cs typeface="Georgia" pitchFamily="34" charset="-120"/>
              </a:rPr>
              <a:t>96%</a:t>
            </a:r>
            <a:endParaRPr lang="en-US" sz="2850"/>
          </a:p>
        </p:txBody>
      </p:sp>
      <p:sp>
        <p:nvSpPr>
          <p:cNvPr id="27" name="Text 25"/>
          <p:cNvSpPr/>
          <p:nvPr/>
        </p:nvSpPr>
        <p:spPr>
          <a:xfrm>
            <a:off x="7098030" y="4286250"/>
            <a:ext cx="1748790" cy="274320"/>
          </a:xfrm>
          <a:prstGeom prst="rect">
            <a:avLst/>
          </a:prstGeom>
          <a:solidFill>
            <a:schemeClr val="accent6"/>
          </a:solidFill>
          <a:ln>
            <a:solidFill>
              <a:schemeClr val="accent6"/>
            </a:solidFill>
          </a:ln>
        </p:spPr>
        <p:txBody>
          <a:bodyPr wrap="square" lIns="0" tIns="0" rIns="0" bIns="0" rtlCol="0" anchor="ctr"/>
          <a:lstStyle/>
          <a:p>
            <a:r>
              <a:rPr lang="en-US" sz="1200" kern="0" spc="225">
                <a:solidFill>
                  <a:schemeClr val="bg1"/>
                </a:solidFill>
                <a:latin typeface="Calibri" pitchFamily="34" charset="0"/>
                <a:ea typeface="Calibri" pitchFamily="34" charset="-122"/>
                <a:cs typeface="Calibri" pitchFamily="34" charset="-120"/>
              </a:rPr>
              <a:t>World population covered</a:t>
            </a:r>
            <a:endParaRPr lang="en-US" sz="1200">
              <a:solidFill>
                <a:schemeClr val="bg1"/>
              </a:solidFill>
            </a:endParaRPr>
          </a:p>
        </p:txBody>
      </p:sp>
      <p:sp>
        <p:nvSpPr>
          <p:cNvPr id="28" name="Text 26"/>
          <p:cNvSpPr/>
          <p:nvPr/>
        </p:nvSpPr>
        <p:spPr>
          <a:xfrm>
            <a:off x="411480" y="4800600"/>
            <a:ext cx="5486400" cy="205740"/>
          </a:xfrm>
          <a:prstGeom prst="rect">
            <a:avLst/>
          </a:prstGeom>
          <a:noFill/>
          <a:ln/>
        </p:spPr>
        <p:txBody>
          <a:bodyPr wrap="square" lIns="0" tIns="0" rIns="0" bIns="0" rtlCol="0" anchor="ctr"/>
          <a:lstStyle/>
          <a:p>
            <a:endParaRPr lang="en-US" sz="6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2  —  MEASURE</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Data Cleaning Rationale</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229600" cy="2743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From 233 raw entries to 122 countries with complete, comparable data across 7 supply-chain variables.</a:t>
            </a:r>
            <a:endParaRPr lang="en-US" sz="1200"/>
          </a:p>
        </p:txBody>
      </p:sp>
      <p:graphicFrame>
        <p:nvGraphicFramePr>
          <p:cNvPr id="6" name="Table 0"/>
          <p:cNvGraphicFramePr>
            <a:graphicFrameLocks noGrp="1"/>
          </p:cNvGraphicFramePr>
          <p:nvPr>
            <p:extLst>
              <p:ext uri="{D42A27DB-BD31-4B8C-83A1-F6EECF244321}">
                <p14:modId xmlns:p14="http://schemas.microsoft.com/office/powerpoint/2010/main" val="3950944477"/>
              </p:ext>
            </p:extLst>
          </p:nvPr>
        </p:nvGraphicFramePr>
        <p:xfrm>
          <a:off x="411480" y="1440180"/>
          <a:ext cx="8298180" cy="2926080"/>
        </p:xfrm>
        <a:graphic>
          <a:graphicData uri="http://schemas.openxmlformats.org/drawingml/2006/table">
            <a:tbl>
              <a:tblPr/>
              <a:tblGrid>
                <a:gridCol w="1783080">
                  <a:extLst>
                    <a:ext uri="{9D8B030D-6E8A-4147-A177-3AD203B41FA5}">
                      <a16:colId xmlns:a16="http://schemas.microsoft.com/office/drawing/2014/main" val="20000"/>
                    </a:ext>
                  </a:extLst>
                </a:gridCol>
                <a:gridCol w="8915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4526280">
                  <a:extLst>
                    <a:ext uri="{9D8B030D-6E8A-4147-A177-3AD203B41FA5}">
                      <a16:colId xmlns:a16="http://schemas.microsoft.com/office/drawing/2014/main" val="20003"/>
                    </a:ext>
                  </a:extLst>
                </a:gridCol>
              </a:tblGrid>
              <a:tr h="377190">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STEP</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REMOVED</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REMAINING</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REASON</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377190">
                <a:tc>
                  <a:txBody>
                    <a:bodyPr/>
                    <a:lstStyle/>
                    <a:p>
                      <a:pPr marL="0" indent="0">
                        <a:buNone/>
                      </a:pPr>
                      <a:r>
                        <a:rPr lang="en-US" sz="1200" b="1">
                          <a:solidFill>
                            <a:srgbClr val="1A1A1A"/>
                          </a:solidFill>
                          <a:latin typeface="Calibri" pitchFamily="34" charset="0"/>
                          <a:ea typeface="Calibri" pitchFamily="34" charset="-122"/>
                          <a:cs typeface="Calibri" pitchFamily="34" charset="-120"/>
                        </a:rPr>
                        <a:t>Raw FAO 2019 dataset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b="1">
                          <a:solidFill>
                            <a:srgbClr val="1A1A1A"/>
                          </a:solidFill>
                          <a:latin typeface="Calibri" pitchFamily="34" charset="0"/>
                          <a:ea typeface="Calibri" pitchFamily="34" charset="-122"/>
                          <a:cs typeface="Calibri" pitchFamily="34" charset="-120"/>
                        </a:rPr>
                        <a:t>233</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Starting global dataset.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1"/>
                  </a:ext>
                </a:extLst>
              </a:tr>
              <a:tr h="377190">
                <a:tc>
                  <a:txBody>
                    <a:bodyPr/>
                    <a:lstStyle/>
                    <a:p>
                      <a:pPr marL="0" indent="0">
                        <a:buNone/>
                      </a:pPr>
                      <a:r>
                        <a:rPr lang="en-US" sz="1200" b="1">
                          <a:solidFill>
                            <a:srgbClr val="1A1A1A"/>
                          </a:solidFill>
                          <a:latin typeface="Calibri" pitchFamily="34" charset="0"/>
                          <a:ea typeface="Calibri" pitchFamily="34" charset="-122"/>
                          <a:cs typeface="Calibri" pitchFamily="34" charset="-120"/>
                        </a:rPr>
                        <a:t>Non-country entries</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46</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ctr">
                        <a:buNone/>
                      </a:pPr>
                      <a:r>
                        <a:rPr lang="en-US" sz="1200" b="1">
                          <a:solidFill>
                            <a:srgbClr val="1A1A1A"/>
                          </a:solidFill>
                          <a:latin typeface="Calibri" pitchFamily="34" charset="0"/>
                          <a:ea typeface="Calibri" pitchFamily="34" charset="-122"/>
                          <a:cs typeface="Calibri" pitchFamily="34" charset="-120"/>
                        </a:rPr>
                        <a:t>187</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Regional aggregates, income groupings, FAO duplicates, prevents double-counting.</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2"/>
                  </a:ext>
                </a:extLst>
              </a:tr>
              <a:tr h="377190">
                <a:tc>
                  <a:txBody>
                    <a:bodyPr/>
                    <a:lstStyle/>
                    <a:p>
                      <a:pPr marL="0" indent="0">
                        <a:buNone/>
                      </a:pPr>
                      <a:r>
                        <a:rPr lang="en-US" sz="1200" b="1">
                          <a:solidFill>
                            <a:srgbClr val="1A1A1A"/>
                          </a:solidFill>
                          <a:latin typeface="Calibri" pitchFamily="34" charset="0"/>
                          <a:ea typeface="Calibri" pitchFamily="34" charset="-122"/>
                          <a:cs typeface="Calibri" pitchFamily="34" charset="-120"/>
                        </a:rPr>
                        <a:t>Population &lt; 2M</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39</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b="1">
                          <a:solidFill>
                            <a:srgbClr val="1A1A1A"/>
                          </a:solidFill>
                          <a:latin typeface="Calibri" pitchFamily="34" charset="0"/>
                          <a:ea typeface="Calibri" pitchFamily="34" charset="-122"/>
                          <a:cs typeface="Calibri" pitchFamily="34" charset="-120"/>
                        </a:rPr>
                        <a:t>148</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Micro-states produce extreme per-capita values; negligible tonnage contribution.</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3"/>
                  </a:ext>
                </a:extLst>
              </a:tr>
              <a:tr h="377190">
                <a:tc>
                  <a:txBody>
                    <a:bodyPr/>
                    <a:lstStyle/>
                    <a:p>
                      <a:pPr marL="0" indent="0">
                        <a:buNone/>
                      </a:pPr>
                      <a:r>
                        <a:rPr lang="en-US" sz="1200" b="1">
                          <a:solidFill>
                            <a:srgbClr val="1A1A1A"/>
                          </a:solidFill>
                          <a:latin typeface="Calibri" pitchFamily="34" charset="0"/>
                          <a:ea typeface="Calibri" pitchFamily="34" charset="-122"/>
                          <a:cs typeface="Calibri" pitchFamily="34" charset="-120"/>
                        </a:rPr>
                        <a:t>Missing SC waste data</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16</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ctr">
                        <a:buNone/>
                      </a:pPr>
                      <a:r>
                        <a:rPr lang="en-US" sz="1200" b="1">
                          <a:solidFill>
                            <a:srgbClr val="1A1A1A"/>
                          </a:solidFill>
                          <a:latin typeface="Calibri" pitchFamily="34" charset="0"/>
                          <a:ea typeface="Calibri" pitchFamily="34" charset="-122"/>
                          <a:cs typeface="Calibri" pitchFamily="34" charset="-120"/>
                        </a:rPr>
                        <a:t>132</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Columns V → W are the core dependent variables; cannot be analyzed without them.</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4"/>
                  </a:ext>
                </a:extLst>
              </a:tr>
              <a:tr h="377190">
                <a:tc>
                  <a:txBody>
                    <a:bodyPr/>
                    <a:lstStyle/>
                    <a:p>
                      <a:pPr marL="0" indent="0">
                        <a:buNone/>
                      </a:pPr>
                      <a:r>
                        <a:rPr lang="en-US" sz="1200" b="1">
                          <a:solidFill>
                            <a:srgbClr val="1A1A1A"/>
                          </a:solidFill>
                          <a:latin typeface="Calibri" pitchFamily="34" charset="0"/>
                          <a:ea typeface="Calibri" pitchFamily="34" charset="-122"/>
                          <a:cs typeface="Calibri" pitchFamily="34" charset="-120"/>
                        </a:rPr>
                        <a:t>Missing selected variables</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7</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b="1">
                          <a:solidFill>
                            <a:srgbClr val="1A1A1A"/>
                          </a:solidFill>
                          <a:latin typeface="Calibri" pitchFamily="34" charset="0"/>
                          <a:ea typeface="Calibri" pitchFamily="34" charset="-122"/>
                          <a:cs typeface="Calibri" pitchFamily="34" charset="-120"/>
                        </a:rPr>
                        <a:t>125</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Czechia, Hong Kong, Hungary, Poland, Slovakia, Turkmenistan, UK, each missing one of seven.</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5"/>
                  </a:ext>
                </a:extLst>
              </a:tr>
              <a:tr h="377190">
                <a:tc>
                  <a:txBody>
                    <a:bodyPr/>
                    <a:lstStyle/>
                    <a:p>
                      <a:pPr marL="0" indent="0">
                        <a:buNone/>
                      </a:pPr>
                      <a:r>
                        <a:rPr lang="en-US" sz="1200" b="1">
                          <a:solidFill>
                            <a:srgbClr val="1A1A1A"/>
                          </a:solidFill>
                          <a:latin typeface="Calibri" pitchFamily="34" charset="0"/>
                          <a:ea typeface="Calibri" pitchFamily="34" charset="-122"/>
                          <a:cs typeface="Calibri" pitchFamily="34" charset="-120"/>
                        </a:rPr>
                        <a:t>Oceania countries</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3</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ctr">
                        <a:buNone/>
                      </a:pPr>
                      <a:r>
                        <a:rPr lang="en-US" sz="1200" b="1">
                          <a:solidFill>
                            <a:srgbClr val="7CB342"/>
                          </a:solidFill>
                          <a:latin typeface="Calibri" pitchFamily="34" charset="0"/>
                          <a:ea typeface="Calibri" pitchFamily="34" charset="-122"/>
                          <a:cs typeface="Calibri" pitchFamily="34" charset="-120"/>
                        </a:rPr>
                        <a:t>122</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Scope narrowed to 5 primary continents. 3-country Oceania would distort rollups.</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4"/>
          <p:cNvSpPr/>
          <p:nvPr/>
        </p:nvSpPr>
        <p:spPr>
          <a:xfrm>
            <a:off x="411480" y="4800600"/>
            <a:ext cx="5486400" cy="205740"/>
          </a:xfrm>
          <a:prstGeom prst="rect">
            <a:avLst/>
          </a:prstGeom>
          <a:noFill/>
          <a:ln/>
        </p:spPr>
        <p:txBody>
          <a:bodyPr wrap="square" lIns="0" tIns="0" rIns="0" bIns="0" rtlCol="0" anchor="ctr"/>
          <a:lstStyle/>
          <a:p>
            <a:endParaRPr lang="en-US" sz="6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2  —  MEASURE</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Our 7 Final Selected Variables</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229600" cy="2743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Reduced from 26 raw FAO columns. Each variable maps to a point on the supply chain </a:t>
            </a:r>
            <a:r>
              <a:rPr lang="en-US" sz="1200" i="1">
                <a:solidFill>
                  <a:srgbClr val="5C5C5C"/>
                </a:solidFill>
                <a:latin typeface="Calibri" pitchFamily="34" charset="0"/>
                <a:ea typeface="Calibri" pitchFamily="34" charset="-122"/>
                <a:cs typeface="Calibri" pitchFamily="34" charset="-120"/>
              </a:rPr>
              <a:t>·</a:t>
            </a:r>
            <a:r>
              <a:rPr lang="en-US" sz="1200" i="1">
                <a:latin typeface="Calibri" pitchFamily="34" charset="0"/>
                <a:ea typeface="Calibri" pitchFamily="34" charset="-122"/>
                <a:cs typeface="Calibri" pitchFamily="34" charset="-120"/>
              </a:rPr>
              <a:t> production → supply → food → waste.</a:t>
            </a:r>
            <a:endParaRPr lang="en-US" sz="1200"/>
          </a:p>
        </p:txBody>
      </p:sp>
      <p:graphicFrame>
        <p:nvGraphicFramePr>
          <p:cNvPr id="6" name="Table 0"/>
          <p:cNvGraphicFramePr>
            <a:graphicFrameLocks noGrp="1"/>
          </p:cNvGraphicFramePr>
          <p:nvPr>
            <p:extLst>
              <p:ext uri="{D42A27DB-BD31-4B8C-83A1-F6EECF244321}">
                <p14:modId xmlns:p14="http://schemas.microsoft.com/office/powerpoint/2010/main" val="1989083493"/>
              </p:ext>
            </p:extLst>
          </p:nvPr>
        </p:nvGraphicFramePr>
        <p:xfrm>
          <a:off x="411480" y="1440180"/>
          <a:ext cx="8298180" cy="3072384"/>
        </p:xfrm>
        <a:graphic>
          <a:graphicData uri="http://schemas.openxmlformats.org/drawingml/2006/table">
            <a:tbl>
              <a:tblPr/>
              <a:tblGrid>
                <a:gridCol w="41148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384048">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buNone/>
                      </a:pPr>
                      <a:r>
                        <a:rPr lang="en-US" sz="1200" b="1">
                          <a:solidFill>
                            <a:srgbClr val="FFFFFF"/>
                          </a:solidFill>
                          <a:latin typeface="Calibri" pitchFamily="34" charset="0"/>
                          <a:ea typeface="Calibri" pitchFamily="34" charset="-122"/>
                          <a:cs typeface="Calibri" pitchFamily="34" charset="-120"/>
                        </a:rPr>
                        <a:t>VARIABLE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buNone/>
                      </a:pPr>
                      <a:r>
                        <a:rPr lang="en-US" sz="1200" b="1">
                          <a:solidFill>
                            <a:srgbClr val="FFFFFF"/>
                          </a:solidFill>
                          <a:latin typeface="Calibri" pitchFamily="34" charset="0"/>
                          <a:ea typeface="Calibri" pitchFamily="34" charset="-122"/>
                          <a:cs typeface="Calibri" pitchFamily="34" charset="-120"/>
                        </a:rPr>
                        <a:t>ROLE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384048">
                <a:tc>
                  <a:txBody>
                    <a:bodyPr/>
                    <a:lstStyle/>
                    <a:p>
                      <a:pPr marL="0" indent="0" algn="ctr">
                        <a:buNone/>
                      </a:pPr>
                      <a:r>
                        <a:rPr lang="en-US" sz="1200" b="1">
                          <a:solidFill>
                            <a:srgbClr val="7CB342"/>
                          </a:solidFill>
                          <a:latin typeface="Calibri" pitchFamily="34" charset="0"/>
                          <a:ea typeface="Calibri" pitchFamily="34" charset="-122"/>
                          <a:cs typeface="Calibri" pitchFamily="34" charset="-120"/>
                        </a:rPr>
                        <a:t>1</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b="1">
                          <a:solidFill>
                            <a:srgbClr val="1A1A1A"/>
                          </a:solidFill>
                          <a:latin typeface="Calibri" pitchFamily="34" charset="0"/>
                          <a:ea typeface="Calibri" pitchFamily="34" charset="-122"/>
                          <a:cs typeface="Calibri" pitchFamily="34" charset="-120"/>
                        </a:rPr>
                        <a:t>Population</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Denominator, anchors per-capita comparisons</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1"/>
                  </a:ext>
                </a:extLst>
              </a:tr>
              <a:tr h="384048">
                <a:tc>
                  <a:txBody>
                    <a:bodyPr/>
                    <a:lstStyle/>
                    <a:p>
                      <a:pPr marL="0" indent="0" algn="ctr">
                        <a:buNone/>
                      </a:pPr>
                      <a:r>
                        <a:rPr lang="en-US" sz="1200" b="1">
                          <a:solidFill>
                            <a:srgbClr val="7CB342"/>
                          </a:solidFill>
                          <a:latin typeface="Calibri" pitchFamily="34" charset="0"/>
                          <a:ea typeface="Calibri" pitchFamily="34" charset="-122"/>
                          <a:cs typeface="Calibri" pitchFamily="34" charset="-120"/>
                        </a:rPr>
                        <a:t>2</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buNone/>
                      </a:pPr>
                      <a:r>
                        <a:rPr lang="en-US" sz="1200" b="1">
                          <a:solidFill>
                            <a:srgbClr val="1A1A1A"/>
                          </a:solidFill>
                          <a:latin typeface="Calibri" pitchFamily="34" charset="0"/>
                          <a:ea typeface="Calibri" pitchFamily="34" charset="-122"/>
                          <a:cs typeface="Calibri" pitchFamily="34" charset="-120"/>
                        </a:rPr>
                        <a:t>Production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Upstream entry point of the chain</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b="1">
                          <a:solidFill>
                            <a:srgbClr val="7CB342"/>
                          </a:solidFill>
                          <a:latin typeface="Calibri" pitchFamily="34" charset="0"/>
                          <a:ea typeface="Calibri" pitchFamily="34" charset="-122"/>
                          <a:cs typeface="Calibri" pitchFamily="34" charset="-120"/>
                        </a:rPr>
                        <a:t>3</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b="1">
                          <a:solidFill>
                            <a:srgbClr val="1A1A1A"/>
                          </a:solidFill>
                          <a:latin typeface="Calibri" pitchFamily="34" charset="0"/>
                          <a:ea typeface="Calibri" pitchFamily="34" charset="-122"/>
                          <a:cs typeface="Calibri" pitchFamily="34" charset="-120"/>
                        </a:rPr>
                        <a:t>Domestic Supply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Production + imports − exports</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3"/>
                  </a:ext>
                </a:extLst>
              </a:tr>
              <a:tr h="384048">
                <a:tc>
                  <a:txBody>
                    <a:bodyPr/>
                    <a:lstStyle/>
                    <a:p>
                      <a:pPr marL="0" indent="0" algn="ctr">
                        <a:buNone/>
                      </a:pPr>
                      <a:r>
                        <a:rPr lang="en-US" sz="1200" b="1">
                          <a:solidFill>
                            <a:srgbClr val="7CB342"/>
                          </a:solidFill>
                          <a:latin typeface="Calibri" pitchFamily="34" charset="0"/>
                          <a:ea typeface="Calibri" pitchFamily="34" charset="-122"/>
                          <a:cs typeface="Calibri" pitchFamily="34" charset="-120"/>
                        </a:rPr>
                        <a:t>4</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buNone/>
                      </a:pPr>
                      <a:r>
                        <a:rPr lang="en-US" sz="1200" b="1">
                          <a:solidFill>
                            <a:srgbClr val="1A1A1A"/>
                          </a:solidFill>
                          <a:latin typeface="Calibri" pitchFamily="34" charset="0"/>
                          <a:ea typeface="Calibri" pitchFamily="34" charset="-122"/>
                          <a:cs typeface="Calibri" pitchFamily="34" charset="-120"/>
                        </a:rPr>
                        <a:t>Food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Portion destined for human consumption</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200" b="1">
                          <a:solidFill>
                            <a:srgbClr val="7CB342"/>
                          </a:solidFill>
                          <a:latin typeface="Calibri" pitchFamily="34" charset="0"/>
                          <a:ea typeface="Calibri" pitchFamily="34" charset="-122"/>
                          <a:cs typeface="Calibri" pitchFamily="34" charset="-120"/>
                        </a:rPr>
                        <a:t>5</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b="1">
                          <a:solidFill>
                            <a:srgbClr val="7CB342"/>
                          </a:solidFill>
                          <a:latin typeface="Calibri" pitchFamily="34" charset="0"/>
                          <a:ea typeface="Calibri" pitchFamily="34" charset="-122"/>
                          <a:cs typeface="Calibri" pitchFamily="34" charset="-120"/>
                        </a:rPr>
                        <a:t>Supply Chain Waste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b="1">
                          <a:solidFill>
                            <a:srgbClr val="1A1A1A"/>
                          </a:solidFill>
                          <a:latin typeface="Calibri" pitchFamily="34" charset="0"/>
                          <a:ea typeface="Calibri" pitchFamily="34" charset="-122"/>
                          <a:cs typeface="Calibri" pitchFamily="34" charset="-120"/>
                        </a:rPr>
                        <a:t>Our dependent variable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5"/>
                  </a:ext>
                </a:extLst>
              </a:tr>
              <a:tr h="384048">
                <a:tc>
                  <a:txBody>
                    <a:bodyPr/>
                    <a:lstStyle/>
                    <a:p>
                      <a:pPr marL="0" indent="0" algn="ctr">
                        <a:buNone/>
                      </a:pPr>
                      <a:r>
                        <a:rPr lang="en-US" sz="1200" b="1">
                          <a:solidFill>
                            <a:srgbClr val="7CB342"/>
                          </a:solidFill>
                          <a:latin typeface="Calibri" pitchFamily="34" charset="0"/>
                          <a:ea typeface="Calibri" pitchFamily="34" charset="-122"/>
                          <a:cs typeface="Calibri" pitchFamily="34" charset="-120"/>
                        </a:rPr>
                        <a:t>6</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buNone/>
                      </a:pPr>
                      <a:r>
                        <a:rPr lang="en-US" sz="1200" b="1">
                          <a:solidFill>
                            <a:srgbClr val="1A1A1A"/>
                          </a:solidFill>
                          <a:latin typeface="Calibri" pitchFamily="34" charset="0"/>
                          <a:ea typeface="Calibri" pitchFamily="34" charset="-122"/>
                          <a:cs typeface="Calibri" pitchFamily="34" charset="-120"/>
                        </a:rPr>
                        <a:t>Waste per Capita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Normalizes for country size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ctr">
                        <a:buNone/>
                      </a:pPr>
                      <a:r>
                        <a:rPr lang="en-US" sz="1200" b="1">
                          <a:solidFill>
                            <a:srgbClr val="7CB342"/>
                          </a:solidFill>
                          <a:latin typeface="Calibri" pitchFamily="34" charset="0"/>
                          <a:ea typeface="Calibri" pitchFamily="34" charset="-122"/>
                          <a:cs typeface="Calibri" pitchFamily="34" charset="-120"/>
                        </a:rPr>
                        <a:t>7</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b="1">
                          <a:solidFill>
                            <a:srgbClr val="1A1A1A"/>
                          </a:solidFill>
                          <a:latin typeface="Calibri" pitchFamily="34" charset="0"/>
                          <a:ea typeface="Calibri" pitchFamily="34" charset="-122"/>
                          <a:cs typeface="Calibri" pitchFamily="34" charset="-120"/>
                        </a:rPr>
                        <a:t>Food Supply per Capita (kg/yr)</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buNone/>
                      </a:pPr>
                      <a:r>
                        <a:rPr lang="en-US" sz="1200">
                          <a:solidFill>
                            <a:srgbClr val="1A1A1A"/>
                          </a:solidFill>
                          <a:latin typeface="Calibri" pitchFamily="34" charset="0"/>
                          <a:ea typeface="Calibri" pitchFamily="34" charset="-122"/>
                          <a:cs typeface="Calibri" pitchFamily="34" charset="-120"/>
                        </a:rPr>
                        <a:t>What each person receives</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7"/>
                  </a:ext>
                </a:extLst>
              </a:tr>
            </a:tbl>
          </a:graphicData>
        </a:graphic>
      </p:graphicFrame>
      <p:sp>
        <p:nvSpPr>
          <p:cNvPr id="7" name="Text 4"/>
          <p:cNvSpPr/>
          <p:nvPr/>
        </p:nvSpPr>
        <p:spPr>
          <a:xfrm>
            <a:off x="411480" y="4800600"/>
            <a:ext cx="5486400" cy="205740"/>
          </a:xfrm>
          <a:prstGeom prst="rect">
            <a:avLst/>
          </a:prstGeom>
          <a:noFill/>
          <a:ln/>
        </p:spPr>
        <p:txBody>
          <a:bodyPr wrap="square" lIns="0" tIns="0" rIns="0" bIns="0" rtlCol="0" anchor="ctr"/>
          <a:lstStyle/>
          <a:p>
            <a:endParaRPr lang="en-US" sz="6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2  —  MEASURE</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Current State  →  Future State</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229600" cy="274320"/>
          </a:xfrm>
          <a:prstGeom prst="rect">
            <a:avLst/>
          </a:prstGeom>
          <a:noFill/>
          <a:ln/>
        </p:spPr>
        <p:txBody>
          <a:bodyPr wrap="square" lIns="0" tIns="0" rIns="0" bIns="0" rtlCol="0" anchor="ctr"/>
          <a:lstStyle/>
          <a:p>
            <a:endParaRPr lang="en-US" sz="1200"/>
          </a:p>
        </p:txBody>
      </p:sp>
      <p:sp>
        <p:nvSpPr>
          <p:cNvPr id="6" name="Shape 4"/>
          <p:cNvSpPr/>
          <p:nvPr/>
        </p:nvSpPr>
        <p:spPr>
          <a:xfrm>
            <a:off x="411480" y="1474470"/>
            <a:ext cx="3360420" cy="3086100"/>
          </a:xfrm>
          <a:prstGeom prst="rect">
            <a:avLst/>
          </a:prstGeom>
          <a:solidFill>
            <a:srgbClr val="FFFFFF"/>
          </a:solidFill>
          <a:ln w="19050">
            <a:solidFill>
              <a:srgbClr val="7CB342"/>
            </a:solidFill>
            <a:prstDash val="solid"/>
          </a:ln>
        </p:spPr>
        <p:txBody>
          <a:bodyPr/>
          <a:lstStyle/>
          <a:p>
            <a:endParaRPr lang="en-US" sz="1350"/>
          </a:p>
        </p:txBody>
      </p:sp>
      <p:sp>
        <p:nvSpPr>
          <p:cNvPr id="7" name="Shape 5"/>
          <p:cNvSpPr/>
          <p:nvPr/>
        </p:nvSpPr>
        <p:spPr>
          <a:xfrm>
            <a:off x="411480" y="1474470"/>
            <a:ext cx="3360420" cy="54864"/>
          </a:xfrm>
          <a:prstGeom prst="rect">
            <a:avLst/>
          </a:prstGeom>
          <a:solidFill>
            <a:srgbClr val="7CB342"/>
          </a:solidFill>
          <a:ln w="12700">
            <a:solidFill>
              <a:srgbClr val="7CB342"/>
            </a:solidFill>
            <a:prstDash val="solid"/>
          </a:ln>
        </p:spPr>
        <p:txBody>
          <a:bodyPr/>
          <a:lstStyle/>
          <a:p>
            <a:endParaRPr lang="en-US" sz="1350"/>
          </a:p>
        </p:txBody>
      </p:sp>
      <p:sp>
        <p:nvSpPr>
          <p:cNvPr id="8" name="Text 6"/>
          <p:cNvSpPr/>
          <p:nvPr/>
        </p:nvSpPr>
        <p:spPr>
          <a:xfrm>
            <a:off x="582930" y="1611630"/>
            <a:ext cx="301752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CURRENT STATE  ·  2019</a:t>
            </a:r>
            <a:endParaRPr lang="en-US" sz="1400"/>
          </a:p>
        </p:txBody>
      </p:sp>
      <p:sp>
        <p:nvSpPr>
          <p:cNvPr id="9" name="Text 7"/>
          <p:cNvSpPr/>
          <p:nvPr/>
        </p:nvSpPr>
        <p:spPr>
          <a:xfrm>
            <a:off x="582930" y="1954530"/>
            <a:ext cx="3017520" cy="960120"/>
          </a:xfrm>
          <a:prstGeom prst="rect">
            <a:avLst/>
          </a:prstGeom>
          <a:noFill/>
          <a:ln/>
        </p:spPr>
        <p:txBody>
          <a:bodyPr wrap="square" lIns="0" tIns="0" rIns="0" bIns="0" rtlCol="0" anchor="ctr"/>
          <a:lstStyle/>
          <a:p>
            <a:r>
              <a:rPr lang="en-US" sz="5400" b="1">
                <a:solidFill>
                  <a:srgbClr val="1A1A1A"/>
                </a:solidFill>
                <a:latin typeface="Georgia" pitchFamily="34" charset="0"/>
                <a:ea typeface="Georgia" pitchFamily="34" charset="-122"/>
                <a:cs typeface="Georgia" pitchFamily="34" charset="-120"/>
              </a:rPr>
              <a:t>60.8M</a:t>
            </a:r>
            <a:endParaRPr lang="en-US" sz="5400"/>
          </a:p>
        </p:txBody>
      </p:sp>
      <p:sp>
        <p:nvSpPr>
          <p:cNvPr id="10" name="Text 8"/>
          <p:cNvSpPr/>
          <p:nvPr/>
        </p:nvSpPr>
        <p:spPr>
          <a:xfrm>
            <a:off x="582930" y="2914650"/>
            <a:ext cx="3017520" cy="274320"/>
          </a:xfrm>
          <a:prstGeom prst="rect">
            <a:avLst/>
          </a:prstGeom>
          <a:noFill/>
          <a:ln/>
        </p:spPr>
        <p:txBody>
          <a:bodyPr wrap="square" lIns="0" tIns="0" rIns="0" bIns="0" rtlCol="0" anchor="ctr"/>
          <a:lstStyle/>
          <a:p>
            <a:r>
              <a:rPr lang="en-US" sz="1200">
                <a:latin typeface="Calibri" pitchFamily="34" charset="0"/>
                <a:ea typeface="Calibri" pitchFamily="34" charset="-122"/>
                <a:cs typeface="Calibri" pitchFamily="34" charset="-120"/>
              </a:rPr>
              <a:t>tonnes of SC waste / year</a:t>
            </a:r>
            <a:endParaRPr lang="en-US" sz="1200"/>
          </a:p>
        </p:txBody>
      </p:sp>
      <p:sp>
        <p:nvSpPr>
          <p:cNvPr id="11" name="Shape 9"/>
          <p:cNvSpPr/>
          <p:nvPr/>
        </p:nvSpPr>
        <p:spPr>
          <a:xfrm>
            <a:off x="582930" y="3326130"/>
            <a:ext cx="1028700" cy="0"/>
          </a:xfrm>
          <a:prstGeom prst="line">
            <a:avLst/>
          </a:prstGeom>
          <a:noFill/>
          <a:ln w="12700">
            <a:solidFill>
              <a:srgbClr val="7CB342"/>
            </a:solidFill>
            <a:prstDash val="solid"/>
          </a:ln>
        </p:spPr>
        <p:txBody>
          <a:bodyPr/>
          <a:lstStyle/>
          <a:p>
            <a:endParaRPr lang="en-US" sz="1350"/>
          </a:p>
        </p:txBody>
      </p:sp>
      <p:sp>
        <p:nvSpPr>
          <p:cNvPr id="12" name="Text 10"/>
          <p:cNvSpPr/>
          <p:nvPr/>
        </p:nvSpPr>
        <p:spPr>
          <a:xfrm>
            <a:off x="582930" y="3497580"/>
            <a:ext cx="3017520" cy="960120"/>
          </a:xfrm>
          <a:prstGeom prst="rect">
            <a:avLst/>
          </a:prstGeom>
          <a:noFill/>
          <a:ln/>
        </p:spPr>
        <p:txBody>
          <a:bodyPr wrap="square" lIns="0" tIns="0" rIns="0" bIns="0" rtlCol="0" anchor="ctr"/>
          <a:lstStyle/>
          <a:p>
            <a:pPr>
              <a:spcAft>
                <a:spcPts val="300"/>
              </a:spcAft>
            </a:pPr>
            <a:r>
              <a:rPr lang="en-US" sz="1200">
                <a:latin typeface="Calibri" pitchFamily="34" charset="0"/>
                <a:ea typeface="Calibri" pitchFamily="34" charset="-122"/>
                <a:cs typeface="Calibri" pitchFamily="34" charset="-120"/>
              </a:rPr>
              <a:t>Avg per country: </a:t>
            </a:r>
            <a:r>
              <a:rPr lang="en-US" sz="1200" b="1">
                <a:latin typeface="Calibri" pitchFamily="34" charset="0"/>
                <a:ea typeface="Calibri" pitchFamily="34" charset="-122"/>
                <a:cs typeface="Calibri" pitchFamily="34" charset="-120"/>
              </a:rPr>
              <a:t>498,295 t</a:t>
            </a:r>
            <a:endParaRPr lang="en-US" sz="1200"/>
          </a:p>
          <a:p>
            <a:pPr>
              <a:spcAft>
                <a:spcPts val="300"/>
              </a:spcAft>
            </a:pPr>
            <a:r>
              <a:rPr lang="en-US" sz="1200">
                <a:latin typeface="Calibri" pitchFamily="34" charset="0"/>
                <a:ea typeface="Calibri" pitchFamily="34" charset="-122"/>
                <a:cs typeface="Calibri" pitchFamily="34" charset="-120"/>
              </a:rPr>
              <a:t>Avg per capita: </a:t>
            </a:r>
            <a:r>
              <a:rPr lang="en-US" sz="1200" b="1">
                <a:latin typeface="Calibri" pitchFamily="34" charset="0"/>
                <a:ea typeface="Calibri" pitchFamily="34" charset="-122"/>
                <a:cs typeface="Calibri" pitchFamily="34" charset="-120"/>
              </a:rPr>
              <a:t>0.00678 </a:t>
            </a:r>
            <a:r>
              <a:rPr lang="en-US" sz="1200" b="1">
                <a:solidFill>
                  <a:srgbClr val="1A1A1A"/>
                </a:solidFill>
                <a:latin typeface="Calibri" pitchFamily="34" charset="0"/>
                <a:ea typeface="Calibri" pitchFamily="34" charset="-122"/>
                <a:cs typeface="Calibri" pitchFamily="34" charset="-120"/>
              </a:rPr>
              <a:t>t</a:t>
            </a:r>
            <a:endParaRPr lang="en-US" sz="1200"/>
          </a:p>
        </p:txBody>
      </p:sp>
      <p:sp>
        <p:nvSpPr>
          <p:cNvPr id="13" name="Shape 11"/>
          <p:cNvSpPr/>
          <p:nvPr/>
        </p:nvSpPr>
        <p:spPr>
          <a:xfrm>
            <a:off x="3737610" y="2194560"/>
            <a:ext cx="1577340" cy="1645920"/>
          </a:xfrm>
          <a:prstGeom prst="rect">
            <a:avLst/>
          </a:prstGeom>
          <a:solidFill>
            <a:srgbClr val="7CB342"/>
          </a:solidFill>
          <a:ln w="12700">
            <a:solidFill>
              <a:srgbClr val="7CB342"/>
            </a:solidFill>
            <a:prstDash val="solid"/>
          </a:ln>
        </p:spPr>
        <p:txBody>
          <a:bodyPr/>
          <a:lstStyle/>
          <a:p>
            <a:endParaRPr lang="en-US" sz="1350"/>
          </a:p>
        </p:txBody>
      </p:sp>
      <p:sp>
        <p:nvSpPr>
          <p:cNvPr id="14" name="Text 12"/>
          <p:cNvSpPr/>
          <p:nvPr/>
        </p:nvSpPr>
        <p:spPr>
          <a:xfrm>
            <a:off x="3737610" y="2297430"/>
            <a:ext cx="1577340" cy="240030"/>
          </a:xfrm>
          <a:prstGeom prst="rect">
            <a:avLst/>
          </a:prstGeom>
          <a:noFill/>
          <a:ln/>
        </p:spPr>
        <p:txBody>
          <a:bodyPr wrap="square" lIns="0" tIns="0" rIns="0" bIns="0" rtlCol="0" anchor="ctr"/>
          <a:lstStyle/>
          <a:p>
            <a:pPr algn="ctr"/>
            <a:r>
              <a:rPr lang="en-US" sz="1400" b="1" kern="0" spc="375">
                <a:solidFill>
                  <a:srgbClr val="FFFFFF"/>
                </a:solidFill>
                <a:latin typeface="Calibri" pitchFamily="34" charset="0"/>
                <a:ea typeface="Calibri" pitchFamily="34" charset="-122"/>
                <a:cs typeface="Calibri" pitchFamily="34" charset="-120"/>
              </a:rPr>
              <a:t>GAP</a:t>
            </a:r>
            <a:endParaRPr lang="en-US" sz="1400"/>
          </a:p>
        </p:txBody>
      </p:sp>
      <p:sp>
        <p:nvSpPr>
          <p:cNvPr id="15" name="Text 13"/>
          <p:cNvSpPr/>
          <p:nvPr/>
        </p:nvSpPr>
        <p:spPr>
          <a:xfrm>
            <a:off x="3737610" y="2606040"/>
            <a:ext cx="1577340" cy="685800"/>
          </a:xfrm>
          <a:prstGeom prst="rect">
            <a:avLst/>
          </a:prstGeom>
          <a:noFill/>
          <a:ln/>
        </p:spPr>
        <p:txBody>
          <a:bodyPr wrap="none" lIns="0" tIns="0" rIns="0" bIns="0" rtlCol="0" anchor="ctr"/>
          <a:lstStyle/>
          <a:p>
            <a:pPr algn="ctr"/>
            <a:r>
              <a:rPr lang="en-US" sz="3300" b="1">
                <a:solidFill>
                  <a:srgbClr val="FFFFFF"/>
                </a:solidFill>
                <a:latin typeface="Georgia" pitchFamily="34" charset="0"/>
                <a:ea typeface="Georgia" pitchFamily="34" charset="-122"/>
                <a:cs typeface="Georgia" pitchFamily="34" charset="-120"/>
              </a:rPr>
              <a:t>−10%</a:t>
            </a:r>
            <a:endParaRPr lang="en-US" sz="3300"/>
          </a:p>
        </p:txBody>
      </p:sp>
      <p:sp>
        <p:nvSpPr>
          <p:cNvPr id="16" name="Text 14"/>
          <p:cNvSpPr/>
          <p:nvPr/>
        </p:nvSpPr>
        <p:spPr>
          <a:xfrm>
            <a:off x="3737610" y="3326130"/>
            <a:ext cx="1577340" cy="240030"/>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6.08M tonnes</a:t>
            </a:r>
            <a:endParaRPr lang="en-US" sz="1200"/>
          </a:p>
        </p:txBody>
      </p:sp>
      <p:sp>
        <p:nvSpPr>
          <p:cNvPr id="17" name="Text 15"/>
          <p:cNvSpPr/>
          <p:nvPr/>
        </p:nvSpPr>
        <p:spPr>
          <a:xfrm>
            <a:off x="3737610" y="3566160"/>
            <a:ext cx="1577340" cy="205740"/>
          </a:xfrm>
          <a:prstGeom prst="rect">
            <a:avLst/>
          </a:prstGeom>
          <a:noFill/>
          <a:ln/>
        </p:spPr>
        <p:txBody>
          <a:bodyPr wrap="square" lIns="0" tIns="0" rIns="0" bIns="0" rtlCol="0" anchor="ctr"/>
          <a:lstStyle/>
          <a:p>
            <a:pPr algn="ctr"/>
            <a:r>
              <a:rPr lang="en-US" sz="1200" i="1">
                <a:solidFill>
                  <a:srgbClr val="FFFFFF"/>
                </a:solidFill>
                <a:latin typeface="Calibri" pitchFamily="34" charset="0"/>
                <a:ea typeface="Calibri" pitchFamily="34" charset="-122"/>
                <a:cs typeface="Calibri" pitchFamily="34" charset="-120"/>
              </a:rPr>
              <a:t>per year</a:t>
            </a:r>
            <a:endParaRPr lang="en-US" sz="1200"/>
          </a:p>
        </p:txBody>
      </p:sp>
      <p:sp>
        <p:nvSpPr>
          <p:cNvPr id="18" name="Shape 16"/>
          <p:cNvSpPr/>
          <p:nvPr/>
        </p:nvSpPr>
        <p:spPr>
          <a:xfrm>
            <a:off x="5280660" y="1474470"/>
            <a:ext cx="3429000" cy="3086100"/>
          </a:xfrm>
          <a:prstGeom prst="rect">
            <a:avLst/>
          </a:prstGeom>
          <a:solidFill>
            <a:srgbClr val="FFFFFF"/>
          </a:solidFill>
          <a:ln w="19050">
            <a:solidFill>
              <a:srgbClr val="7CB342"/>
            </a:solidFill>
            <a:prstDash val="solid"/>
          </a:ln>
        </p:spPr>
        <p:txBody>
          <a:bodyPr/>
          <a:lstStyle/>
          <a:p>
            <a:endParaRPr lang="en-US" sz="1350"/>
          </a:p>
        </p:txBody>
      </p:sp>
      <p:sp>
        <p:nvSpPr>
          <p:cNvPr id="19" name="Shape 17"/>
          <p:cNvSpPr/>
          <p:nvPr/>
        </p:nvSpPr>
        <p:spPr>
          <a:xfrm>
            <a:off x="5280660" y="1474470"/>
            <a:ext cx="3429000" cy="54864"/>
          </a:xfrm>
          <a:prstGeom prst="rect">
            <a:avLst/>
          </a:prstGeom>
          <a:solidFill>
            <a:srgbClr val="7CB342"/>
          </a:solidFill>
          <a:ln w="12700">
            <a:solidFill>
              <a:srgbClr val="7CB342"/>
            </a:solidFill>
            <a:prstDash val="solid"/>
          </a:ln>
        </p:spPr>
        <p:txBody>
          <a:bodyPr/>
          <a:lstStyle/>
          <a:p>
            <a:endParaRPr lang="en-US" sz="1350"/>
          </a:p>
        </p:txBody>
      </p:sp>
      <p:sp>
        <p:nvSpPr>
          <p:cNvPr id="20" name="Text 18"/>
          <p:cNvSpPr/>
          <p:nvPr/>
        </p:nvSpPr>
        <p:spPr>
          <a:xfrm>
            <a:off x="5452110" y="1611630"/>
            <a:ext cx="30861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FUTURE STATE  ·  TARGET</a:t>
            </a:r>
            <a:endParaRPr lang="en-US" sz="1400"/>
          </a:p>
        </p:txBody>
      </p:sp>
      <p:sp>
        <p:nvSpPr>
          <p:cNvPr id="21" name="Text 19"/>
          <p:cNvSpPr/>
          <p:nvPr/>
        </p:nvSpPr>
        <p:spPr>
          <a:xfrm>
            <a:off x="5452110" y="1954530"/>
            <a:ext cx="3086100" cy="960120"/>
          </a:xfrm>
          <a:prstGeom prst="rect">
            <a:avLst/>
          </a:prstGeom>
          <a:noFill/>
          <a:ln/>
        </p:spPr>
        <p:txBody>
          <a:bodyPr wrap="square" lIns="0" tIns="0" rIns="0" bIns="0" rtlCol="0" anchor="ctr"/>
          <a:lstStyle/>
          <a:p>
            <a:r>
              <a:rPr lang="en-US" sz="5400" b="1">
                <a:solidFill>
                  <a:srgbClr val="1A1A1A"/>
                </a:solidFill>
                <a:latin typeface="Georgia" pitchFamily="34" charset="0"/>
                <a:ea typeface="Georgia" pitchFamily="34" charset="-122"/>
                <a:cs typeface="Georgia" pitchFamily="34" charset="-120"/>
              </a:rPr>
              <a:t>54.7M</a:t>
            </a:r>
            <a:endParaRPr lang="en-US" sz="5400"/>
          </a:p>
        </p:txBody>
      </p:sp>
      <p:sp>
        <p:nvSpPr>
          <p:cNvPr id="22" name="Text 20"/>
          <p:cNvSpPr/>
          <p:nvPr/>
        </p:nvSpPr>
        <p:spPr>
          <a:xfrm>
            <a:off x="5452110" y="2914650"/>
            <a:ext cx="3086100" cy="274320"/>
          </a:xfrm>
          <a:prstGeom prst="rect">
            <a:avLst/>
          </a:prstGeom>
          <a:noFill/>
          <a:ln/>
        </p:spPr>
        <p:txBody>
          <a:bodyPr wrap="square" lIns="0" tIns="0" rIns="0" bIns="0" rtlCol="0" anchor="ctr"/>
          <a:lstStyle/>
          <a:p>
            <a:r>
              <a:rPr lang="en-US" sz="1200">
                <a:latin typeface="Calibri" pitchFamily="34" charset="0"/>
                <a:ea typeface="Calibri" pitchFamily="34" charset="-122"/>
                <a:cs typeface="Calibri" pitchFamily="34" charset="-120"/>
              </a:rPr>
              <a:t>tonnes of SC waste / year</a:t>
            </a:r>
            <a:endParaRPr lang="en-US" sz="1200"/>
          </a:p>
        </p:txBody>
      </p:sp>
      <p:sp>
        <p:nvSpPr>
          <p:cNvPr id="23" name="Shape 21"/>
          <p:cNvSpPr/>
          <p:nvPr/>
        </p:nvSpPr>
        <p:spPr>
          <a:xfrm>
            <a:off x="5452110" y="3326130"/>
            <a:ext cx="1028700" cy="0"/>
          </a:xfrm>
          <a:prstGeom prst="line">
            <a:avLst/>
          </a:prstGeom>
          <a:noFill/>
          <a:ln w="12700">
            <a:solidFill>
              <a:srgbClr val="7CB342"/>
            </a:solidFill>
            <a:prstDash val="solid"/>
          </a:ln>
        </p:spPr>
        <p:txBody>
          <a:bodyPr/>
          <a:lstStyle/>
          <a:p>
            <a:endParaRPr lang="en-US" sz="1350"/>
          </a:p>
        </p:txBody>
      </p:sp>
      <p:sp>
        <p:nvSpPr>
          <p:cNvPr id="24" name="Text 22"/>
          <p:cNvSpPr/>
          <p:nvPr/>
        </p:nvSpPr>
        <p:spPr>
          <a:xfrm>
            <a:off x="5452110" y="3497580"/>
            <a:ext cx="3086100" cy="960120"/>
          </a:xfrm>
          <a:prstGeom prst="rect">
            <a:avLst/>
          </a:prstGeom>
          <a:noFill/>
          <a:ln/>
        </p:spPr>
        <p:txBody>
          <a:bodyPr wrap="square" lIns="0" tIns="0" rIns="0" bIns="0" rtlCol="0" anchor="ctr"/>
          <a:lstStyle/>
          <a:p>
            <a:pPr>
              <a:spcAft>
                <a:spcPts val="300"/>
              </a:spcAft>
            </a:pPr>
            <a:r>
              <a:rPr lang="en-US" sz="1200">
                <a:latin typeface="Calibri" pitchFamily="34" charset="0"/>
                <a:ea typeface="Calibri" pitchFamily="34" charset="-122"/>
                <a:cs typeface="Calibri" pitchFamily="34" charset="-120"/>
              </a:rPr>
              <a:t>Avg per country: </a:t>
            </a:r>
            <a:r>
              <a:rPr lang="en-US" sz="1200" b="1">
                <a:latin typeface="Calibri" pitchFamily="34" charset="0"/>
                <a:ea typeface="Calibri" pitchFamily="34" charset="-122"/>
                <a:cs typeface="Calibri" pitchFamily="34" charset="-120"/>
              </a:rPr>
              <a:t>448,466 t</a:t>
            </a:r>
            <a:endParaRPr lang="en-US" sz="1200"/>
          </a:p>
          <a:p>
            <a:pPr>
              <a:spcAft>
                <a:spcPts val="300"/>
              </a:spcAft>
            </a:pPr>
            <a:r>
              <a:rPr lang="en-US" sz="1200">
                <a:latin typeface="Calibri" pitchFamily="34" charset="0"/>
                <a:ea typeface="Calibri" pitchFamily="34" charset="-122"/>
                <a:cs typeface="Calibri" pitchFamily="34" charset="-120"/>
              </a:rPr>
              <a:t>Avg per capita: </a:t>
            </a:r>
            <a:r>
              <a:rPr lang="en-US" sz="1200" b="1">
                <a:latin typeface="Calibri" pitchFamily="34" charset="0"/>
                <a:ea typeface="Calibri" pitchFamily="34" charset="-122"/>
                <a:cs typeface="Calibri" pitchFamily="34" charset="-120"/>
              </a:rPr>
              <a:t>0.00610 t</a:t>
            </a:r>
            <a:endParaRPr lang="en-US" sz="1200"/>
          </a:p>
        </p:txBody>
      </p:sp>
      <p:sp>
        <p:nvSpPr>
          <p:cNvPr id="25" name="Text 23"/>
          <p:cNvSpPr/>
          <p:nvPr/>
        </p:nvSpPr>
        <p:spPr>
          <a:xfrm>
            <a:off x="411480" y="4697730"/>
            <a:ext cx="8229600" cy="274320"/>
          </a:xfrm>
          <a:prstGeom prst="rect">
            <a:avLst/>
          </a:prstGeom>
          <a:noFill/>
          <a:ln/>
        </p:spPr>
        <p:txBody>
          <a:bodyPr wrap="square" lIns="0" tIns="0" rIns="0" bIns="0" rtlCol="0" anchor="ctr"/>
          <a:lstStyle/>
          <a:p>
            <a:pPr algn="ct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2  —  MEASURE</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Methodology</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229600" cy="2743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Three complementary statistical lenses applied to all 7 variables across 122 countries.</a:t>
            </a:r>
            <a:endParaRPr lang="en-US" sz="1200"/>
          </a:p>
        </p:txBody>
      </p:sp>
      <p:sp>
        <p:nvSpPr>
          <p:cNvPr id="6" name="Shape 4"/>
          <p:cNvSpPr/>
          <p:nvPr/>
        </p:nvSpPr>
        <p:spPr>
          <a:xfrm>
            <a:off x="411480" y="1508760"/>
            <a:ext cx="8298180" cy="994410"/>
          </a:xfrm>
          <a:prstGeom prst="rect">
            <a:avLst/>
          </a:prstGeom>
          <a:solidFill>
            <a:srgbClr val="FFFFFF"/>
          </a:solidFill>
          <a:ln w="6350">
            <a:solidFill>
              <a:srgbClr val="DCD4BE"/>
            </a:solidFill>
            <a:prstDash val="solid"/>
          </a:ln>
        </p:spPr>
        <p:txBody>
          <a:bodyPr/>
          <a:lstStyle/>
          <a:p>
            <a:endParaRPr lang="en-US" sz="1350"/>
          </a:p>
        </p:txBody>
      </p:sp>
      <p:sp>
        <p:nvSpPr>
          <p:cNvPr id="7" name="Shape 5"/>
          <p:cNvSpPr/>
          <p:nvPr/>
        </p:nvSpPr>
        <p:spPr>
          <a:xfrm>
            <a:off x="411480" y="1508760"/>
            <a:ext cx="82296" cy="994410"/>
          </a:xfrm>
          <a:prstGeom prst="rect">
            <a:avLst/>
          </a:prstGeom>
          <a:solidFill>
            <a:srgbClr val="7CB342"/>
          </a:solidFill>
          <a:ln w="12700">
            <a:solidFill>
              <a:srgbClr val="7CB342"/>
            </a:solidFill>
            <a:prstDash val="solid"/>
          </a:ln>
        </p:spPr>
        <p:txBody>
          <a:bodyPr/>
          <a:lstStyle/>
          <a:p>
            <a:endParaRPr lang="en-US" sz="1350"/>
          </a:p>
        </p:txBody>
      </p:sp>
      <p:sp>
        <p:nvSpPr>
          <p:cNvPr id="8" name="Text 6"/>
          <p:cNvSpPr/>
          <p:nvPr/>
        </p:nvSpPr>
        <p:spPr>
          <a:xfrm>
            <a:off x="617220" y="1645920"/>
            <a:ext cx="685800" cy="480060"/>
          </a:xfrm>
          <a:prstGeom prst="rect">
            <a:avLst/>
          </a:prstGeom>
          <a:noFill/>
          <a:ln/>
        </p:spPr>
        <p:txBody>
          <a:bodyPr wrap="square" lIns="0" tIns="0" rIns="0" bIns="0" rtlCol="0" anchor="ctr"/>
          <a:lstStyle/>
          <a:p>
            <a:r>
              <a:rPr lang="en-US" sz="2700" b="1">
                <a:solidFill>
                  <a:srgbClr val="93C172"/>
                </a:solidFill>
                <a:latin typeface="Georgia" pitchFamily="34" charset="0"/>
                <a:ea typeface="Georgia" pitchFamily="34" charset="-122"/>
                <a:cs typeface="Georgia" pitchFamily="34" charset="-120"/>
              </a:rPr>
              <a:t>01</a:t>
            </a:r>
            <a:endParaRPr lang="en-US" sz="2700"/>
          </a:p>
        </p:txBody>
      </p:sp>
      <p:sp>
        <p:nvSpPr>
          <p:cNvPr id="9" name="Text 7"/>
          <p:cNvSpPr/>
          <p:nvPr/>
        </p:nvSpPr>
        <p:spPr>
          <a:xfrm>
            <a:off x="1371600" y="1645920"/>
            <a:ext cx="6515100" cy="274320"/>
          </a:xfrm>
          <a:prstGeom prst="rect">
            <a:avLst/>
          </a:prstGeom>
          <a:noFill/>
          <a:ln/>
        </p:spPr>
        <p:txBody>
          <a:bodyPr wrap="square" lIns="0" tIns="0" rIns="0" bIns="0" rtlCol="0" anchor="ctr"/>
          <a:lstStyle/>
          <a:p>
            <a:r>
              <a:rPr lang="en-US" sz="1500" b="1">
                <a:solidFill>
                  <a:srgbClr val="1A1A1A"/>
                </a:solidFill>
                <a:latin typeface="Georgia" pitchFamily="34" charset="0"/>
                <a:ea typeface="Georgia" pitchFamily="34" charset="-122"/>
                <a:cs typeface="Georgia" pitchFamily="34" charset="-120"/>
              </a:rPr>
              <a:t>Descriptive Statistics</a:t>
            </a:r>
            <a:endParaRPr lang="en-US" sz="1500"/>
          </a:p>
        </p:txBody>
      </p:sp>
      <p:sp>
        <p:nvSpPr>
          <p:cNvPr id="10" name="Text 8"/>
          <p:cNvSpPr/>
          <p:nvPr/>
        </p:nvSpPr>
        <p:spPr>
          <a:xfrm>
            <a:off x="1371600" y="1988820"/>
            <a:ext cx="7132320" cy="34290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Mean  ·  median  ·  std dev  ·  skewness  ·  min/max</a:t>
            </a:r>
            <a:endParaRPr lang="en-US" sz="1200"/>
          </a:p>
        </p:txBody>
      </p:sp>
      <p:sp>
        <p:nvSpPr>
          <p:cNvPr id="11" name="Shape 9"/>
          <p:cNvSpPr/>
          <p:nvPr/>
        </p:nvSpPr>
        <p:spPr>
          <a:xfrm>
            <a:off x="411480" y="2640330"/>
            <a:ext cx="8298180" cy="994410"/>
          </a:xfrm>
          <a:prstGeom prst="rect">
            <a:avLst/>
          </a:prstGeom>
          <a:solidFill>
            <a:srgbClr val="FFFFFF"/>
          </a:solidFill>
          <a:ln w="6350">
            <a:solidFill>
              <a:srgbClr val="DCD4BE"/>
            </a:solidFill>
            <a:prstDash val="solid"/>
          </a:ln>
        </p:spPr>
        <p:txBody>
          <a:bodyPr/>
          <a:lstStyle/>
          <a:p>
            <a:endParaRPr lang="en-US" sz="1350"/>
          </a:p>
        </p:txBody>
      </p:sp>
      <p:sp>
        <p:nvSpPr>
          <p:cNvPr id="12" name="Shape 10"/>
          <p:cNvSpPr/>
          <p:nvPr/>
        </p:nvSpPr>
        <p:spPr>
          <a:xfrm>
            <a:off x="411480" y="2640330"/>
            <a:ext cx="82296" cy="994410"/>
          </a:xfrm>
          <a:prstGeom prst="rect">
            <a:avLst/>
          </a:prstGeom>
          <a:solidFill>
            <a:srgbClr val="7CB342"/>
          </a:solidFill>
          <a:ln w="12700">
            <a:solidFill>
              <a:srgbClr val="7CB342"/>
            </a:solidFill>
            <a:prstDash val="solid"/>
          </a:ln>
        </p:spPr>
        <p:txBody>
          <a:bodyPr/>
          <a:lstStyle/>
          <a:p>
            <a:endParaRPr lang="en-US" sz="1350"/>
          </a:p>
        </p:txBody>
      </p:sp>
      <p:sp>
        <p:nvSpPr>
          <p:cNvPr id="13" name="Text 11"/>
          <p:cNvSpPr/>
          <p:nvPr/>
        </p:nvSpPr>
        <p:spPr>
          <a:xfrm>
            <a:off x="617220" y="2777490"/>
            <a:ext cx="685800" cy="480060"/>
          </a:xfrm>
          <a:prstGeom prst="rect">
            <a:avLst/>
          </a:prstGeom>
          <a:noFill/>
          <a:ln/>
        </p:spPr>
        <p:txBody>
          <a:bodyPr wrap="square" lIns="0" tIns="0" rIns="0" bIns="0" rtlCol="0" anchor="ctr"/>
          <a:lstStyle/>
          <a:p>
            <a:r>
              <a:rPr lang="en-US" sz="2700" b="1">
                <a:solidFill>
                  <a:srgbClr val="93C172"/>
                </a:solidFill>
                <a:latin typeface="Georgia" pitchFamily="34" charset="0"/>
                <a:ea typeface="Georgia" pitchFamily="34" charset="-122"/>
                <a:cs typeface="Georgia" pitchFamily="34" charset="-120"/>
              </a:rPr>
              <a:t>02</a:t>
            </a:r>
            <a:endParaRPr lang="en-US" sz="2700"/>
          </a:p>
        </p:txBody>
      </p:sp>
      <p:sp>
        <p:nvSpPr>
          <p:cNvPr id="14" name="Text 12"/>
          <p:cNvSpPr/>
          <p:nvPr/>
        </p:nvSpPr>
        <p:spPr>
          <a:xfrm>
            <a:off x="1371600" y="2777490"/>
            <a:ext cx="6515100" cy="274320"/>
          </a:xfrm>
          <a:prstGeom prst="rect">
            <a:avLst/>
          </a:prstGeom>
          <a:noFill/>
          <a:ln/>
        </p:spPr>
        <p:txBody>
          <a:bodyPr wrap="square" lIns="0" tIns="0" rIns="0" bIns="0" rtlCol="0" anchor="ctr"/>
          <a:lstStyle/>
          <a:p>
            <a:r>
              <a:rPr lang="en-US" sz="1500" b="1">
                <a:solidFill>
                  <a:srgbClr val="1A1A1A"/>
                </a:solidFill>
                <a:latin typeface="Georgia" pitchFamily="34" charset="0"/>
                <a:ea typeface="Georgia" pitchFamily="34" charset="-122"/>
                <a:cs typeface="Georgia" pitchFamily="34" charset="-120"/>
              </a:rPr>
              <a:t>Coefficient of Variation (CV%)</a:t>
            </a:r>
            <a:endParaRPr lang="en-US" sz="1500"/>
          </a:p>
        </p:txBody>
      </p:sp>
      <p:sp>
        <p:nvSpPr>
          <p:cNvPr id="15" name="Text 13"/>
          <p:cNvSpPr/>
          <p:nvPr/>
        </p:nvSpPr>
        <p:spPr>
          <a:xfrm>
            <a:off x="1371600" y="3120390"/>
            <a:ext cx="7132320" cy="34290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σ ÷ μ × 100 · compares variance on any scale</a:t>
            </a:r>
            <a:endParaRPr lang="en-US" sz="1200"/>
          </a:p>
        </p:txBody>
      </p:sp>
      <p:sp>
        <p:nvSpPr>
          <p:cNvPr id="16" name="Shape 14"/>
          <p:cNvSpPr/>
          <p:nvPr/>
        </p:nvSpPr>
        <p:spPr>
          <a:xfrm>
            <a:off x="411480" y="3771900"/>
            <a:ext cx="8298180" cy="994410"/>
          </a:xfrm>
          <a:prstGeom prst="rect">
            <a:avLst/>
          </a:prstGeom>
          <a:solidFill>
            <a:srgbClr val="FFFFFF"/>
          </a:solidFill>
          <a:ln w="6350">
            <a:solidFill>
              <a:srgbClr val="DCD4BE"/>
            </a:solidFill>
            <a:prstDash val="solid"/>
          </a:ln>
        </p:spPr>
        <p:txBody>
          <a:bodyPr/>
          <a:lstStyle/>
          <a:p>
            <a:endParaRPr lang="en-US" sz="1350"/>
          </a:p>
        </p:txBody>
      </p:sp>
      <p:sp>
        <p:nvSpPr>
          <p:cNvPr id="17" name="Shape 15"/>
          <p:cNvSpPr/>
          <p:nvPr/>
        </p:nvSpPr>
        <p:spPr>
          <a:xfrm>
            <a:off x="411480" y="3771900"/>
            <a:ext cx="82296" cy="994410"/>
          </a:xfrm>
          <a:prstGeom prst="rect">
            <a:avLst/>
          </a:prstGeom>
          <a:solidFill>
            <a:srgbClr val="7CB342"/>
          </a:solidFill>
          <a:ln w="12700">
            <a:solidFill>
              <a:srgbClr val="7CB342"/>
            </a:solidFill>
            <a:prstDash val="solid"/>
          </a:ln>
        </p:spPr>
        <p:txBody>
          <a:bodyPr/>
          <a:lstStyle/>
          <a:p>
            <a:endParaRPr lang="en-US" sz="1350"/>
          </a:p>
        </p:txBody>
      </p:sp>
      <p:sp>
        <p:nvSpPr>
          <p:cNvPr id="18" name="Text 16"/>
          <p:cNvSpPr/>
          <p:nvPr/>
        </p:nvSpPr>
        <p:spPr>
          <a:xfrm>
            <a:off x="617220" y="3909060"/>
            <a:ext cx="685800" cy="480060"/>
          </a:xfrm>
          <a:prstGeom prst="rect">
            <a:avLst/>
          </a:prstGeom>
          <a:noFill/>
          <a:ln/>
        </p:spPr>
        <p:txBody>
          <a:bodyPr wrap="square" lIns="0" tIns="0" rIns="0" bIns="0" rtlCol="0" anchor="ctr"/>
          <a:lstStyle/>
          <a:p>
            <a:r>
              <a:rPr lang="en-US" sz="2700" b="1">
                <a:solidFill>
                  <a:srgbClr val="93C172"/>
                </a:solidFill>
                <a:latin typeface="Georgia" pitchFamily="34" charset="0"/>
                <a:ea typeface="Georgia" pitchFamily="34" charset="-122"/>
                <a:cs typeface="Georgia" pitchFamily="34" charset="-120"/>
              </a:rPr>
              <a:t>03</a:t>
            </a:r>
            <a:endParaRPr lang="en-US" sz="2700"/>
          </a:p>
        </p:txBody>
      </p:sp>
      <p:sp>
        <p:nvSpPr>
          <p:cNvPr id="19" name="Text 17"/>
          <p:cNvSpPr/>
          <p:nvPr/>
        </p:nvSpPr>
        <p:spPr>
          <a:xfrm>
            <a:off x="1371600" y="3909060"/>
            <a:ext cx="6515100" cy="274320"/>
          </a:xfrm>
          <a:prstGeom prst="rect">
            <a:avLst/>
          </a:prstGeom>
          <a:noFill/>
          <a:ln/>
        </p:spPr>
        <p:txBody>
          <a:bodyPr wrap="square" lIns="0" tIns="0" rIns="0" bIns="0" rtlCol="0" anchor="ctr"/>
          <a:lstStyle/>
          <a:p>
            <a:r>
              <a:rPr lang="en-US" sz="1500" b="1">
                <a:solidFill>
                  <a:srgbClr val="1A1A1A"/>
                </a:solidFill>
                <a:latin typeface="Georgia" pitchFamily="34" charset="0"/>
                <a:ea typeface="Georgia" pitchFamily="34" charset="-122"/>
                <a:cs typeface="Georgia" pitchFamily="34" charset="-120"/>
              </a:rPr>
              <a:t>Pivot Tables by Continent</a:t>
            </a:r>
            <a:endParaRPr lang="en-US" sz="1500"/>
          </a:p>
        </p:txBody>
      </p:sp>
      <p:sp>
        <p:nvSpPr>
          <p:cNvPr id="20" name="Text 18"/>
          <p:cNvSpPr/>
          <p:nvPr/>
        </p:nvSpPr>
        <p:spPr>
          <a:xfrm>
            <a:off x="1371600" y="4251960"/>
            <a:ext cx="7132320" cy="34290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Variables grouped by continent · geographic clustering check</a:t>
            </a:r>
            <a:endParaRPr lang="en-US" sz="1200"/>
          </a:p>
        </p:txBody>
      </p:sp>
      <p:sp>
        <p:nvSpPr>
          <p:cNvPr id="21" name="Text 19"/>
          <p:cNvSpPr/>
          <p:nvPr/>
        </p:nvSpPr>
        <p:spPr>
          <a:xfrm>
            <a:off x="411480" y="4800600"/>
            <a:ext cx="5486400" cy="205740"/>
          </a:xfrm>
          <a:prstGeom prst="rect">
            <a:avLst/>
          </a:prstGeom>
          <a:noFill/>
          <a:ln/>
        </p:spPr>
        <p:txBody>
          <a:bodyPr wrap="square" lIns="0" tIns="0" rIns="0" bIns="0" rtlCol="0" anchor="ctr"/>
          <a:lstStyle/>
          <a:p>
            <a:r>
              <a:rPr lang="en-US" sz="675">
                <a:solidFill>
                  <a:srgbClr val="5C5C5C"/>
                </a:solidFill>
                <a:latin typeface="Calibri" pitchFamily="34" charset="0"/>
                <a:ea typeface="Calibri" pitchFamily="34" charset="-122"/>
                <a:cs typeface="Calibri" pitchFamily="34" charset="-120"/>
              </a:rPr>
              <a:t>FAO 2019 · 122 countries · 5 continents</a:t>
            </a:r>
            <a:endParaRPr lang="en-US" sz="6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3  —  ANALYZE</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Descriptive Statistics </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572500" cy="2743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All 7 variables show CV &gt; 100% (“Very High” variance) and right-skew above 1.5. The system is not uniformly distributed in ANY dimension.</a:t>
            </a:r>
            <a:endParaRPr lang="en-US" sz="1200"/>
          </a:p>
        </p:txBody>
      </p:sp>
      <p:graphicFrame>
        <p:nvGraphicFramePr>
          <p:cNvPr id="9" name="Table 0"/>
          <p:cNvGraphicFramePr>
            <a:graphicFrameLocks noGrp="1"/>
          </p:cNvGraphicFramePr>
          <p:nvPr>
            <p:extLst>
              <p:ext uri="{D42A27DB-BD31-4B8C-83A1-F6EECF244321}">
                <p14:modId xmlns:p14="http://schemas.microsoft.com/office/powerpoint/2010/main" val="351352929"/>
              </p:ext>
            </p:extLst>
          </p:nvPr>
        </p:nvGraphicFramePr>
        <p:xfrm>
          <a:off x="411480" y="1440180"/>
          <a:ext cx="8298180" cy="2688336"/>
        </p:xfrm>
        <a:graphic>
          <a:graphicData uri="http://schemas.openxmlformats.org/drawingml/2006/table">
            <a:tbl>
              <a:tblPr/>
              <a:tblGrid>
                <a:gridCol w="20574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165860">
                  <a:extLst>
                    <a:ext uri="{9D8B030D-6E8A-4147-A177-3AD203B41FA5}">
                      <a16:colId xmlns:a16="http://schemas.microsoft.com/office/drawing/2014/main" val="20003"/>
                    </a:ext>
                  </a:extLst>
                </a:gridCol>
                <a:gridCol w="891540">
                  <a:extLst>
                    <a:ext uri="{9D8B030D-6E8A-4147-A177-3AD203B41FA5}">
                      <a16:colId xmlns:a16="http://schemas.microsoft.com/office/drawing/2014/main" val="20004"/>
                    </a:ext>
                  </a:extLst>
                </a:gridCol>
                <a:gridCol w="75438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36042">
                <a:tc>
                  <a:txBody>
                    <a:bodyPr/>
                    <a:lstStyle/>
                    <a:p>
                      <a:pPr marL="0" indent="0">
                        <a:buNone/>
                      </a:pPr>
                      <a:r>
                        <a:rPr lang="en-US" sz="1100" b="1">
                          <a:solidFill>
                            <a:srgbClr val="FFFFFF"/>
                          </a:solidFill>
                          <a:latin typeface="Calibri" pitchFamily="34" charset="0"/>
                          <a:ea typeface="Calibri" pitchFamily="34" charset="-122"/>
                          <a:cs typeface="Calibri" pitchFamily="34" charset="-120"/>
                        </a:rPr>
                        <a:t>VARIABLE</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r">
                        <a:buNone/>
                      </a:pPr>
                      <a:r>
                        <a:rPr lang="en-US" sz="1100" b="1">
                          <a:solidFill>
                            <a:srgbClr val="FFFFFF"/>
                          </a:solidFill>
                          <a:latin typeface="Calibri" pitchFamily="34" charset="0"/>
                          <a:ea typeface="Calibri" pitchFamily="34" charset="-122"/>
                          <a:cs typeface="Calibri" pitchFamily="34" charset="-120"/>
                        </a:rPr>
                        <a:t>MEAN</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r">
                        <a:buNone/>
                      </a:pPr>
                      <a:r>
                        <a:rPr lang="en-US" sz="1100" b="1">
                          <a:solidFill>
                            <a:srgbClr val="FFFFFF"/>
                          </a:solidFill>
                          <a:latin typeface="Calibri" pitchFamily="34" charset="0"/>
                          <a:ea typeface="Calibri" pitchFamily="34" charset="-122"/>
                          <a:cs typeface="Calibri" pitchFamily="34" charset="-120"/>
                        </a:rPr>
                        <a:t>MEDIAN</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r">
                        <a:buNone/>
                      </a:pPr>
                      <a:r>
                        <a:rPr lang="en-US" sz="1100" b="1">
                          <a:solidFill>
                            <a:srgbClr val="FFFFFF"/>
                          </a:solidFill>
                          <a:latin typeface="Calibri" pitchFamily="34" charset="0"/>
                          <a:ea typeface="Calibri" pitchFamily="34" charset="-122"/>
                          <a:cs typeface="Calibri" pitchFamily="34" charset="-120"/>
                        </a:rPr>
                        <a:t>STD DEV</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r">
                        <a:buNone/>
                      </a:pPr>
                      <a:r>
                        <a:rPr lang="en-US" sz="1100" b="1">
                          <a:solidFill>
                            <a:srgbClr val="FFFFFF"/>
                          </a:solidFill>
                          <a:latin typeface="Calibri" pitchFamily="34" charset="0"/>
                          <a:ea typeface="Calibri" pitchFamily="34" charset="-122"/>
                          <a:cs typeface="Calibri" pitchFamily="34" charset="-120"/>
                        </a:rPr>
                        <a:t>CV%</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r">
                        <a:buNone/>
                      </a:pPr>
                      <a:r>
                        <a:rPr lang="en-US" sz="1100" b="1">
                          <a:solidFill>
                            <a:srgbClr val="FFFFFF"/>
                          </a:solidFill>
                          <a:latin typeface="Calibri" pitchFamily="34" charset="0"/>
                          <a:ea typeface="Calibri" pitchFamily="34" charset="-122"/>
                          <a:cs typeface="Calibri" pitchFamily="34" charset="-120"/>
                        </a:rPr>
                        <a:t>SKEW</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r">
                        <a:buNone/>
                      </a:pPr>
                      <a:r>
                        <a:rPr lang="en-US" sz="1100" b="1">
                          <a:solidFill>
                            <a:srgbClr val="FFFFFF"/>
                          </a:solidFill>
                          <a:latin typeface="Calibri" pitchFamily="34" charset="0"/>
                          <a:ea typeface="Calibri" pitchFamily="34" charset="-122"/>
                          <a:cs typeface="Calibri" pitchFamily="34" charset="-120"/>
                        </a:rPr>
                        <a:t>MEAN / MEDIAN</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336042">
                <a:tc>
                  <a:txBody>
                    <a:bodyPr/>
                    <a:lstStyle/>
                    <a:p>
                      <a:pPr marL="0" indent="0">
                        <a:buNone/>
                      </a:pPr>
                      <a:r>
                        <a:rPr lang="en-US" sz="1100" b="1">
                          <a:solidFill>
                            <a:srgbClr val="1A1A1A"/>
                          </a:solidFill>
                          <a:latin typeface="Calibri" pitchFamily="34" charset="0"/>
                          <a:ea typeface="Calibri" pitchFamily="34" charset="-122"/>
                          <a:cs typeface="Calibri" pitchFamily="34" charset="-120"/>
                        </a:rPr>
                        <a:t>Production (t)</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9,231,787</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895,489</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40,239,969</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b="1">
                          <a:solidFill>
                            <a:srgbClr val="1A1A1A"/>
                          </a:solidFill>
                          <a:latin typeface="Calibri" pitchFamily="34" charset="0"/>
                          <a:ea typeface="Calibri" pitchFamily="34" charset="-122"/>
                          <a:cs typeface="Calibri" pitchFamily="34" charset="-120"/>
                        </a:rPr>
                        <a:t>435.9%</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7.09</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10.3×</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1"/>
                  </a:ext>
                </a:extLst>
              </a:tr>
              <a:tr h="336042">
                <a:tc>
                  <a:txBody>
                    <a:bodyPr/>
                    <a:lstStyle/>
                    <a:p>
                      <a:pPr marL="0" indent="0">
                        <a:buNone/>
                      </a:pPr>
                      <a:r>
                        <a:rPr lang="en-US" sz="1100" b="1">
                          <a:solidFill>
                            <a:srgbClr val="1A1A1A"/>
                          </a:solidFill>
                          <a:latin typeface="Calibri" pitchFamily="34" charset="0"/>
                          <a:ea typeface="Calibri" pitchFamily="34" charset="-122"/>
                          <a:cs typeface="Calibri" pitchFamily="34" charset="-120"/>
                        </a:rPr>
                        <a:t>Domestic Supply (t)</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9,246,385</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1,577,500</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37,920,265</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b="1">
                          <a:solidFill>
                            <a:srgbClr val="1A1A1A"/>
                          </a:solidFill>
                          <a:latin typeface="Calibri" pitchFamily="34" charset="0"/>
                          <a:ea typeface="Calibri" pitchFamily="34" charset="-122"/>
                          <a:cs typeface="Calibri" pitchFamily="34" charset="-120"/>
                        </a:rPr>
                        <a:t>410.1%</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7.25</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5.9×</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2"/>
                  </a:ext>
                </a:extLst>
              </a:tr>
              <a:tr h="336042">
                <a:tc>
                  <a:txBody>
                    <a:bodyPr/>
                    <a:lstStyle/>
                    <a:p>
                      <a:pPr marL="0" indent="0">
                        <a:buNone/>
                      </a:pPr>
                      <a:r>
                        <a:rPr lang="en-US" sz="1100" b="1">
                          <a:solidFill>
                            <a:schemeClr val="tx1"/>
                          </a:solidFill>
                          <a:latin typeface="Calibri" pitchFamily="34" charset="0"/>
                          <a:ea typeface="Calibri" pitchFamily="34" charset="-122"/>
                          <a:cs typeface="Calibri" pitchFamily="34" charset="-120"/>
                        </a:rPr>
                        <a:t>Supply Chain Waste (t)</a:t>
                      </a:r>
                      <a:endParaRPr lang="en-US" sz="1100">
                        <a:solidFill>
                          <a:schemeClr val="tx1"/>
                        </a:solidFill>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498,295</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58,000</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2,036,857</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b="1">
                          <a:solidFill>
                            <a:srgbClr val="1A1A1A"/>
                          </a:solidFill>
                          <a:latin typeface="Calibri" pitchFamily="34" charset="0"/>
                          <a:ea typeface="Calibri" pitchFamily="34" charset="-122"/>
                          <a:cs typeface="Calibri" pitchFamily="34" charset="-120"/>
                        </a:rPr>
                        <a:t>408.8%</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6.06</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8.6×</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3"/>
                  </a:ext>
                </a:extLst>
              </a:tr>
              <a:tr h="336042">
                <a:tc>
                  <a:txBody>
                    <a:bodyPr/>
                    <a:lstStyle/>
                    <a:p>
                      <a:pPr marL="0" indent="0">
                        <a:buNone/>
                      </a:pPr>
                      <a:r>
                        <a:rPr lang="en-US" sz="1100" b="1">
                          <a:solidFill>
                            <a:srgbClr val="1A1A1A"/>
                          </a:solidFill>
                          <a:latin typeface="Calibri" pitchFamily="34" charset="0"/>
                          <a:ea typeface="Calibri" pitchFamily="34" charset="-122"/>
                          <a:cs typeface="Calibri" pitchFamily="34" charset="-120"/>
                        </a:rPr>
                        <a:t>Population</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60,525,986</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18,206,231</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182,068,686</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b="1">
                          <a:solidFill>
                            <a:srgbClr val="1A1A1A"/>
                          </a:solidFill>
                          <a:latin typeface="Calibri" pitchFamily="34" charset="0"/>
                          <a:ea typeface="Calibri" pitchFamily="34" charset="-122"/>
                          <a:cs typeface="Calibri" pitchFamily="34" charset="-120"/>
                        </a:rPr>
                        <a:t>300.8%</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6.75</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3.3×</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4"/>
                  </a:ext>
                </a:extLst>
              </a:tr>
              <a:tr h="336042">
                <a:tc>
                  <a:txBody>
                    <a:bodyPr/>
                    <a:lstStyle/>
                    <a:p>
                      <a:pPr marL="0" indent="0">
                        <a:buNone/>
                      </a:pPr>
                      <a:r>
                        <a:rPr lang="en-US" sz="1100" b="1">
                          <a:solidFill>
                            <a:srgbClr val="1A1A1A"/>
                          </a:solidFill>
                          <a:latin typeface="Calibri" pitchFamily="34" charset="0"/>
                          <a:ea typeface="Calibri" pitchFamily="34" charset="-122"/>
                          <a:cs typeface="Calibri" pitchFamily="34" charset="-120"/>
                        </a:rPr>
                        <a:t>Food (t)</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1,185,279</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265,000</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2,276,506</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b="1">
                          <a:solidFill>
                            <a:schemeClr val="accent6"/>
                          </a:solidFill>
                          <a:latin typeface="Calibri" pitchFamily="34" charset="0"/>
                          <a:ea typeface="Calibri" pitchFamily="34" charset="-122"/>
                          <a:cs typeface="Calibri" pitchFamily="34" charset="-120"/>
                        </a:rPr>
                        <a:t>192.1%</a:t>
                      </a:r>
                      <a:endParaRPr lang="en-US" sz="1100">
                        <a:solidFill>
                          <a:schemeClr val="accent6"/>
                        </a:solidFill>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3.55</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4.5×</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5"/>
                  </a:ext>
                </a:extLst>
              </a:tr>
              <a:tr h="336042">
                <a:tc>
                  <a:txBody>
                    <a:bodyPr/>
                    <a:lstStyle/>
                    <a:p>
                      <a:pPr marL="0" indent="0">
                        <a:buNone/>
                      </a:pPr>
                      <a:r>
                        <a:rPr lang="en-US" sz="1100" b="1">
                          <a:solidFill>
                            <a:srgbClr val="1A1A1A"/>
                          </a:solidFill>
                          <a:latin typeface="Calibri" pitchFamily="34" charset="0"/>
                          <a:ea typeface="Calibri" pitchFamily="34" charset="-122"/>
                          <a:cs typeface="Calibri" pitchFamily="34" charset="-120"/>
                        </a:rPr>
                        <a:t>Waste per Capita (t)</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0.00678</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0.00290</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0.01018</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b="1">
                          <a:solidFill>
                            <a:srgbClr val="7CB342"/>
                          </a:solidFill>
                          <a:latin typeface="Calibri" pitchFamily="34" charset="0"/>
                          <a:ea typeface="Calibri" pitchFamily="34" charset="-122"/>
                          <a:cs typeface="Calibri" pitchFamily="34" charset="-120"/>
                        </a:rPr>
                        <a:t>150.2%</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2.70</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2.3×</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6"/>
                  </a:ext>
                </a:extLst>
              </a:tr>
              <a:tr h="336042">
                <a:tc>
                  <a:txBody>
                    <a:bodyPr/>
                    <a:lstStyle/>
                    <a:p>
                      <a:pPr marL="0" indent="0">
                        <a:buNone/>
                      </a:pPr>
                      <a:r>
                        <a:rPr lang="en-US" sz="1100" b="1">
                          <a:solidFill>
                            <a:srgbClr val="1A1A1A"/>
                          </a:solidFill>
                          <a:latin typeface="Calibri" pitchFamily="34" charset="0"/>
                          <a:ea typeface="Calibri" pitchFamily="34" charset="-122"/>
                          <a:cs typeface="Calibri" pitchFamily="34" charset="-120"/>
                        </a:rPr>
                        <a:t>Food Supply (kg/cap/yr)</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28.74</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19.26</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29.69</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b="1">
                          <a:solidFill>
                            <a:srgbClr val="7CB342"/>
                          </a:solidFill>
                          <a:latin typeface="Calibri" pitchFamily="34" charset="0"/>
                          <a:ea typeface="Calibri" pitchFamily="34" charset="-122"/>
                          <a:cs typeface="Calibri" pitchFamily="34" charset="-120"/>
                        </a:rPr>
                        <a:t>103.3%</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1.59</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100">
                          <a:solidFill>
                            <a:srgbClr val="1A1A1A"/>
                          </a:solidFill>
                          <a:latin typeface="Calibri" pitchFamily="34" charset="0"/>
                          <a:ea typeface="Calibri" pitchFamily="34" charset="-122"/>
                          <a:cs typeface="Calibri" pitchFamily="34" charset="-120"/>
                        </a:rPr>
                        <a:t>1.5×</a:t>
                      </a:r>
                      <a:endParaRPr lang="en-US" sz="11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7"/>
                  </a:ext>
                </a:extLst>
              </a:tr>
            </a:tbl>
          </a:graphicData>
        </a:graphic>
      </p:graphicFrame>
      <p:sp>
        <p:nvSpPr>
          <p:cNvPr id="7" name="Text 4"/>
          <p:cNvSpPr/>
          <p:nvPr/>
        </p:nvSpPr>
        <p:spPr>
          <a:xfrm>
            <a:off x="411480" y="4491990"/>
            <a:ext cx="8298180" cy="274320"/>
          </a:xfrm>
          <a:prstGeom prst="rect">
            <a:avLst/>
          </a:prstGeom>
          <a:noFill/>
          <a:ln/>
        </p:spPr>
        <p:txBody>
          <a:bodyPr wrap="square" lIns="0" tIns="0" rIns="0" bIns="0" rtlCol="0" anchor="ctr"/>
          <a:lstStyle/>
          <a:p>
            <a:r>
              <a:rPr lang="en-US" sz="750" i="1">
                <a:solidFill>
                  <a:srgbClr val="5C5C5C"/>
                </a:solidFill>
                <a:latin typeface="Calibri" pitchFamily="34" charset="0"/>
                <a:ea typeface="Calibri" pitchFamily="34" charset="-122"/>
                <a:cs typeface="Calibri" pitchFamily="34" charset="-120"/>
              </a:rPr>
              <a:t>All n = 122  ·  Variables sorted by descending CV  ·  Green CV = per-capita (structural) variance survives normalization</a:t>
            </a:r>
            <a:endParaRPr lang="en-US" sz="7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7416676"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3  —  ANALYZE  —  1 OF 3</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Variable Variances</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572500" cy="377190"/>
          </a:xfrm>
          <a:prstGeom prst="rect">
            <a:avLst/>
          </a:prstGeom>
          <a:noFill/>
          <a:ln/>
        </p:spPr>
        <p:txBody>
          <a:bodyPr wrap="square" lIns="0" tIns="0" rIns="0" bIns="0" rtlCol="0" anchor="ctr"/>
          <a:lstStyle/>
          <a:p>
            <a:endParaRPr lang="en-US" sz="1200"/>
          </a:p>
        </p:txBody>
      </p:sp>
      <p:graphicFrame>
        <p:nvGraphicFramePr>
          <p:cNvPr id="6" name="Chart 0"/>
          <p:cNvGraphicFramePr/>
          <p:nvPr/>
        </p:nvGraphicFramePr>
        <p:xfrm>
          <a:off x="411480" y="1474470"/>
          <a:ext cx="56235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172200" y="1474470"/>
            <a:ext cx="2537460" cy="3017520"/>
          </a:xfrm>
          <a:prstGeom prst="rect">
            <a:avLst/>
          </a:prstGeom>
          <a:solidFill>
            <a:srgbClr val="FFFFFF"/>
          </a:solidFill>
          <a:ln w="12700">
            <a:solidFill>
              <a:srgbClr val="7CB342"/>
            </a:solidFill>
            <a:prstDash val="solid"/>
          </a:ln>
        </p:spPr>
        <p:txBody>
          <a:bodyPr/>
          <a:lstStyle/>
          <a:p>
            <a:endParaRPr lang="en-US" sz="1350"/>
          </a:p>
        </p:txBody>
      </p:sp>
      <p:sp>
        <p:nvSpPr>
          <p:cNvPr id="8" name="Text 5"/>
          <p:cNvSpPr/>
          <p:nvPr/>
        </p:nvSpPr>
        <p:spPr>
          <a:xfrm>
            <a:off x="6309360" y="1611630"/>
            <a:ext cx="2331720" cy="20574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WHAT IT SHOWS</a:t>
            </a:r>
            <a:endParaRPr lang="en-US" sz="1400"/>
          </a:p>
        </p:txBody>
      </p:sp>
      <p:sp>
        <p:nvSpPr>
          <p:cNvPr id="9" name="Text 6"/>
          <p:cNvSpPr/>
          <p:nvPr/>
        </p:nvSpPr>
        <p:spPr>
          <a:xfrm>
            <a:off x="6309360" y="1988820"/>
            <a:ext cx="2331720" cy="1988820"/>
          </a:xfrm>
          <a:prstGeom prst="rect">
            <a:avLst/>
          </a:prstGeom>
          <a:noFill/>
          <a:ln/>
        </p:spPr>
        <p:txBody>
          <a:bodyPr wrap="square" lIns="0" tIns="0" rIns="0" bIns="0" rtlCol="0" anchor="ctr"/>
          <a:lstStyle/>
          <a:p>
            <a:pPr marL="257175" indent="-257175">
              <a:spcAft>
                <a:spcPts val="300"/>
              </a:spcAft>
              <a:buSzPct val="100000"/>
              <a:buChar char="■"/>
            </a:pPr>
            <a:r>
              <a:rPr lang="en-US" sz="1200" b="1">
                <a:solidFill>
                  <a:srgbClr val="1A1A1A"/>
                </a:solidFill>
                <a:latin typeface="Calibri" pitchFamily="34" charset="0"/>
                <a:ea typeface="Calibri" pitchFamily="34" charset="-122"/>
                <a:cs typeface="Calibri" pitchFamily="34" charset="-120"/>
              </a:rPr>
              <a:t>Absolute vars: CV 300–436%</a:t>
            </a:r>
            <a:endParaRPr lang="en-US" sz="1200"/>
          </a:p>
          <a:p>
            <a:pPr>
              <a:spcAft>
                <a:spcPts val="300"/>
              </a:spcAft>
            </a:pPr>
            <a:endParaRPr lang="en-US" sz="1200"/>
          </a:p>
          <a:p>
            <a:pPr marL="257175" indent="-257175">
              <a:spcAft>
                <a:spcPts val="300"/>
              </a:spcAft>
              <a:buSzPct val="100000"/>
              <a:buChar char="■"/>
            </a:pPr>
            <a:r>
              <a:rPr lang="en-US" sz="1200" b="1">
                <a:solidFill>
                  <a:srgbClr val="1A1A1A"/>
                </a:solidFill>
                <a:latin typeface="Calibri" pitchFamily="34" charset="0"/>
                <a:ea typeface="Calibri" pitchFamily="34" charset="-122"/>
                <a:cs typeface="Calibri" pitchFamily="34" charset="-120"/>
              </a:rPr>
              <a:t>Per-capita vars: CV 103–150%</a:t>
            </a:r>
          </a:p>
          <a:p>
            <a:pPr marL="257175" indent="-257175">
              <a:spcAft>
                <a:spcPts val="300"/>
              </a:spcAft>
              <a:buSzPct val="100000"/>
              <a:buChar char="■"/>
            </a:pPr>
            <a:endParaRPr lang="en-US" sz="1200" b="1">
              <a:solidFill>
                <a:srgbClr val="1A1A1A"/>
              </a:solidFill>
              <a:latin typeface="Calibri" pitchFamily="34" charset="0"/>
              <a:cs typeface="Calibri" pitchFamily="34" charset="-120"/>
            </a:endParaRPr>
          </a:p>
          <a:p>
            <a:pPr marL="257175" indent="-257175">
              <a:spcAft>
                <a:spcPts val="300"/>
              </a:spcAft>
              <a:buSzPct val="100000"/>
              <a:buChar char="■"/>
            </a:pPr>
            <a:r>
              <a:rPr lang="en-US" sz="1200" b="1"/>
              <a:t>Lowest variance:</a:t>
            </a:r>
            <a:r>
              <a:rPr lang="en-US" sz="1200"/>
              <a:t> Food Supply / capita</a:t>
            </a:r>
          </a:p>
        </p:txBody>
      </p:sp>
      <p:sp>
        <p:nvSpPr>
          <p:cNvPr id="10" name="Text 7"/>
          <p:cNvSpPr/>
          <p:nvPr/>
        </p:nvSpPr>
        <p:spPr>
          <a:xfrm>
            <a:off x="411480" y="4629150"/>
            <a:ext cx="8229600" cy="240030"/>
          </a:xfrm>
          <a:prstGeom prst="rect">
            <a:avLst/>
          </a:prstGeom>
          <a:noFill/>
          <a:ln/>
        </p:spPr>
        <p:txBody>
          <a:bodyPr wrap="square" lIns="0" tIns="0" rIns="0" bIns="0" rtlCol="0" anchor="ctr"/>
          <a:lstStyle/>
          <a:p>
            <a:r>
              <a:rPr lang="en-US" sz="675" i="1">
                <a:solidFill>
                  <a:srgbClr val="5C5C5C"/>
                </a:solidFill>
                <a:latin typeface="Calibri" pitchFamily="34" charset="0"/>
                <a:ea typeface="Calibri" pitchFamily="34" charset="-122"/>
                <a:cs typeface="Calibri" pitchFamily="34" charset="-120"/>
              </a:rPr>
              <a:t>Source: FAO 2019 dataset, 122 sovereign countries. CV = </a:t>
            </a:r>
            <a:r>
              <a:rPr lang="en-US" sz="675" i="1" err="1">
                <a:solidFill>
                  <a:srgbClr val="5C5C5C"/>
                </a:solidFill>
                <a:latin typeface="Calibri" pitchFamily="34" charset="0"/>
                <a:ea typeface="Calibri" pitchFamily="34" charset="-122"/>
                <a:cs typeface="Calibri" pitchFamily="34" charset="-120"/>
              </a:rPr>
              <a:t>σ</a:t>
            </a:r>
            <a:r>
              <a:rPr lang="en-US" sz="675" i="1">
                <a:solidFill>
                  <a:srgbClr val="5C5C5C"/>
                </a:solidFill>
                <a:latin typeface="Calibri" pitchFamily="34" charset="0"/>
                <a:ea typeface="Calibri" pitchFamily="34" charset="-122"/>
                <a:cs typeface="Calibri" pitchFamily="34" charset="-120"/>
              </a:rPr>
              <a:t> ÷ </a:t>
            </a:r>
            <a:r>
              <a:rPr lang="en-US" sz="675" i="1" err="1">
                <a:solidFill>
                  <a:srgbClr val="5C5C5C"/>
                </a:solidFill>
                <a:latin typeface="Calibri" pitchFamily="34" charset="0"/>
                <a:ea typeface="Calibri" pitchFamily="34" charset="-122"/>
                <a:cs typeface="Calibri" pitchFamily="34" charset="-120"/>
              </a:rPr>
              <a:t>μ</a:t>
            </a:r>
            <a:r>
              <a:rPr lang="en-US" sz="675" i="1">
                <a:solidFill>
                  <a:srgbClr val="5C5C5C"/>
                </a:solidFill>
                <a:latin typeface="Calibri" pitchFamily="34" charset="0"/>
                <a:ea typeface="Calibri" pitchFamily="34" charset="-122"/>
                <a:cs typeface="Calibri" pitchFamily="34" charset="-120"/>
              </a:rPr>
              <a:t> × 100. Threshold: &gt; 100% = Very High variance.</a:t>
            </a:r>
            <a:endParaRPr lang="en-US" sz="6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3  —  ANALYZE  —  2 OF 3</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Country Variances</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572500" cy="308610"/>
          </a:xfrm>
          <a:prstGeom prst="rect">
            <a:avLst/>
          </a:prstGeom>
          <a:noFill/>
          <a:ln/>
        </p:spPr>
        <p:txBody>
          <a:bodyPr wrap="square" lIns="0" tIns="0" rIns="0" bIns="0" rtlCol="0" anchor="ctr"/>
          <a:lstStyle/>
          <a:p>
            <a:endParaRPr lang="en-US" sz="975"/>
          </a:p>
        </p:txBody>
      </p:sp>
      <p:graphicFrame>
        <p:nvGraphicFramePr>
          <p:cNvPr id="6" name="Chart 0"/>
          <p:cNvGraphicFramePr/>
          <p:nvPr/>
        </p:nvGraphicFramePr>
        <p:xfrm>
          <a:off x="411480" y="1474470"/>
          <a:ext cx="56235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172200" y="1474469"/>
            <a:ext cx="2537460" cy="3017519"/>
          </a:xfrm>
          <a:prstGeom prst="rect">
            <a:avLst/>
          </a:prstGeom>
          <a:solidFill>
            <a:srgbClr val="FFFFFF"/>
          </a:solidFill>
          <a:ln w="12700">
            <a:solidFill>
              <a:srgbClr val="7CB342"/>
            </a:solidFill>
            <a:prstDash val="solid"/>
          </a:ln>
        </p:spPr>
        <p:txBody>
          <a:bodyPr/>
          <a:lstStyle/>
          <a:p>
            <a:endParaRPr lang="en-US" sz="1350"/>
          </a:p>
        </p:txBody>
      </p:sp>
      <p:sp>
        <p:nvSpPr>
          <p:cNvPr id="8" name="Text 5"/>
          <p:cNvSpPr/>
          <p:nvPr/>
        </p:nvSpPr>
        <p:spPr>
          <a:xfrm>
            <a:off x="6309360" y="1577340"/>
            <a:ext cx="2263140" cy="205740"/>
          </a:xfrm>
          <a:prstGeom prst="rect">
            <a:avLst/>
          </a:prstGeom>
          <a:noFill/>
          <a:ln/>
        </p:spPr>
        <p:txBody>
          <a:bodyPr wrap="square" lIns="0" tIns="0" rIns="0" bIns="0" rtlCol="0" anchor="ctr"/>
          <a:lstStyle/>
          <a:p>
            <a:r>
              <a:rPr lang="en-US" sz="750" b="1" kern="0" spc="300">
                <a:solidFill>
                  <a:srgbClr val="7CB342"/>
                </a:solidFill>
                <a:latin typeface="Calibri" pitchFamily="34" charset="0"/>
                <a:ea typeface="Calibri" pitchFamily="34" charset="-122"/>
                <a:cs typeface="Calibri" pitchFamily="34" charset="-120"/>
              </a:rPr>
              <a:t>TOP 3</a:t>
            </a:r>
            <a:endParaRPr lang="en-US" sz="750"/>
          </a:p>
        </p:txBody>
      </p:sp>
      <p:sp>
        <p:nvSpPr>
          <p:cNvPr id="9" name="Text 6"/>
          <p:cNvSpPr/>
          <p:nvPr/>
        </p:nvSpPr>
        <p:spPr>
          <a:xfrm>
            <a:off x="6309360" y="1748790"/>
            <a:ext cx="2263140" cy="617220"/>
          </a:xfrm>
          <a:prstGeom prst="rect">
            <a:avLst/>
          </a:prstGeom>
          <a:noFill/>
          <a:ln/>
        </p:spPr>
        <p:txBody>
          <a:bodyPr wrap="square" lIns="0" tIns="0" rIns="0" bIns="0" rtlCol="0" anchor="ctr"/>
          <a:lstStyle/>
          <a:p>
            <a:r>
              <a:rPr lang="en-US" sz="3150" b="1">
                <a:solidFill>
                  <a:srgbClr val="1A1A1A"/>
                </a:solidFill>
                <a:latin typeface="Georgia" pitchFamily="34" charset="0"/>
                <a:ea typeface="Georgia" pitchFamily="34" charset="-122"/>
                <a:cs typeface="Georgia" pitchFamily="34" charset="-120"/>
              </a:rPr>
              <a:t>62.5%</a:t>
            </a:r>
            <a:endParaRPr lang="en-US" sz="3150"/>
          </a:p>
        </p:txBody>
      </p:sp>
      <p:sp>
        <p:nvSpPr>
          <p:cNvPr id="10" name="Text 7"/>
          <p:cNvSpPr/>
          <p:nvPr/>
        </p:nvSpPr>
        <p:spPr>
          <a:xfrm>
            <a:off x="6309360" y="2434590"/>
            <a:ext cx="2263140" cy="411480"/>
          </a:xfrm>
          <a:prstGeom prst="rect">
            <a:avLst/>
          </a:prstGeom>
          <a:noFill/>
          <a:ln/>
        </p:spPr>
        <p:txBody>
          <a:bodyPr wrap="square" lIns="0" tIns="0" rIns="0" bIns="0" rtlCol="0" anchor="ctr"/>
          <a:lstStyle/>
          <a:p>
            <a:endParaRPr lang="en-US" sz="825">
              <a:solidFill>
                <a:srgbClr val="5C5C5C"/>
              </a:solidFill>
              <a:latin typeface="Calibri" pitchFamily="34" charset="0"/>
              <a:ea typeface="Calibri" pitchFamily="34" charset="-122"/>
              <a:cs typeface="Calibri" pitchFamily="34" charset="-120"/>
            </a:endParaRPr>
          </a:p>
        </p:txBody>
      </p:sp>
      <p:sp>
        <p:nvSpPr>
          <p:cNvPr id="15" name="Text 12"/>
          <p:cNvSpPr/>
          <p:nvPr/>
        </p:nvSpPr>
        <p:spPr>
          <a:xfrm>
            <a:off x="411480" y="4629150"/>
            <a:ext cx="8229600" cy="274320"/>
          </a:xfrm>
          <a:prstGeom prst="rect">
            <a:avLst/>
          </a:prstGeom>
          <a:noFill/>
          <a:ln/>
        </p:spPr>
        <p:txBody>
          <a:bodyPr wrap="square" lIns="0" tIns="0" rIns="0" bIns="0" rtlCol="0" anchor="ctr"/>
          <a:lstStyle/>
          <a:p>
            <a:endParaRPr lang="en-US" sz="825"/>
          </a:p>
        </p:txBody>
      </p:sp>
      <p:sp>
        <p:nvSpPr>
          <p:cNvPr id="17" name="TextBox 16">
            <a:extLst>
              <a:ext uri="{FF2B5EF4-FFF2-40B4-BE49-F238E27FC236}">
                <a16:creationId xmlns:a16="http://schemas.microsoft.com/office/drawing/2014/main" id="{23423025-E994-C0BB-7E78-A88AE3BE725D}"/>
              </a:ext>
            </a:extLst>
          </p:cNvPr>
          <p:cNvSpPr txBox="1"/>
          <p:nvPr/>
        </p:nvSpPr>
        <p:spPr>
          <a:xfrm>
            <a:off x="2286000" y="2388851"/>
            <a:ext cx="4572000" cy="369332"/>
          </a:xfrm>
          <a:prstGeom prst="rect">
            <a:avLst/>
          </a:prstGeom>
          <a:noFill/>
        </p:spPr>
        <p:txBody>
          <a:bodyPr wrap="square">
            <a:spAutoFit/>
          </a:bodyPr>
          <a:lstStyle/>
          <a:p>
            <a:r>
              <a:rPr lang="en-US"/>
              <a:t> </a:t>
            </a:r>
            <a:r>
              <a:rPr lang="en-US" b="0">
                <a:effectLst/>
              </a:rPr>
              <a:t> </a:t>
            </a:r>
            <a:endParaRPr lang="en-US"/>
          </a:p>
        </p:txBody>
      </p:sp>
      <p:sp>
        <p:nvSpPr>
          <p:cNvPr id="19" name="TextBox 18">
            <a:extLst>
              <a:ext uri="{FF2B5EF4-FFF2-40B4-BE49-F238E27FC236}">
                <a16:creationId xmlns:a16="http://schemas.microsoft.com/office/drawing/2014/main" id="{546FF4FE-5E4B-8482-2F9A-31E73DB5EA59}"/>
              </a:ext>
            </a:extLst>
          </p:cNvPr>
          <p:cNvSpPr txBox="1"/>
          <p:nvPr/>
        </p:nvSpPr>
        <p:spPr>
          <a:xfrm>
            <a:off x="6220239" y="2285981"/>
            <a:ext cx="4572000" cy="892552"/>
          </a:xfrm>
          <a:prstGeom prst="rect">
            <a:avLst/>
          </a:prstGeom>
          <a:noFill/>
        </p:spPr>
        <p:txBody>
          <a:bodyPr wrap="square">
            <a:spAutoFit/>
          </a:bodyPr>
          <a:lstStyle/>
          <a:p>
            <a:r>
              <a:rPr lang="en-US" sz="1600" i="1"/>
              <a:t>of global SC waste</a:t>
            </a:r>
            <a:endParaRPr lang="en-US" sz="1600"/>
          </a:p>
          <a:p>
            <a:br>
              <a:rPr lang="en-US"/>
            </a:br>
            <a:endParaRPr lang="en-US"/>
          </a:p>
        </p:txBody>
      </p:sp>
      <p:sp>
        <p:nvSpPr>
          <p:cNvPr id="21" name="TextBox 20">
            <a:extLst>
              <a:ext uri="{FF2B5EF4-FFF2-40B4-BE49-F238E27FC236}">
                <a16:creationId xmlns:a16="http://schemas.microsoft.com/office/drawing/2014/main" id="{1EB9608B-D55F-F258-F5C2-8B2F9EB76661}"/>
              </a:ext>
            </a:extLst>
          </p:cNvPr>
          <p:cNvSpPr txBox="1"/>
          <p:nvPr/>
        </p:nvSpPr>
        <p:spPr>
          <a:xfrm>
            <a:off x="6309360" y="2914650"/>
            <a:ext cx="2263140" cy="1815882"/>
          </a:xfrm>
          <a:prstGeom prst="rect">
            <a:avLst/>
          </a:prstGeom>
          <a:noFill/>
        </p:spPr>
        <p:txBody>
          <a:bodyPr wrap="square">
            <a:spAutoFit/>
          </a:bodyPr>
          <a:lstStyle/>
          <a:p>
            <a:r>
              <a:rPr lang="en-US" sz="1600"/>
              <a:t>US:  </a:t>
            </a:r>
            <a:r>
              <a:rPr lang="en-US" sz="1600" b="1">
                <a:solidFill>
                  <a:schemeClr val="accent6"/>
                </a:solidFill>
              </a:rPr>
              <a:t>15.80M t</a:t>
            </a:r>
            <a:endParaRPr lang="en-US" sz="1600">
              <a:solidFill>
                <a:schemeClr val="accent6"/>
              </a:solidFill>
            </a:endParaRPr>
          </a:p>
          <a:p>
            <a:r>
              <a:rPr lang="en-US" sz="1600"/>
              <a:t>China:  </a:t>
            </a:r>
            <a:r>
              <a:rPr lang="en-US" sz="1600" b="1">
                <a:solidFill>
                  <a:schemeClr val="accent6"/>
                </a:solidFill>
              </a:rPr>
              <a:t>11.94M t</a:t>
            </a:r>
            <a:endParaRPr lang="en-US" sz="1600">
              <a:solidFill>
                <a:schemeClr val="accent6"/>
              </a:solidFill>
            </a:endParaRPr>
          </a:p>
          <a:p>
            <a:r>
              <a:rPr lang="en-US" sz="1600"/>
              <a:t>Brazil:  </a:t>
            </a:r>
            <a:r>
              <a:rPr lang="en-US" sz="1600" b="1">
                <a:solidFill>
                  <a:schemeClr val="accent6"/>
                </a:solidFill>
              </a:rPr>
              <a:t>10.26M t</a:t>
            </a:r>
            <a:endParaRPr lang="en-US" sz="1600">
              <a:solidFill>
                <a:schemeClr val="accent6"/>
              </a:solidFill>
            </a:endParaRPr>
          </a:p>
          <a:p>
            <a:r>
              <a:rPr lang="en-US" sz="1600"/>
              <a:t> </a:t>
            </a:r>
          </a:p>
          <a:p>
            <a:r>
              <a:rPr lang="en-US" sz="1600">
                <a:solidFill>
                  <a:schemeClr val="accent6"/>
                </a:solidFill>
              </a:rPr>
              <a:t>Total: </a:t>
            </a:r>
            <a:r>
              <a:rPr lang="en-US" sz="1600" b="1">
                <a:solidFill>
                  <a:schemeClr val="accent6"/>
                </a:solidFill>
              </a:rPr>
              <a:t>37.99M t</a:t>
            </a:r>
            <a:endParaRPr lang="en-US" sz="1600">
              <a:solidFill>
                <a:schemeClr val="accent6"/>
              </a:solidFill>
            </a:endParaRPr>
          </a:p>
          <a:p>
            <a:br>
              <a:rPr lang="en-US" sz="1600">
                <a:solidFill>
                  <a:schemeClr val="accent6"/>
                </a:solidFill>
              </a:rPr>
            </a:br>
            <a:endParaRPr lang="en-US" sz="1600">
              <a:solidFill>
                <a:schemeClr val="accent6"/>
              </a:solidFill>
            </a:endParaRPr>
          </a:p>
        </p:txBody>
      </p:sp>
      <p:sp>
        <p:nvSpPr>
          <p:cNvPr id="23" name="TextBox 22">
            <a:extLst>
              <a:ext uri="{FF2B5EF4-FFF2-40B4-BE49-F238E27FC236}">
                <a16:creationId xmlns:a16="http://schemas.microsoft.com/office/drawing/2014/main" id="{B98606DF-2ED4-B371-20C2-F3FC9CDD4911}"/>
              </a:ext>
            </a:extLst>
          </p:cNvPr>
          <p:cNvSpPr txBox="1"/>
          <p:nvPr/>
        </p:nvSpPr>
        <p:spPr>
          <a:xfrm>
            <a:off x="2668537" y="1916649"/>
            <a:ext cx="5429838" cy="369332"/>
          </a:xfrm>
          <a:prstGeom prst="rect">
            <a:avLst/>
          </a:prstGeom>
          <a:noFill/>
        </p:spPr>
        <p:txBody>
          <a:bodyPr wrap="square">
            <a:spAutoFit/>
          </a:bodyPr>
          <a:lstStyle/>
          <a:p>
            <a:r>
              <a:rPr lang="en-US" b="0">
                <a:effectLst/>
              </a:rPr>
              <a:t> </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3  —  ANALYZE  —  3 OF 3</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Interpretation</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229600" cy="274320"/>
          </a:xfrm>
          <a:prstGeom prst="rect">
            <a:avLst/>
          </a:prstGeom>
          <a:noFill/>
          <a:ln/>
        </p:spPr>
        <p:txBody>
          <a:bodyPr wrap="square" lIns="0" tIns="0" rIns="0" bIns="0" rtlCol="0" anchor="ctr"/>
          <a:lstStyle/>
          <a:p>
            <a:endParaRPr lang="en-US" sz="1200"/>
          </a:p>
        </p:txBody>
      </p:sp>
      <p:sp>
        <p:nvSpPr>
          <p:cNvPr id="6" name="Shape 4"/>
          <p:cNvSpPr/>
          <p:nvPr/>
        </p:nvSpPr>
        <p:spPr>
          <a:xfrm>
            <a:off x="3587039" y="1331244"/>
            <a:ext cx="2871455" cy="3591275"/>
          </a:xfrm>
          <a:prstGeom prst="rect">
            <a:avLst/>
          </a:prstGeom>
          <a:solidFill>
            <a:srgbClr val="B5D49A"/>
          </a:solidFill>
          <a:ln w="12700">
            <a:solidFill>
              <a:srgbClr val="7CB342"/>
            </a:solidFill>
            <a:prstDash val="solid"/>
          </a:ln>
        </p:spPr>
        <p:txBody>
          <a:bodyPr/>
          <a:lstStyle/>
          <a:p>
            <a:endParaRPr lang="en-US" sz="1350"/>
          </a:p>
        </p:txBody>
      </p:sp>
      <p:sp>
        <p:nvSpPr>
          <p:cNvPr id="7" name="Text 5"/>
          <p:cNvSpPr/>
          <p:nvPr/>
        </p:nvSpPr>
        <p:spPr>
          <a:xfrm>
            <a:off x="3802380" y="1405890"/>
            <a:ext cx="7818120" cy="1131570"/>
          </a:xfrm>
          <a:prstGeom prst="rect">
            <a:avLst/>
          </a:prstGeom>
          <a:noFill/>
          <a:ln/>
        </p:spPr>
        <p:txBody>
          <a:bodyPr wrap="square" lIns="0" tIns="0" rIns="0" bIns="0" rtlCol="0" anchor="ctr"/>
          <a:lstStyle/>
          <a:p>
            <a:pPr marL="257175" indent="-257175">
              <a:spcAft>
                <a:spcPts val="300"/>
              </a:spcAft>
              <a:buSzPct val="100000"/>
              <a:buChar char="■"/>
            </a:pPr>
            <a:r>
              <a:rPr lang="en-US" sz="1200" b="1">
                <a:solidFill>
                  <a:srgbClr val="1A1A1A"/>
                </a:solidFill>
                <a:latin typeface="Calibri" pitchFamily="34" charset="0"/>
                <a:ea typeface="Calibri" pitchFamily="34" charset="-122"/>
                <a:cs typeface="Calibri" pitchFamily="34" charset="-120"/>
              </a:rPr>
              <a:t>Every variable shows CV &gt; 100% </a:t>
            </a:r>
          </a:p>
          <a:p>
            <a:pPr marL="257175" indent="-257175">
              <a:spcAft>
                <a:spcPts val="300"/>
              </a:spcAft>
              <a:buSzPct val="100000"/>
              <a:buChar char="■"/>
            </a:pPr>
            <a:r>
              <a:rPr lang="en-US" sz="1200" b="1">
                <a:solidFill>
                  <a:srgbClr val="1A1A1A"/>
                </a:solidFill>
                <a:latin typeface="Calibri" pitchFamily="34" charset="0"/>
                <a:cs typeface="Calibri" pitchFamily="34" charset="-120"/>
              </a:rPr>
              <a:t>High variation between countries</a:t>
            </a:r>
          </a:p>
          <a:p>
            <a:pPr>
              <a:spcAft>
                <a:spcPts val="300"/>
              </a:spcAft>
              <a:buSzPct val="100000"/>
            </a:pPr>
            <a:r>
              <a:rPr lang="en-US" sz="1200" b="1">
                <a:solidFill>
                  <a:srgbClr val="1A1A1A"/>
                </a:solidFill>
                <a:latin typeface="Calibri" pitchFamily="34" charset="0"/>
                <a:cs typeface="Calibri" pitchFamily="34" charset="-120"/>
              </a:rPr>
              <a:t>    (varying populations)  </a:t>
            </a:r>
          </a:p>
        </p:txBody>
      </p:sp>
      <p:sp>
        <p:nvSpPr>
          <p:cNvPr id="13" name="Shape 11"/>
          <p:cNvSpPr/>
          <p:nvPr/>
        </p:nvSpPr>
        <p:spPr>
          <a:xfrm>
            <a:off x="411480" y="1339268"/>
            <a:ext cx="2743200" cy="754380"/>
          </a:xfrm>
          <a:prstGeom prst="rect">
            <a:avLst/>
          </a:prstGeom>
          <a:solidFill>
            <a:srgbClr val="7CB342"/>
          </a:solidFill>
          <a:ln w="12700">
            <a:solidFill>
              <a:srgbClr val="7CB342"/>
            </a:solidFill>
            <a:prstDash val="solid"/>
          </a:ln>
        </p:spPr>
        <p:txBody>
          <a:bodyPr/>
          <a:lstStyle/>
          <a:p>
            <a:endParaRPr lang="en-US" sz="1350"/>
          </a:p>
        </p:txBody>
      </p:sp>
      <p:sp>
        <p:nvSpPr>
          <p:cNvPr id="15" name="Shape 13"/>
          <p:cNvSpPr/>
          <p:nvPr/>
        </p:nvSpPr>
        <p:spPr>
          <a:xfrm>
            <a:off x="411480" y="1470900"/>
            <a:ext cx="2743200" cy="2201699"/>
          </a:xfrm>
          <a:prstGeom prst="rect">
            <a:avLst/>
          </a:prstGeom>
          <a:solidFill>
            <a:srgbClr val="FFFFFF"/>
          </a:solidFill>
          <a:ln w="12700">
            <a:solidFill>
              <a:srgbClr val="7CB342"/>
            </a:solidFill>
            <a:prstDash val="solid"/>
          </a:ln>
        </p:spPr>
        <p:txBody>
          <a:bodyPr/>
          <a:lstStyle/>
          <a:p>
            <a:endParaRPr lang="en-US" sz="1350"/>
          </a:p>
        </p:txBody>
      </p:sp>
      <p:sp>
        <p:nvSpPr>
          <p:cNvPr id="16" name="Text 14"/>
          <p:cNvSpPr/>
          <p:nvPr/>
        </p:nvSpPr>
        <p:spPr>
          <a:xfrm>
            <a:off x="625792" y="1999212"/>
            <a:ext cx="2314575" cy="707070"/>
          </a:xfrm>
          <a:prstGeom prst="rect">
            <a:avLst/>
          </a:prstGeom>
          <a:noFill/>
          <a:ln/>
        </p:spPr>
        <p:txBody>
          <a:bodyPr wrap="square" lIns="0" tIns="0" rIns="0" bIns="0" rtlCol="0" anchor="ctr"/>
          <a:lstStyle/>
          <a:p>
            <a:pPr algn="ctr"/>
            <a:r>
              <a:rPr lang="en-US" sz="1400" b="1"/>
              <a:t>High concentration of SC Waste</a:t>
            </a:r>
          </a:p>
        </p:txBody>
      </p:sp>
      <p:sp>
        <p:nvSpPr>
          <p:cNvPr id="17" name="Text 15"/>
          <p:cNvSpPr/>
          <p:nvPr/>
        </p:nvSpPr>
        <p:spPr>
          <a:xfrm>
            <a:off x="897949" y="3241383"/>
            <a:ext cx="1770260" cy="1343434"/>
          </a:xfrm>
          <a:prstGeom prst="rect">
            <a:avLst/>
          </a:prstGeom>
          <a:noFill/>
          <a:ln/>
        </p:spPr>
        <p:txBody>
          <a:bodyPr wrap="square" lIns="0" tIns="0" rIns="0" bIns="0" rtlCol="0" anchor="t"/>
          <a:lstStyle/>
          <a:p>
            <a:pPr algn="ctr"/>
            <a:r>
              <a:rPr lang="en-US" sz="1200">
                <a:solidFill>
                  <a:schemeClr val="accent6"/>
                </a:solidFill>
                <a:latin typeface="Calibri" pitchFamily="34" charset="0"/>
                <a:ea typeface="Calibri" pitchFamily="34" charset="-122"/>
                <a:cs typeface="Calibri" pitchFamily="34" charset="-120"/>
              </a:rPr>
              <a:t>US – China – Brazil</a:t>
            </a:r>
            <a:endParaRPr lang="en-US" sz="1200">
              <a:solidFill>
                <a:schemeClr val="accent6"/>
              </a:solidFill>
            </a:endParaRPr>
          </a:p>
        </p:txBody>
      </p:sp>
      <p:pic>
        <p:nvPicPr>
          <p:cNvPr id="8" name="Picture 7">
            <a:extLst>
              <a:ext uri="{FF2B5EF4-FFF2-40B4-BE49-F238E27FC236}">
                <a16:creationId xmlns:a16="http://schemas.microsoft.com/office/drawing/2014/main" id="{1BE3CD30-7155-D8F3-4F69-DF9D77B74AB2}"/>
              </a:ext>
            </a:extLst>
          </p:cNvPr>
          <p:cNvPicPr>
            <a:picLocks noChangeAspect="1"/>
          </p:cNvPicPr>
          <p:nvPr/>
        </p:nvPicPr>
        <p:blipFill>
          <a:blip r:embed="rId3"/>
          <a:stretch>
            <a:fillRect/>
          </a:stretch>
        </p:blipFill>
        <p:spPr>
          <a:xfrm>
            <a:off x="6762601" y="246095"/>
            <a:ext cx="2182585" cy="1309551"/>
          </a:xfrm>
          <a:prstGeom prst="rect">
            <a:avLst/>
          </a:prstGeom>
        </p:spPr>
      </p:pic>
      <p:pic>
        <p:nvPicPr>
          <p:cNvPr id="9" name="Picture 8">
            <a:extLst>
              <a:ext uri="{FF2B5EF4-FFF2-40B4-BE49-F238E27FC236}">
                <a16:creationId xmlns:a16="http://schemas.microsoft.com/office/drawing/2014/main" id="{901A2631-C6A7-9D8B-0F56-79F389F5D97C}"/>
              </a:ext>
            </a:extLst>
          </p:cNvPr>
          <p:cNvPicPr>
            <a:picLocks noChangeAspect="1"/>
          </p:cNvPicPr>
          <p:nvPr/>
        </p:nvPicPr>
        <p:blipFill>
          <a:blip r:embed="rId4"/>
          <a:stretch>
            <a:fillRect/>
          </a:stretch>
        </p:blipFill>
        <p:spPr>
          <a:xfrm>
            <a:off x="6762600" y="3519274"/>
            <a:ext cx="2182585" cy="1449746"/>
          </a:xfrm>
          <a:prstGeom prst="rect">
            <a:avLst/>
          </a:prstGeom>
        </p:spPr>
      </p:pic>
      <p:pic>
        <p:nvPicPr>
          <p:cNvPr id="11" name="Picture 10">
            <a:extLst>
              <a:ext uri="{FF2B5EF4-FFF2-40B4-BE49-F238E27FC236}">
                <a16:creationId xmlns:a16="http://schemas.microsoft.com/office/drawing/2014/main" id="{A50D56AF-4D39-54DF-2ECF-91305FE1039B}"/>
              </a:ext>
            </a:extLst>
          </p:cNvPr>
          <p:cNvPicPr>
            <a:picLocks noChangeAspect="1"/>
          </p:cNvPicPr>
          <p:nvPr/>
        </p:nvPicPr>
        <p:blipFill>
          <a:blip r:embed="rId5"/>
          <a:stretch>
            <a:fillRect/>
          </a:stretch>
        </p:blipFill>
        <p:spPr>
          <a:xfrm>
            <a:off x="6762601" y="1773555"/>
            <a:ext cx="2182585" cy="1527810"/>
          </a:xfrm>
          <a:prstGeom prst="rect">
            <a:avLst/>
          </a:prstGeom>
        </p:spPr>
      </p:pic>
      <p:sp>
        <p:nvSpPr>
          <p:cNvPr id="14" name="Text 12"/>
          <p:cNvSpPr/>
          <p:nvPr/>
        </p:nvSpPr>
        <p:spPr>
          <a:xfrm>
            <a:off x="548640" y="1539480"/>
            <a:ext cx="2468880" cy="685800"/>
          </a:xfrm>
          <a:prstGeom prst="rect">
            <a:avLst/>
          </a:prstGeom>
          <a:noFill/>
          <a:ln/>
        </p:spPr>
        <p:txBody>
          <a:bodyPr wrap="square" lIns="0" tIns="0" rIns="0" bIns="0" rtlCol="0" anchor="ctr"/>
          <a:lstStyle/>
          <a:p>
            <a:pPr algn="ctr"/>
            <a:r>
              <a:rPr lang="en-US" sz="3150" b="1">
                <a:solidFill>
                  <a:srgbClr val="1A1A1A"/>
                </a:solidFill>
                <a:latin typeface="Georgia" pitchFamily="34" charset="0"/>
                <a:ea typeface="Georgia" pitchFamily="34" charset="-122"/>
                <a:cs typeface="Georgia" pitchFamily="34" charset="-120"/>
              </a:rPr>
              <a:t>62.5%</a:t>
            </a:r>
            <a:endParaRPr lang="en-US" sz="31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4  —  IMPROVE</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Targeted Countries</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572500" cy="2743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Reducing each of the top 3 countries by 14.4% closes the entire 6.08M t global gap, without touching the other 118 countries.</a:t>
            </a:r>
            <a:endParaRPr lang="en-US" sz="1200"/>
          </a:p>
        </p:txBody>
      </p:sp>
      <p:sp>
        <p:nvSpPr>
          <p:cNvPr id="6" name="Shape 4"/>
          <p:cNvSpPr/>
          <p:nvPr/>
        </p:nvSpPr>
        <p:spPr>
          <a:xfrm>
            <a:off x="411480" y="1508760"/>
            <a:ext cx="2057400" cy="3223260"/>
          </a:xfrm>
          <a:prstGeom prst="rect">
            <a:avLst/>
          </a:prstGeom>
          <a:solidFill>
            <a:srgbClr val="FFFFFF"/>
          </a:solidFill>
          <a:ln w="6350">
            <a:solidFill>
              <a:srgbClr val="DCD4BE"/>
            </a:solidFill>
            <a:prstDash val="solid"/>
          </a:ln>
        </p:spPr>
        <p:txBody>
          <a:bodyPr/>
          <a:lstStyle/>
          <a:p>
            <a:endParaRPr lang="en-US" sz="1350"/>
          </a:p>
        </p:txBody>
      </p:sp>
      <p:sp>
        <p:nvSpPr>
          <p:cNvPr id="7" name="Shape 5"/>
          <p:cNvSpPr/>
          <p:nvPr/>
        </p:nvSpPr>
        <p:spPr>
          <a:xfrm>
            <a:off x="411480" y="1508760"/>
            <a:ext cx="2057400" cy="377190"/>
          </a:xfrm>
          <a:prstGeom prst="rect">
            <a:avLst/>
          </a:prstGeom>
          <a:solidFill>
            <a:schemeClr val="accent6"/>
          </a:solidFill>
          <a:ln w="12700">
            <a:solidFill>
              <a:srgbClr val="1A1A1A"/>
            </a:solidFill>
            <a:prstDash val="solid"/>
          </a:ln>
        </p:spPr>
        <p:txBody>
          <a:bodyPr/>
          <a:lstStyle/>
          <a:p>
            <a:endParaRPr lang="en-US" sz="1350"/>
          </a:p>
        </p:txBody>
      </p:sp>
      <p:sp>
        <p:nvSpPr>
          <p:cNvPr id="8" name="Text 6"/>
          <p:cNvSpPr/>
          <p:nvPr/>
        </p:nvSpPr>
        <p:spPr>
          <a:xfrm>
            <a:off x="514350" y="1543050"/>
            <a:ext cx="1851660" cy="342900"/>
          </a:xfrm>
          <a:prstGeom prst="rect">
            <a:avLst/>
          </a:prstGeom>
          <a:noFill/>
          <a:ln/>
        </p:spPr>
        <p:txBody>
          <a:bodyPr wrap="square" lIns="0" tIns="0" rIns="0" bIns="0" rtlCol="0" anchor="ctr"/>
          <a:lstStyle/>
          <a:p>
            <a:r>
              <a:rPr lang="en-US" sz="1200" b="1">
                <a:solidFill>
                  <a:srgbClr val="FFFFFF"/>
                </a:solidFill>
                <a:latin typeface="Georgia" pitchFamily="34" charset="0"/>
                <a:ea typeface="Georgia" pitchFamily="34" charset="-122"/>
                <a:cs typeface="Georgia" pitchFamily="34" charset="-120"/>
              </a:rPr>
              <a:t>United States</a:t>
            </a:r>
            <a:endParaRPr lang="en-US" sz="1200"/>
          </a:p>
        </p:txBody>
      </p:sp>
      <p:sp>
        <p:nvSpPr>
          <p:cNvPr id="9" name="Text 7"/>
          <p:cNvSpPr/>
          <p:nvPr/>
        </p:nvSpPr>
        <p:spPr>
          <a:xfrm>
            <a:off x="514350" y="1988820"/>
            <a:ext cx="1851660" cy="480060"/>
          </a:xfrm>
          <a:prstGeom prst="rect">
            <a:avLst/>
          </a:prstGeom>
          <a:noFill/>
          <a:ln/>
        </p:spPr>
        <p:txBody>
          <a:bodyPr wrap="square" lIns="0" tIns="0" rIns="0" bIns="0" rtlCol="0" anchor="ctr"/>
          <a:lstStyle/>
          <a:p>
            <a:r>
              <a:rPr lang="en-US" sz="2250" b="1">
                <a:solidFill>
                  <a:srgbClr val="7CB342"/>
                </a:solidFill>
                <a:latin typeface="Georgia" pitchFamily="34" charset="0"/>
                <a:ea typeface="Georgia" pitchFamily="34" charset="-122"/>
                <a:cs typeface="Georgia" pitchFamily="34" charset="-120"/>
              </a:rPr>
              <a:t>15.80M t</a:t>
            </a:r>
            <a:endParaRPr lang="en-US" sz="2250"/>
          </a:p>
        </p:txBody>
      </p:sp>
      <p:sp>
        <p:nvSpPr>
          <p:cNvPr id="10" name="Text 8"/>
          <p:cNvSpPr/>
          <p:nvPr/>
        </p:nvSpPr>
        <p:spPr>
          <a:xfrm>
            <a:off x="514350" y="2468880"/>
            <a:ext cx="1851660" cy="205740"/>
          </a:xfrm>
          <a:prstGeom prst="rect">
            <a:avLst/>
          </a:prstGeom>
          <a:noFill/>
          <a:ln/>
        </p:spPr>
        <p:txBody>
          <a:bodyPr wrap="square" lIns="0" tIns="0" rIns="0" bIns="0" rtlCol="0" anchor="ctr"/>
          <a:lstStyle/>
          <a:p>
            <a:r>
              <a:rPr lang="en-US" sz="1200">
                <a:solidFill>
                  <a:srgbClr val="5C5C5C"/>
                </a:solidFill>
                <a:latin typeface="Calibri" pitchFamily="34" charset="0"/>
                <a:ea typeface="Calibri" pitchFamily="34" charset="-122"/>
                <a:cs typeface="Calibri" pitchFamily="34" charset="-120"/>
              </a:rPr>
              <a:t>26.0% of global SC waste</a:t>
            </a:r>
            <a:endParaRPr lang="en-US" sz="1200"/>
          </a:p>
        </p:txBody>
      </p:sp>
      <p:sp>
        <p:nvSpPr>
          <p:cNvPr id="11" name="Shape 9"/>
          <p:cNvSpPr/>
          <p:nvPr/>
        </p:nvSpPr>
        <p:spPr>
          <a:xfrm>
            <a:off x="514350" y="2777490"/>
            <a:ext cx="1851660" cy="0"/>
          </a:xfrm>
          <a:prstGeom prst="line">
            <a:avLst/>
          </a:prstGeom>
          <a:noFill/>
          <a:ln w="9525">
            <a:solidFill>
              <a:srgbClr val="DCD4BE"/>
            </a:solidFill>
            <a:prstDash val="solid"/>
          </a:ln>
        </p:spPr>
        <p:txBody>
          <a:bodyPr/>
          <a:lstStyle/>
          <a:p>
            <a:endParaRPr lang="en-US" sz="1350"/>
          </a:p>
        </p:txBody>
      </p:sp>
      <p:sp>
        <p:nvSpPr>
          <p:cNvPr id="12" name="Text 10"/>
          <p:cNvSpPr/>
          <p:nvPr/>
        </p:nvSpPr>
        <p:spPr>
          <a:xfrm>
            <a:off x="514350" y="2846070"/>
            <a:ext cx="1851660" cy="822960"/>
          </a:xfrm>
          <a:prstGeom prst="rect">
            <a:avLst/>
          </a:prstGeom>
          <a:noFill/>
          <a:ln/>
        </p:spPr>
        <p:txBody>
          <a:bodyPr wrap="square" lIns="0" tIns="0" rIns="0" bIns="0" rtlCol="0" anchor="ctr"/>
          <a:lstStyle/>
          <a:p>
            <a:pPr>
              <a:spcAft>
                <a:spcPts val="150"/>
              </a:spcAft>
            </a:pPr>
            <a:r>
              <a:rPr lang="en-US" sz="1200">
                <a:latin typeface="Calibri" pitchFamily="34" charset="0"/>
                <a:ea typeface="Calibri" pitchFamily="34" charset="-122"/>
                <a:cs typeface="Calibri" pitchFamily="34" charset="-120"/>
              </a:rPr>
              <a:t>Waste / production: </a:t>
            </a:r>
            <a:r>
              <a:rPr lang="en-US" sz="1200" b="1">
                <a:latin typeface="Calibri" pitchFamily="34" charset="0"/>
                <a:ea typeface="Calibri" pitchFamily="34" charset="-122"/>
                <a:cs typeface="Calibri" pitchFamily="34" charset="-120"/>
              </a:rPr>
              <a:t>4.6%</a:t>
            </a:r>
            <a:endParaRPr lang="en-US" sz="1200"/>
          </a:p>
          <a:p>
            <a:pPr>
              <a:spcAft>
                <a:spcPts val="150"/>
              </a:spcAft>
            </a:pPr>
            <a:r>
              <a:rPr lang="en-US" sz="1200">
                <a:latin typeface="Calibri" pitchFamily="34" charset="0"/>
                <a:ea typeface="Calibri" pitchFamily="34" charset="-122"/>
                <a:cs typeface="Calibri" pitchFamily="34" charset="-120"/>
              </a:rPr>
              <a:t>Waste / dom. supply: </a:t>
            </a:r>
            <a:r>
              <a:rPr lang="en-US" sz="1200" b="1">
                <a:latin typeface="Calibri" pitchFamily="34" charset="0"/>
                <a:ea typeface="Calibri" pitchFamily="34" charset="-122"/>
                <a:cs typeface="Calibri" pitchFamily="34" charset="-120"/>
              </a:rPr>
              <a:t>5.0%</a:t>
            </a:r>
            <a:endParaRPr lang="en-US" sz="1200"/>
          </a:p>
          <a:p>
            <a:pPr>
              <a:spcAft>
                <a:spcPts val="150"/>
              </a:spcAft>
            </a:pPr>
            <a:r>
              <a:rPr lang="en-US" sz="1200">
                <a:latin typeface="Calibri" pitchFamily="34" charset="0"/>
                <a:ea typeface="Calibri" pitchFamily="34" charset="-122"/>
                <a:cs typeface="Calibri" pitchFamily="34" charset="-120"/>
              </a:rPr>
              <a:t>Per capita: </a:t>
            </a:r>
            <a:r>
              <a:rPr lang="en-US" sz="1200" b="1">
                <a:latin typeface="Calibri" pitchFamily="34" charset="0"/>
                <a:ea typeface="Calibri" pitchFamily="34" charset="-122"/>
                <a:cs typeface="Calibri" pitchFamily="34" charset="-120"/>
              </a:rPr>
              <a:t>0.048 t/person</a:t>
            </a:r>
            <a:endParaRPr lang="en-US" sz="1200"/>
          </a:p>
        </p:txBody>
      </p:sp>
      <p:sp>
        <p:nvSpPr>
          <p:cNvPr id="13" name="Text 11"/>
          <p:cNvSpPr/>
          <p:nvPr/>
        </p:nvSpPr>
        <p:spPr>
          <a:xfrm>
            <a:off x="514350" y="3703320"/>
            <a:ext cx="1851660" cy="6172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Volume problem, not efficiency.</a:t>
            </a:r>
            <a:endParaRPr lang="en-US" sz="1200"/>
          </a:p>
        </p:txBody>
      </p:sp>
      <p:sp>
        <p:nvSpPr>
          <p:cNvPr id="14" name="Shape 12"/>
          <p:cNvSpPr/>
          <p:nvPr/>
        </p:nvSpPr>
        <p:spPr>
          <a:xfrm>
            <a:off x="411480" y="4320540"/>
            <a:ext cx="2057400" cy="411480"/>
          </a:xfrm>
          <a:prstGeom prst="rect">
            <a:avLst/>
          </a:prstGeom>
          <a:solidFill>
            <a:srgbClr val="93C172"/>
          </a:solidFill>
          <a:ln w="12700">
            <a:solidFill>
              <a:srgbClr val="93C172"/>
            </a:solidFill>
            <a:prstDash val="solid"/>
          </a:ln>
        </p:spPr>
        <p:txBody>
          <a:bodyPr/>
          <a:lstStyle/>
          <a:p>
            <a:endParaRPr lang="en-US" sz="1350"/>
          </a:p>
        </p:txBody>
      </p:sp>
      <p:sp>
        <p:nvSpPr>
          <p:cNvPr id="15" name="Text 13"/>
          <p:cNvSpPr/>
          <p:nvPr/>
        </p:nvSpPr>
        <p:spPr>
          <a:xfrm>
            <a:off x="480060" y="4320540"/>
            <a:ext cx="1920240" cy="411480"/>
          </a:xfrm>
          <a:prstGeom prst="rect">
            <a:avLst/>
          </a:prstGeom>
          <a:noFill/>
          <a:ln/>
        </p:spPr>
        <p:txBody>
          <a:bodyPr wrap="square" lIns="0" tIns="0" rIns="0" bIns="0" rtlCol="0" anchor="ctr"/>
          <a:lstStyle/>
          <a:p>
            <a:pPr algn="ctr"/>
            <a:r>
              <a:rPr lang="en-US" sz="1200" b="1">
                <a:solidFill>
                  <a:srgbClr val="1A1A1A"/>
                </a:solidFill>
                <a:latin typeface="Calibri" pitchFamily="34" charset="0"/>
                <a:ea typeface="Calibri" pitchFamily="34" charset="-122"/>
                <a:cs typeface="Calibri" pitchFamily="34" charset="-120"/>
              </a:rPr>
              <a:t>−2.27M t  →  13.53M t</a:t>
            </a:r>
            <a:endParaRPr lang="en-US" sz="1200"/>
          </a:p>
        </p:txBody>
      </p:sp>
      <p:sp>
        <p:nvSpPr>
          <p:cNvPr id="16" name="Shape 14"/>
          <p:cNvSpPr/>
          <p:nvPr/>
        </p:nvSpPr>
        <p:spPr>
          <a:xfrm>
            <a:off x="3358803" y="1508760"/>
            <a:ext cx="2057400" cy="3223260"/>
          </a:xfrm>
          <a:prstGeom prst="rect">
            <a:avLst/>
          </a:prstGeom>
          <a:solidFill>
            <a:srgbClr val="FFFFFF"/>
          </a:solidFill>
          <a:ln w="6350">
            <a:solidFill>
              <a:srgbClr val="DCD4BE"/>
            </a:solidFill>
            <a:prstDash val="solid"/>
          </a:ln>
        </p:spPr>
        <p:txBody>
          <a:bodyPr/>
          <a:lstStyle/>
          <a:p>
            <a:endParaRPr lang="en-US" sz="1350"/>
          </a:p>
        </p:txBody>
      </p:sp>
      <p:sp>
        <p:nvSpPr>
          <p:cNvPr id="17" name="Shape 15"/>
          <p:cNvSpPr/>
          <p:nvPr/>
        </p:nvSpPr>
        <p:spPr>
          <a:xfrm>
            <a:off x="3358803" y="1508760"/>
            <a:ext cx="2057400" cy="377190"/>
          </a:xfrm>
          <a:prstGeom prst="rect">
            <a:avLst/>
          </a:prstGeom>
          <a:solidFill>
            <a:schemeClr val="accent6"/>
          </a:solidFill>
          <a:ln w="12700">
            <a:solidFill>
              <a:srgbClr val="1A1A1A"/>
            </a:solidFill>
            <a:prstDash val="solid"/>
          </a:ln>
        </p:spPr>
        <p:txBody>
          <a:bodyPr/>
          <a:lstStyle/>
          <a:p>
            <a:endParaRPr lang="en-US" sz="1350"/>
          </a:p>
        </p:txBody>
      </p:sp>
      <p:sp>
        <p:nvSpPr>
          <p:cNvPr id="18" name="Text 16"/>
          <p:cNvSpPr/>
          <p:nvPr/>
        </p:nvSpPr>
        <p:spPr>
          <a:xfrm>
            <a:off x="3461673" y="1543050"/>
            <a:ext cx="1851660" cy="342900"/>
          </a:xfrm>
          <a:prstGeom prst="rect">
            <a:avLst/>
          </a:prstGeom>
          <a:noFill/>
          <a:ln/>
        </p:spPr>
        <p:txBody>
          <a:bodyPr wrap="square" lIns="0" tIns="0" rIns="0" bIns="0" rtlCol="0" anchor="ctr"/>
          <a:lstStyle/>
          <a:p>
            <a:r>
              <a:rPr lang="en-US" sz="1200" b="1">
                <a:solidFill>
                  <a:srgbClr val="FFFFFF"/>
                </a:solidFill>
                <a:latin typeface="Georgia" pitchFamily="34" charset="0"/>
                <a:ea typeface="Georgia" pitchFamily="34" charset="-122"/>
                <a:cs typeface="Georgia" pitchFamily="34" charset="-120"/>
              </a:rPr>
              <a:t>China</a:t>
            </a:r>
            <a:endParaRPr lang="en-US" sz="1200"/>
          </a:p>
        </p:txBody>
      </p:sp>
      <p:sp>
        <p:nvSpPr>
          <p:cNvPr id="19" name="Text 17"/>
          <p:cNvSpPr/>
          <p:nvPr/>
        </p:nvSpPr>
        <p:spPr>
          <a:xfrm>
            <a:off x="3461673" y="1988820"/>
            <a:ext cx="1851660" cy="480060"/>
          </a:xfrm>
          <a:prstGeom prst="rect">
            <a:avLst/>
          </a:prstGeom>
          <a:noFill/>
          <a:ln/>
        </p:spPr>
        <p:txBody>
          <a:bodyPr wrap="square" lIns="0" tIns="0" rIns="0" bIns="0" rtlCol="0" anchor="ctr"/>
          <a:lstStyle/>
          <a:p>
            <a:r>
              <a:rPr lang="en-US" sz="2250" b="1">
                <a:solidFill>
                  <a:srgbClr val="7CB342"/>
                </a:solidFill>
                <a:latin typeface="Georgia" pitchFamily="34" charset="0"/>
                <a:ea typeface="Georgia" pitchFamily="34" charset="-122"/>
                <a:cs typeface="Georgia" pitchFamily="34" charset="-120"/>
              </a:rPr>
              <a:t>11.94M t</a:t>
            </a:r>
            <a:endParaRPr lang="en-US" sz="2250"/>
          </a:p>
        </p:txBody>
      </p:sp>
      <p:sp>
        <p:nvSpPr>
          <p:cNvPr id="20" name="Text 18"/>
          <p:cNvSpPr/>
          <p:nvPr/>
        </p:nvSpPr>
        <p:spPr>
          <a:xfrm>
            <a:off x="3461673" y="2468880"/>
            <a:ext cx="1851660" cy="205740"/>
          </a:xfrm>
          <a:prstGeom prst="rect">
            <a:avLst/>
          </a:prstGeom>
          <a:noFill/>
          <a:ln/>
        </p:spPr>
        <p:txBody>
          <a:bodyPr wrap="square" lIns="0" tIns="0" rIns="0" bIns="0" rtlCol="0" anchor="ctr"/>
          <a:lstStyle/>
          <a:p>
            <a:r>
              <a:rPr lang="en-US" sz="1200">
                <a:solidFill>
                  <a:srgbClr val="5C5C5C"/>
                </a:solidFill>
                <a:latin typeface="Calibri" pitchFamily="34" charset="0"/>
                <a:ea typeface="Calibri" pitchFamily="34" charset="-122"/>
                <a:cs typeface="Calibri" pitchFamily="34" charset="-120"/>
              </a:rPr>
              <a:t>19.6% of global SC waste</a:t>
            </a:r>
            <a:endParaRPr lang="en-US" sz="1200"/>
          </a:p>
        </p:txBody>
      </p:sp>
      <p:sp>
        <p:nvSpPr>
          <p:cNvPr id="21" name="Shape 19"/>
          <p:cNvSpPr/>
          <p:nvPr/>
        </p:nvSpPr>
        <p:spPr>
          <a:xfrm>
            <a:off x="3461673" y="2777490"/>
            <a:ext cx="1851660" cy="0"/>
          </a:xfrm>
          <a:prstGeom prst="line">
            <a:avLst/>
          </a:prstGeom>
          <a:noFill/>
          <a:ln w="9525">
            <a:solidFill>
              <a:srgbClr val="DCD4BE"/>
            </a:solidFill>
            <a:prstDash val="solid"/>
          </a:ln>
        </p:spPr>
        <p:txBody>
          <a:bodyPr/>
          <a:lstStyle/>
          <a:p>
            <a:endParaRPr lang="en-US" sz="1350"/>
          </a:p>
        </p:txBody>
      </p:sp>
      <p:sp>
        <p:nvSpPr>
          <p:cNvPr id="22" name="Text 20"/>
          <p:cNvSpPr/>
          <p:nvPr/>
        </p:nvSpPr>
        <p:spPr>
          <a:xfrm>
            <a:off x="3461673" y="2846070"/>
            <a:ext cx="1851660" cy="822960"/>
          </a:xfrm>
          <a:prstGeom prst="rect">
            <a:avLst/>
          </a:prstGeom>
          <a:noFill/>
          <a:ln/>
        </p:spPr>
        <p:txBody>
          <a:bodyPr wrap="square" lIns="0" tIns="0" rIns="0" bIns="0" rtlCol="0" anchor="ctr"/>
          <a:lstStyle/>
          <a:p>
            <a:pPr>
              <a:spcAft>
                <a:spcPts val="150"/>
              </a:spcAft>
            </a:pPr>
            <a:r>
              <a:rPr lang="en-US" sz="1200">
                <a:latin typeface="Calibri" pitchFamily="34" charset="0"/>
                <a:ea typeface="Calibri" pitchFamily="34" charset="-122"/>
                <a:cs typeface="Calibri" pitchFamily="34" charset="-120"/>
              </a:rPr>
              <a:t>Waste / production: </a:t>
            </a:r>
            <a:r>
              <a:rPr lang="en-US" sz="1200" b="1">
                <a:latin typeface="Calibri" pitchFamily="34" charset="0"/>
                <a:ea typeface="Calibri" pitchFamily="34" charset="-122"/>
                <a:cs typeface="Calibri" pitchFamily="34" charset="-120"/>
              </a:rPr>
              <a:t>4.6%</a:t>
            </a:r>
            <a:endParaRPr lang="en-US" sz="1200"/>
          </a:p>
          <a:p>
            <a:pPr>
              <a:spcAft>
                <a:spcPts val="150"/>
              </a:spcAft>
            </a:pPr>
            <a:r>
              <a:rPr lang="en-US" sz="1200">
                <a:latin typeface="Calibri" pitchFamily="34" charset="0"/>
                <a:ea typeface="Calibri" pitchFamily="34" charset="-122"/>
                <a:cs typeface="Calibri" pitchFamily="34" charset="-120"/>
              </a:rPr>
              <a:t>Waste / dom. supply: </a:t>
            </a:r>
            <a:r>
              <a:rPr lang="en-US" sz="1200" b="1">
                <a:latin typeface="Calibri" pitchFamily="34" charset="0"/>
                <a:ea typeface="Calibri" pitchFamily="34" charset="-122"/>
                <a:cs typeface="Calibri" pitchFamily="34" charset="-120"/>
              </a:rPr>
              <a:t>4.4%</a:t>
            </a:r>
            <a:endParaRPr lang="en-US" sz="1200"/>
          </a:p>
          <a:p>
            <a:pPr>
              <a:spcAft>
                <a:spcPts val="150"/>
              </a:spcAft>
            </a:pPr>
            <a:r>
              <a:rPr lang="en-US" sz="1200">
                <a:latin typeface="Calibri" pitchFamily="34" charset="0"/>
                <a:ea typeface="Calibri" pitchFamily="34" charset="-122"/>
                <a:cs typeface="Calibri" pitchFamily="34" charset="-120"/>
              </a:rPr>
              <a:t>Per capita: </a:t>
            </a:r>
            <a:r>
              <a:rPr lang="en-US" sz="1200" b="1">
                <a:latin typeface="Calibri" pitchFamily="34" charset="0"/>
                <a:ea typeface="Calibri" pitchFamily="34" charset="-122"/>
                <a:cs typeface="Calibri" pitchFamily="34" charset="-120"/>
              </a:rPr>
              <a:t>0.009 t/person</a:t>
            </a:r>
            <a:endParaRPr lang="en-US" sz="1200"/>
          </a:p>
        </p:txBody>
      </p:sp>
      <p:sp>
        <p:nvSpPr>
          <p:cNvPr id="23" name="Text 21"/>
          <p:cNvSpPr/>
          <p:nvPr/>
        </p:nvSpPr>
        <p:spPr>
          <a:xfrm>
            <a:off x="3461673" y="3703320"/>
            <a:ext cx="1851660" cy="6172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Waste exceeds food delivered by 34%.</a:t>
            </a:r>
            <a:endParaRPr lang="en-US" sz="1200"/>
          </a:p>
        </p:txBody>
      </p:sp>
      <p:sp>
        <p:nvSpPr>
          <p:cNvPr id="24" name="Shape 22"/>
          <p:cNvSpPr/>
          <p:nvPr/>
        </p:nvSpPr>
        <p:spPr>
          <a:xfrm>
            <a:off x="3358803" y="4320540"/>
            <a:ext cx="2057400" cy="411480"/>
          </a:xfrm>
          <a:prstGeom prst="rect">
            <a:avLst/>
          </a:prstGeom>
          <a:solidFill>
            <a:srgbClr val="93C172"/>
          </a:solidFill>
          <a:ln w="12700">
            <a:solidFill>
              <a:srgbClr val="93C172"/>
            </a:solidFill>
            <a:prstDash val="solid"/>
          </a:ln>
        </p:spPr>
        <p:txBody>
          <a:bodyPr/>
          <a:lstStyle/>
          <a:p>
            <a:endParaRPr lang="en-US" sz="1350"/>
          </a:p>
        </p:txBody>
      </p:sp>
      <p:sp>
        <p:nvSpPr>
          <p:cNvPr id="25" name="Text 23"/>
          <p:cNvSpPr/>
          <p:nvPr/>
        </p:nvSpPr>
        <p:spPr>
          <a:xfrm>
            <a:off x="3427383" y="4320540"/>
            <a:ext cx="1920240" cy="411480"/>
          </a:xfrm>
          <a:prstGeom prst="rect">
            <a:avLst/>
          </a:prstGeom>
          <a:noFill/>
          <a:ln/>
        </p:spPr>
        <p:txBody>
          <a:bodyPr wrap="square" lIns="0" tIns="0" rIns="0" bIns="0" rtlCol="0" anchor="ctr"/>
          <a:lstStyle/>
          <a:p>
            <a:pPr algn="ctr"/>
            <a:r>
              <a:rPr lang="en-US" sz="1200" b="1">
                <a:solidFill>
                  <a:srgbClr val="1A1A1A"/>
                </a:solidFill>
                <a:latin typeface="Calibri" pitchFamily="34" charset="0"/>
                <a:ea typeface="Calibri" pitchFamily="34" charset="-122"/>
                <a:cs typeface="Calibri" pitchFamily="34" charset="-120"/>
              </a:rPr>
              <a:t>−1.72M t  →  10.22M t</a:t>
            </a:r>
            <a:endParaRPr lang="en-US" sz="1200"/>
          </a:p>
        </p:txBody>
      </p:sp>
      <p:sp>
        <p:nvSpPr>
          <p:cNvPr id="26" name="Shape 24"/>
          <p:cNvSpPr/>
          <p:nvPr/>
        </p:nvSpPr>
        <p:spPr>
          <a:xfrm>
            <a:off x="6306127" y="1508760"/>
            <a:ext cx="2057400" cy="3223260"/>
          </a:xfrm>
          <a:prstGeom prst="rect">
            <a:avLst/>
          </a:prstGeom>
          <a:solidFill>
            <a:srgbClr val="FFFFFF"/>
          </a:solidFill>
          <a:ln w="6350">
            <a:solidFill>
              <a:srgbClr val="DCD4BE"/>
            </a:solidFill>
            <a:prstDash val="solid"/>
          </a:ln>
        </p:spPr>
        <p:txBody>
          <a:bodyPr/>
          <a:lstStyle/>
          <a:p>
            <a:endParaRPr lang="en-US" sz="1350"/>
          </a:p>
        </p:txBody>
      </p:sp>
      <p:sp>
        <p:nvSpPr>
          <p:cNvPr id="27" name="Shape 25"/>
          <p:cNvSpPr/>
          <p:nvPr/>
        </p:nvSpPr>
        <p:spPr>
          <a:xfrm>
            <a:off x="6306127" y="1508760"/>
            <a:ext cx="2057400" cy="377190"/>
          </a:xfrm>
          <a:prstGeom prst="rect">
            <a:avLst/>
          </a:prstGeom>
          <a:solidFill>
            <a:schemeClr val="accent6"/>
          </a:solidFill>
          <a:ln w="12700">
            <a:solidFill>
              <a:srgbClr val="1A1A1A"/>
            </a:solidFill>
            <a:prstDash val="solid"/>
          </a:ln>
        </p:spPr>
        <p:txBody>
          <a:bodyPr/>
          <a:lstStyle/>
          <a:p>
            <a:endParaRPr lang="en-US" sz="1350"/>
          </a:p>
        </p:txBody>
      </p:sp>
      <p:sp>
        <p:nvSpPr>
          <p:cNvPr id="28" name="Text 26"/>
          <p:cNvSpPr/>
          <p:nvPr/>
        </p:nvSpPr>
        <p:spPr>
          <a:xfrm>
            <a:off x="6408997" y="1543050"/>
            <a:ext cx="1851660" cy="342900"/>
          </a:xfrm>
          <a:prstGeom prst="rect">
            <a:avLst/>
          </a:prstGeom>
          <a:noFill/>
          <a:ln/>
        </p:spPr>
        <p:txBody>
          <a:bodyPr wrap="square" lIns="0" tIns="0" rIns="0" bIns="0" rtlCol="0" anchor="ctr"/>
          <a:lstStyle/>
          <a:p>
            <a:r>
              <a:rPr lang="en-US" sz="1200" b="1">
                <a:solidFill>
                  <a:srgbClr val="FFFFFF"/>
                </a:solidFill>
                <a:latin typeface="Georgia" pitchFamily="34" charset="0"/>
                <a:ea typeface="Georgia" pitchFamily="34" charset="-122"/>
                <a:cs typeface="Georgia" pitchFamily="34" charset="-120"/>
              </a:rPr>
              <a:t>Brazil</a:t>
            </a:r>
            <a:endParaRPr lang="en-US" sz="1200"/>
          </a:p>
        </p:txBody>
      </p:sp>
      <p:sp>
        <p:nvSpPr>
          <p:cNvPr id="29" name="Text 27"/>
          <p:cNvSpPr/>
          <p:nvPr/>
        </p:nvSpPr>
        <p:spPr>
          <a:xfrm>
            <a:off x="6408997" y="1988820"/>
            <a:ext cx="1851660" cy="480060"/>
          </a:xfrm>
          <a:prstGeom prst="rect">
            <a:avLst/>
          </a:prstGeom>
          <a:noFill/>
          <a:ln/>
        </p:spPr>
        <p:txBody>
          <a:bodyPr wrap="square" lIns="0" tIns="0" rIns="0" bIns="0" rtlCol="0" anchor="ctr"/>
          <a:lstStyle/>
          <a:p>
            <a:r>
              <a:rPr lang="en-US" sz="2250" b="1">
                <a:solidFill>
                  <a:srgbClr val="7CB342"/>
                </a:solidFill>
                <a:latin typeface="Georgia" pitchFamily="34" charset="0"/>
                <a:ea typeface="Georgia" pitchFamily="34" charset="-122"/>
                <a:cs typeface="Georgia" pitchFamily="34" charset="-120"/>
              </a:rPr>
              <a:t>10.26M t</a:t>
            </a:r>
            <a:endParaRPr lang="en-US" sz="2250"/>
          </a:p>
        </p:txBody>
      </p:sp>
      <p:sp>
        <p:nvSpPr>
          <p:cNvPr id="30" name="Text 28"/>
          <p:cNvSpPr/>
          <p:nvPr/>
        </p:nvSpPr>
        <p:spPr>
          <a:xfrm>
            <a:off x="6408997" y="2468880"/>
            <a:ext cx="1851660" cy="205740"/>
          </a:xfrm>
          <a:prstGeom prst="rect">
            <a:avLst/>
          </a:prstGeom>
          <a:noFill/>
          <a:ln/>
        </p:spPr>
        <p:txBody>
          <a:bodyPr wrap="square" lIns="0" tIns="0" rIns="0" bIns="0" rtlCol="0" anchor="ctr"/>
          <a:lstStyle/>
          <a:p>
            <a:r>
              <a:rPr lang="en-US" sz="1200">
                <a:solidFill>
                  <a:srgbClr val="5C5C5C"/>
                </a:solidFill>
                <a:latin typeface="Calibri" pitchFamily="34" charset="0"/>
                <a:ea typeface="Calibri" pitchFamily="34" charset="-122"/>
                <a:cs typeface="Calibri" pitchFamily="34" charset="-120"/>
              </a:rPr>
              <a:t>16.9% of global SC waste</a:t>
            </a:r>
            <a:endParaRPr lang="en-US" sz="1200"/>
          </a:p>
        </p:txBody>
      </p:sp>
      <p:sp>
        <p:nvSpPr>
          <p:cNvPr id="31" name="Shape 29"/>
          <p:cNvSpPr/>
          <p:nvPr/>
        </p:nvSpPr>
        <p:spPr>
          <a:xfrm>
            <a:off x="6408997" y="2777490"/>
            <a:ext cx="1851660" cy="0"/>
          </a:xfrm>
          <a:prstGeom prst="line">
            <a:avLst/>
          </a:prstGeom>
          <a:noFill/>
          <a:ln w="9525">
            <a:solidFill>
              <a:srgbClr val="DCD4BE"/>
            </a:solidFill>
            <a:prstDash val="solid"/>
          </a:ln>
        </p:spPr>
        <p:txBody>
          <a:bodyPr/>
          <a:lstStyle/>
          <a:p>
            <a:endParaRPr lang="en-US" sz="1350"/>
          </a:p>
        </p:txBody>
      </p:sp>
      <p:sp>
        <p:nvSpPr>
          <p:cNvPr id="32" name="Text 30"/>
          <p:cNvSpPr/>
          <p:nvPr/>
        </p:nvSpPr>
        <p:spPr>
          <a:xfrm>
            <a:off x="6408997" y="2846070"/>
            <a:ext cx="1851660" cy="822960"/>
          </a:xfrm>
          <a:prstGeom prst="rect">
            <a:avLst/>
          </a:prstGeom>
          <a:noFill/>
          <a:ln/>
        </p:spPr>
        <p:txBody>
          <a:bodyPr wrap="square" lIns="0" tIns="0" rIns="0" bIns="0" rtlCol="0" anchor="ctr"/>
          <a:lstStyle/>
          <a:p>
            <a:pPr>
              <a:spcAft>
                <a:spcPts val="150"/>
              </a:spcAft>
            </a:pPr>
            <a:r>
              <a:rPr lang="en-US" sz="1200">
                <a:latin typeface="Calibri" pitchFamily="34" charset="0"/>
                <a:ea typeface="Calibri" pitchFamily="34" charset="-122"/>
                <a:cs typeface="Calibri" pitchFamily="34" charset="-120"/>
              </a:rPr>
              <a:t>Waste / production: </a:t>
            </a:r>
            <a:r>
              <a:rPr lang="en-US" sz="1200" b="1">
                <a:latin typeface="Calibri" pitchFamily="34" charset="0"/>
                <a:ea typeface="Calibri" pitchFamily="34" charset="-122"/>
                <a:cs typeface="Calibri" pitchFamily="34" charset="-120"/>
              </a:rPr>
              <a:t>10.2%</a:t>
            </a:r>
            <a:endParaRPr lang="en-US" sz="1200"/>
          </a:p>
          <a:p>
            <a:pPr>
              <a:spcAft>
                <a:spcPts val="150"/>
              </a:spcAft>
            </a:pPr>
            <a:r>
              <a:rPr lang="en-US" sz="1200">
                <a:latin typeface="Calibri" pitchFamily="34" charset="0"/>
                <a:ea typeface="Calibri" pitchFamily="34" charset="-122"/>
                <a:cs typeface="Calibri" pitchFamily="34" charset="-120"/>
              </a:rPr>
              <a:t>Waste / dom. supply: </a:t>
            </a:r>
            <a:r>
              <a:rPr lang="en-US" sz="1200" b="1">
                <a:latin typeface="Calibri" pitchFamily="34" charset="0"/>
                <a:ea typeface="Calibri" pitchFamily="34" charset="-122"/>
                <a:cs typeface="Calibri" pitchFamily="34" charset="-120"/>
              </a:rPr>
              <a:t>16.1%</a:t>
            </a:r>
            <a:endParaRPr lang="en-US" sz="1200"/>
          </a:p>
          <a:p>
            <a:pPr>
              <a:spcAft>
                <a:spcPts val="150"/>
              </a:spcAft>
            </a:pPr>
            <a:r>
              <a:rPr lang="en-US" sz="1200">
                <a:latin typeface="Calibri" pitchFamily="34" charset="0"/>
                <a:ea typeface="Calibri" pitchFamily="34" charset="-122"/>
                <a:cs typeface="Calibri" pitchFamily="34" charset="-120"/>
              </a:rPr>
              <a:t>Per capita: </a:t>
            </a:r>
            <a:r>
              <a:rPr lang="en-US" sz="1200" b="1">
                <a:latin typeface="Calibri" pitchFamily="34" charset="0"/>
                <a:ea typeface="Calibri" pitchFamily="34" charset="-122"/>
                <a:cs typeface="Calibri" pitchFamily="34" charset="-120"/>
              </a:rPr>
              <a:t>0.049 t/person</a:t>
            </a:r>
            <a:endParaRPr lang="en-US" sz="1200"/>
          </a:p>
        </p:txBody>
      </p:sp>
      <p:sp>
        <p:nvSpPr>
          <p:cNvPr id="33" name="Text 31"/>
          <p:cNvSpPr/>
          <p:nvPr/>
        </p:nvSpPr>
        <p:spPr>
          <a:xfrm>
            <a:off x="6408997" y="3703320"/>
            <a:ext cx="1851660" cy="6172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Loss rate 3× the US benchmark.</a:t>
            </a:r>
            <a:endParaRPr lang="en-US" sz="1200"/>
          </a:p>
        </p:txBody>
      </p:sp>
      <p:sp>
        <p:nvSpPr>
          <p:cNvPr id="34" name="Shape 32"/>
          <p:cNvSpPr/>
          <p:nvPr/>
        </p:nvSpPr>
        <p:spPr>
          <a:xfrm>
            <a:off x="6306127" y="4320540"/>
            <a:ext cx="2057400" cy="411480"/>
          </a:xfrm>
          <a:prstGeom prst="rect">
            <a:avLst/>
          </a:prstGeom>
          <a:solidFill>
            <a:srgbClr val="93C172"/>
          </a:solidFill>
          <a:ln w="12700">
            <a:solidFill>
              <a:srgbClr val="93C172"/>
            </a:solidFill>
            <a:prstDash val="solid"/>
          </a:ln>
        </p:spPr>
        <p:txBody>
          <a:bodyPr/>
          <a:lstStyle/>
          <a:p>
            <a:endParaRPr lang="en-US" sz="1350"/>
          </a:p>
        </p:txBody>
      </p:sp>
      <p:sp>
        <p:nvSpPr>
          <p:cNvPr id="35" name="Text 33"/>
          <p:cNvSpPr/>
          <p:nvPr/>
        </p:nvSpPr>
        <p:spPr>
          <a:xfrm>
            <a:off x="6374707" y="4320540"/>
            <a:ext cx="1920240" cy="411480"/>
          </a:xfrm>
          <a:prstGeom prst="rect">
            <a:avLst/>
          </a:prstGeom>
          <a:noFill/>
          <a:ln/>
        </p:spPr>
        <p:txBody>
          <a:bodyPr wrap="square" lIns="0" tIns="0" rIns="0" bIns="0" rtlCol="0" anchor="ctr"/>
          <a:lstStyle/>
          <a:p>
            <a:pPr algn="ctr"/>
            <a:r>
              <a:rPr lang="en-US" sz="1200" b="1">
                <a:solidFill>
                  <a:srgbClr val="1A1A1A"/>
                </a:solidFill>
                <a:latin typeface="Calibri" pitchFamily="34" charset="0"/>
                <a:ea typeface="Calibri" pitchFamily="34" charset="-122"/>
                <a:cs typeface="Calibri" pitchFamily="34" charset="-120"/>
              </a:rPr>
              <a:t>−1.48M t  →  8.78M t</a:t>
            </a:r>
            <a:endParaRPr lang="en-US" sz="1200"/>
          </a:p>
        </p:txBody>
      </p:sp>
      <p:sp>
        <p:nvSpPr>
          <p:cNvPr id="46" name="Text 44"/>
          <p:cNvSpPr/>
          <p:nvPr/>
        </p:nvSpPr>
        <p:spPr>
          <a:xfrm>
            <a:off x="411480" y="4800600"/>
            <a:ext cx="8229600" cy="205740"/>
          </a:xfrm>
          <a:prstGeom prst="rect">
            <a:avLst/>
          </a:prstGeom>
          <a:noFill/>
          <a:ln/>
        </p:spPr>
        <p:txBody>
          <a:bodyPr wrap="square" lIns="0" tIns="0" rIns="0" bIns="0" rtlCol="0" anchor="ctr"/>
          <a:lstStyle/>
          <a:p>
            <a:pPr algn="ctr"/>
            <a:r>
              <a:rPr lang="en-US" sz="1200" b="1">
                <a:solidFill>
                  <a:srgbClr val="7CB342"/>
                </a:solidFill>
                <a:latin typeface="Calibri" pitchFamily="34" charset="0"/>
                <a:ea typeface="Calibri" pitchFamily="34" charset="-122"/>
                <a:cs typeface="Calibri" pitchFamily="34" charset="-120"/>
              </a:rPr>
              <a:t>Together: −6.19M t. Exceeds the 6.08M t target by 2%. </a:t>
            </a:r>
            <a:endParaRPr lang="en-US" sz="1200"/>
          </a:p>
        </p:txBody>
      </p:sp>
    </p:spTree>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4  —  IMPROVE</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B2B Strategic Recommendations</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572500" cy="2743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Four recommendations — each tied to the specific variance signal in its target country.</a:t>
            </a:r>
            <a:endParaRPr lang="en-US" sz="1200"/>
          </a:p>
        </p:txBody>
      </p:sp>
      <p:sp>
        <p:nvSpPr>
          <p:cNvPr id="6" name="Shape 4"/>
          <p:cNvSpPr/>
          <p:nvPr/>
        </p:nvSpPr>
        <p:spPr>
          <a:xfrm>
            <a:off x="411480" y="1405890"/>
            <a:ext cx="4149090" cy="1611630"/>
          </a:xfrm>
          <a:prstGeom prst="rect">
            <a:avLst/>
          </a:prstGeom>
          <a:solidFill>
            <a:srgbClr val="FFFFFF"/>
          </a:solidFill>
          <a:ln w="6350">
            <a:solidFill>
              <a:srgbClr val="DCD4BE"/>
            </a:solidFill>
            <a:prstDash val="solid"/>
          </a:ln>
        </p:spPr>
        <p:txBody>
          <a:bodyPr/>
          <a:lstStyle/>
          <a:p>
            <a:endParaRPr lang="en-US" sz="1350"/>
          </a:p>
        </p:txBody>
      </p:sp>
      <p:sp>
        <p:nvSpPr>
          <p:cNvPr id="7" name="Shape 5"/>
          <p:cNvSpPr/>
          <p:nvPr/>
        </p:nvSpPr>
        <p:spPr>
          <a:xfrm>
            <a:off x="411480" y="1405890"/>
            <a:ext cx="82296" cy="1611630"/>
          </a:xfrm>
          <a:prstGeom prst="rect">
            <a:avLst/>
          </a:prstGeom>
          <a:solidFill>
            <a:srgbClr val="7CB342"/>
          </a:solidFill>
          <a:ln w="12700">
            <a:solidFill>
              <a:srgbClr val="7CB342"/>
            </a:solidFill>
            <a:prstDash val="solid"/>
          </a:ln>
        </p:spPr>
        <p:txBody>
          <a:bodyPr/>
          <a:lstStyle/>
          <a:p>
            <a:endParaRPr lang="en-US" sz="1350"/>
          </a:p>
        </p:txBody>
      </p:sp>
      <p:sp>
        <p:nvSpPr>
          <p:cNvPr id="8" name="Text 6"/>
          <p:cNvSpPr/>
          <p:nvPr/>
        </p:nvSpPr>
        <p:spPr>
          <a:xfrm>
            <a:off x="617220" y="1508760"/>
            <a:ext cx="3806190" cy="192024"/>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UNITED STATES</a:t>
            </a:r>
            <a:endParaRPr lang="en-US" sz="1400"/>
          </a:p>
        </p:txBody>
      </p:sp>
      <p:sp>
        <p:nvSpPr>
          <p:cNvPr id="9" name="Text 7"/>
          <p:cNvSpPr/>
          <p:nvPr/>
        </p:nvSpPr>
        <p:spPr>
          <a:xfrm>
            <a:off x="617220" y="1738503"/>
            <a:ext cx="3806190" cy="308610"/>
          </a:xfrm>
          <a:prstGeom prst="rect">
            <a:avLst/>
          </a:prstGeom>
          <a:noFill/>
          <a:ln/>
        </p:spPr>
        <p:txBody>
          <a:bodyPr wrap="square" lIns="0" tIns="0" rIns="0" bIns="0" rtlCol="0" anchor="t"/>
          <a:lstStyle/>
          <a:p>
            <a:r>
              <a:rPr lang="en-US" sz="1200" b="1">
                <a:solidFill>
                  <a:srgbClr val="1A1A1A"/>
                </a:solidFill>
                <a:latin typeface="Georgia" pitchFamily="34" charset="0"/>
                <a:ea typeface="Georgia" pitchFamily="34" charset="-122"/>
                <a:cs typeface="Georgia" pitchFamily="34" charset="-120"/>
              </a:rPr>
              <a:t>Food Recovery Partnerships</a:t>
            </a:r>
            <a:endParaRPr lang="en-US" sz="1200"/>
          </a:p>
        </p:txBody>
      </p:sp>
      <p:sp>
        <p:nvSpPr>
          <p:cNvPr id="10" name="Text 8"/>
          <p:cNvSpPr/>
          <p:nvPr/>
        </p:nvSpPr>
        <p:spPr>
          <a:xfrm>
            <a:off x="617220" y="2091690"/>
            <a:ext cx="3806190" cy="891540"/>
          </a:xfrm>
          <a:prstGeom prst="rect">
            <a:avLst/>
          </a:prstGeom>
          <a:noFill/>
          <a:ln/>
        </p:spPr>
        <p:txBody>
          <a:bodyPr wrap="square" lIns="0" tIns="0" rIns="0" bIns="0" rtlCol="0" anchor="t"/>
          <a:lstStyle/>
          <a:p>
            <a:pPr marL="257175" indent="-257175">
              <a:spcAft>
                <a:spcPts val="300"/>
              </a:spcAft>
              <a:buSzPct val="100000"/>
              <a:buChar char="■"/>
            </a:pPr>
            <a:r>
              <a:rPr lang="en-US" sz="1200" dirty="0">
                <a:solidFill>
                  <a:srgbClr val="1A1A1A"/>
                </a:solidFill>
                <a:latin typeface="Calibri" pitchFamily="34" charset="0"/>
                <a:ea typeface="Calibri" pitchFamily="34" charset="-122"/>
                <a:cs typeface="Calibri" pitchFamily="34" charset="-120"/>
              </a:rPr>
              <a:t>Signal:  15.80M t at normal 4.6% rate</a:t>
            </a:r>
            <a:endParaRPr lang="en-US" sz="1200" dirty="0"/>
          </a:p>
          <a:p>
            <a:pPr marL="257175" indent="-257175">
              <a:spcAft>
                <a:spcPts val="300"/>
              </a:spcAft>
              <a:buSzPct val="100000"/>
              <a:buChar char="■"/>
            </a:pPr>
            <a:r>
              <a:rPr lang="en-US" sz="1200" dirty="0">
                <a:solidFill>
                  <a:srgbClr val="1A1A1A"/>
                </a:solidFill>
                <a:latin typeface="Calibri" pitchFamily="34" charset="0"/>
                <a:ea typeface="Calibri" pitchFamily="34" charset="-122"/>
                <a:cs typeface="Calibri" pitchFamily="34" charset="-120"/>
              </a:rPr>
              <a:t>Lever:  redirect surplus from retailers</a:t>
            </a:r>
            <a:endParaRPr lang="en-US" sz="1200" dirty="0"/>
          </a:p>
          <a:p>
            <a:pPr marL="257175" indent="-257175">
              <a:spcAft>
                <a:spcPts val="300"/>
              </a:spcAft>
              <a:buSzPct val="100000"/>
              <a:buChar char="■"/>
            </a:pPr>
            <a:r>
              <a:rPr lang="en-US" sz="1200" dirty="0">
                <a:solidFill>
                  <a:srgbClr val="1A1A1A"/>
                </a:solidFill>
                <a:latin typeface="Calibri" pitchFamily="34" charset="0"/>
                <a:ea typeface="Calibri" pitchFamily="34" charset="-122"/>
                <a:cs typeface="Calibri" pitchFamily="34" charset="-120"/>
              </a:rPr>
              <a:t>Channel:  food banks + secondary markets</a:t>
            </a:r>
            <a:endParaRPr lang="en-US" sz="1200" dirty="0"/>
          </a:p>
        </p:txBody>
      </p:sp>
      <p:sp>
        <p:nvSpPr>
          <p:cNvPr id="11" name="Shape 9"/>
          <p:cNvSpPr/>
          <p:nvPr/>
        </p:nvSpPr>
        <p:spPr>
          <a:xfrm>
            <a:off x="4663440" y="1405890"/>
            <a:ext cx="4149090" cy="1611630"/>
          </a:xfrm>
          <a:prstGeom prst="rect">
            <a:avLst/>
          </a:prstGeom>
          <a:solidFill>
            <a:srgbClr val="FFFFFF"/>
          </a:solidFill>
          <a:ln w="6350">
            <a:solidFill>
              <a:srgbClr val="DCD4BE"/>
            </a:solidFill>
            <a:prstDash val="solid"/>
          </a:ln>
        </p:spPr>
        <p:txBody>
          <a:bodyPr/>
          <a:lstStyle/>
          <a:p>
            <a:endParaRPr lang="en-US" sz="1350"/>
          </a:p>
        </p:txBody>
      </p:sp>
      <p:sp>
        <p:nvSpPr>
          <p:cNvPr id="12" name="Shape 10"/>
          <p:cNvSpPr/>
          <p:nvPr/>
        </p:nvSpPr>
        <p:spPr>
          <a:xfrm>
            <a:off x="4663440" y="1405890"/>
            <a:ext cx="82296" cy="1611630"/>
          </a:xfrm>
          <a:prstGeom prst="rect">
            <a:avLst/>
          </a:prstGeom>
          <a:solidFill>
            <a:srgbClr val="7CB342"/>
          </a:solidFill>
          <a:ln w="12700">
            <a:solidFill>
              <a:srgbClr val="7CB342"/>
            </a:solidFill>
            <a:prstDash val="solid"/>
          </a:ln>
        </p:spPr>
        <p:txBody>
          <a:bodyPr/>
          <a:lstStyle/>
          <a:p>
            <a:endParaRPr lang="en-US" sz="1350"/>
          </a:p>
        </p:txBody>
      </p:sp>
      <p:sp>
        <p:nvSpPr>
          <p:cNvPr id="13" name="Text 11"/>
          <p:cNvSpPr/>
          <p:nvPr/>
        </p:nvSpPr>
        <p:spPr>
          <a:xfrm>
            <a:off x="4869180" y="1508760"/>
            <a:ext cx="3806190" cy="192024"/>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CHINA</a:t>
            </a:r>
            <a:endParaRPr lang="en-US" sz="1400"/>
          </a:p>
        </p:txBody>
      </p:sp>
      <p:sp>
        <p:nvSpPr>
          <p:cNvPr id="14" name="Text 12"/>
          <p:cNvSpPr/>
          <p:nvPr/>
        </p:nvSpPr>
        <p:spPr>
          <a:xfrm>
            <a:off x="4869180" y="1700784"/>
            <a:ext cx="3806190" cy="308610"/>
          </a:xfrm>
          <a:prstGeom prst="rect">
            <a:avLst/>
          </a:prstGeom>
          <a:noFill/>
          <a:ln/>
        </p:spPr>
        <p:txBody>
          <a:bodyPr wrap="square" lIns="0" tIns="0" rIns="0" bIns="0" rtlCol="0" anchor="t"/>
          <a:lstStyle/>
          <a:p>
            <a:r>
              <a:rPr lang="en-US" sz="1200" b="1">
                <a:solidFill>
                  <a:srgbClr val="1A1A1A"/>
                </a:solidFill>
                <a:latin typeface="Georgia" pitchFamily="34" charset="0"/>
                <a:ea typeface="Georgia" pitchFamily="34" charset="-122"/>
                <a:cs typeface="Georgia" pitchFamily="34" charset="-120"/>
              </a:rPr>
              <a:t>Processing &amp; Distribution Upgrade</a:t>
            </a:r>
            <a:endParaRPr lang="en-US" sz="1200"/>
          </a:p>
        </p:txBody>
      </p:sp>
      <p:sp>
        <p:nvSpPr>
          <p:cNvPr id="15" name="Text 13"/>
          <p:cNvSpPr/>
          <p:nvPr/>
        </p:nvSpPr>
        <p:spPr>
          <a:xfrm>
            <a:off x="4869180" y="2091690"/>
            <a:ext cx="3806190" cy="891540"/>
          </a:xfrm>
          <a:prstGeom prst="rect">
            <a:avLst/>
          </a:prstGeom>
          <a:noFill/>
          <a:ln/>
        </p:spPr>
        <p:txBody>
          <a:bodyPr wrap="square" lIns="0" tIns="0" rIns="0" bIns="0" rtlCol="0" anchor="t"/>
          <a:lstStyle/>
          <a:p>
            <a:pPr marL="257175" indent="-257175">
              <a:spcAft>
                <a:spcPts val="300"/>
              </a:spcAft>
              <a:buSzPct val="100000"/>
              <a:buChar char="■"/>
            </a:pPr>
            <a:r>
              <a:rPr lang="en-US" sz="1200">
                <a:solidFill>
                  <a:srgbClr val="1A1A1A"/>
                </a:solidFill>
                <a:latin typeface="Calibri" pitchFamily="34" charset="0"/>
                <a:ea typeface="Calibri" pitchFamily="34" charset="-122"/>
                <a:cs typeface="Calibri" pitchFamily="34" charset="-120"/>
              </a:rPr>
              <a:t>Signal:  waste 34% &gt; food delivered</a:t>
            </a:r>
            <a:endParaRPr lang="en-US" sz="1200"/>
          </a:p>
          <a:p>
            <a:pPr marL="257175" indent="-257175">
              <a:spcAft>
                <a:spcPts val="300"/>
              </a:spcAft>
              <a:buSzPct val="100000"/>
              <a:buChar char="■"/>
            </a:pPr>
            <a:r>
              <a:rPr lang="en-US" sz="1200">
                <a:solidFill>
                  <a:srgbClr val="1A1A1A"/>
                </a:solidFill>
                <a:latin typeface="Calibri" pitchFamily="34" charset="0"/>
                <a:ea typeface="Calibri" pitchFamily="34" charset="-122"/>
                <a:cs typeface="Calibri" pitchFamily="34" charset="-120"/>
              </a:rPr>
              <a:t>Lever:  inland cold-storage capacity</a:t>
            </a:r>
            <a:endParaRPr lang="en-US" sz="1200"/>
          </a:p>
          <a:p>
            <a:pPr marL="257175" indent="-257175">
              <a:spcAft>
                <a:spcPts val="300"/>
              </a:spcAft>
              <a:buSzPct val="100000"/>
              <a:buChar char="■"/>
            </a:pPr>
            <a:r>
              <a:rPr lang="en-US" sz="1200">
                <a:solidFill>
                  <a:srgbClr val="1A1A1A"/>
                </a:solidFill>
                <a:latin typeface="Calibri" pitchFamily="34" charset="0"/>
                <a:ea typeface="Calibri" pitchFamily="34" charset="-122"/>
                <a:cs typeface="Calibri" pitchFamily="34" charset="-120"/>
              </a:rPr>
              <a:t>Channel:  provincial logistics B2B contracts</a:t>
            </a:r>
            <a:endParaRPr lang="en-US" sz="1200"/>
          </a:p>
        </p:txBody>
      </p:sp>
      <p:sp>
        <p:nvSpPr>
          <p:cNvPr id="16" name="Shape 14"/>
          <p:cNvSpPr/>
          <p:nvPr/>
        </p:nvSpPr>
        <p:spPr>
          <a:xfrm>
            <a:off x="2348865" y="3188970"/>
            <a:ext cx="4149090" cy="1611630"/>
          </a:xfrm>
          <a:prstGeom prst="rect">
            <a:avLst/>
          </a:prstGeom>
          <a:solidFill>
            <a:srgbClr val="FFFFFF"/>
          </a:solidFill>
          <a:ln w="6350">
            <a:solidFill>
              <a:srgbClr val="DCD4BE"/>
            </a:solidFill>
            <a:prstDash val="solid"/>
          </a:ln>
        </p:spPr>
        <p:txBody>
          <a:bodyPr/>
          <a:lstStyle/>
          <a:p>
            <a:endParaRPr lang="en-US" sz="1350"/>
          </a:p>
        </p:txBody>
      </p:sp>
      <p:sp>
        <p:nvSpPr>
          <p:cNvPr id="17" name="Shape 15"/>
          <p:cNvSpPr/>
          <p:nvPr/>
        </p:nvSpPr>
        <p:spPr>
          <a:xfrm>
            <a:off x="2348865" y="3188970"/>
            <a:ext cx="82296" cy="1611630"/>
          </a:xfrm>
          <a:prstGeom prst="rect">
            <a:avLst/>
          </a:prstGeom>
          <a:solidFill>
            <a:srgbClr val="7CB342"/>
          </a:solidFill>
          <a:ln w="12700">
            <a:solidFill>
              <a:srgbClr val="7CB342"/>
            </a:solidFill>
            <a:prstDash val="solid"/>
          </a:ln>
        </p:spPr>
        <p:txBody>
          <a:bodyPr/>
          <a:lstStyle/>
          <a:p>
            <a:endParaRPr lang="en-US" sz="1350"/>
          </a:p>
        </p:txBody>
      </p:sp>
      <p:sp>
        <p:nvSpPr>
          <p:cNvPr id="18" name="Text 16"/>
          <p:cNvSpPr/>
          <p:nvPr/>
        </p:nvSpPr>
        <p:spPr>
          <a:xfrm>
            <a:off x="2554605" y="3291840"/>
            <a:ext cx="3806190" cy="192024"/>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BRAZIL</a:t>
            </a:r>
            <a:endParaRPr lang="en-US" sz="1400"/>
          </a:p>
        </p:txBody>
      </p:sp>
      <p:sp>
        <p:nvSpPr>
          <p:cNvPr id="19" name="Text 17"/>
          <p:cNvSpPr/>
          <p:nvPr/>
        </p:nvSpPr>
        <p:spPr>
          <a:xfrm>
            <a:off x="2554605" y="3483864"/>
            <a:ext cx="3806190" cy="308610"/>
          </a:xfrm>
          <a:prstGeom prst="rect">
            <a:avLst/>
          </a:prstGeom>
          <a:noFill/>
          <a:ln/>
        </p:spPr>
        <p:txBody>
          <a:bodyPr wrap="square" lIns="0" tIns="0" rIns="0" bIns="0" rtlCol="0" anchor="t"/>
          <a:lstStyle/>
          <a:p>
            <a:r>
              <a:rPr lang="en-US" sz="1200" b="1">
                <a:solidFill>
                  <a:srgbClr val="1A1A1A"/>
                </a:solidFill>
                <a:latin typeface="Georgia" pitchFamily="34" charset="0"/>
                <a:ea typeface="Georgia" pitchFamily="34" charset="-122"/>
                <a:cs typeface="Georgia" pitchFamily="34" charset="-120"/>
              </a:rPr>
              <a:t>Ag Supply-Chain Contract Reform</a:t>
            </a:r>
            <a:endParaRPr lang="en-US" sz="1200"/>
          </a:p>
        </p:txBody>
      </p:sp>
      <p:sp>
        <p:nvSpPr>
          <p:cNvPr id="20" name="Text 18"/>
          <p:cNvSpPr/>
          <p:nvPr/>
        </p:nvSpPr>
        <p:spPr>
          <a:xfrm>
            <a:off x="2554605" y="3874770"/>
            <a:ext cx="3806190" cy="891540"/>
          </a:xfrm>
          <a:prstGeom prst="rect">
            <a:avLst/>
          </a:prstGeom>
          <a:noFill/>
          <a:ln/>
        </p:spPr>
        <p:txBody>
          <a:bodyPr wrap="square" lIns="0" tIns="0" rIns="0" bIns="0" rtlCol="0" anchor="t"/>
          <a:lstStyle/>
          <a:p>
            <a:pPr marL="257175" indent="-257175">
              <a:spcAft>
                <a:spcPts val="300"/>
              </a:spcAft>
              <a:buSzPct val="100000"/>
              <a:buChar char="■"/>
            </a:pPr>
            <a:r>
              <a:rPr lang="en-US" sz="1200">
                <a:solidFill>
                  <a:srgbClr val="1A1A1A"/>
                </a:solidFill>
                <a:latin typeface="Calibri" pitchFamily="34" charset="0"/>
                <a:ea typeface="Calibri" pitchFamily="34" charset="-122"/>
                <a:cs typeface="Calibri" pitchFamily="34" charset="-120"/>
              </a:rPr>
              <a:t>Signal:  16.1% loss rate (3.2× US)</a:t>
            </a:r>
            <a:endParaRPr lang="en-US" sz="1200"/>
          </a:p>
          <a:p>
            <a:pPr marL="257175" indent="-257175">
              <a:spcAft>
                <a:spcPts val="300"/>
              </a:spcAft>
              <a:buSzPct val="100000"/>
              <a:buChar char="■"/>
            </a:pPr>
            <a:r>
              <a:rPr lang="en-US" sz="1200">
                <a:solidFill>
                  <a:srgbClr val="1A1A1A"/>
                </a:solidFill>
                <a:latin typeface="Calibri" pitchFamily="34" charset="0"/>
                <a:ea typeface="Calibri" pitchFamily="34" charset="-122"/>
                <a:cs typeface="Calibri" pitchFamily="34" charset="-120"/>
              </a:rPr>
              <a:t>Lever:  embed waste milestones in B2B contracts</a:t>
            </a:r>
            <a:endParaRPr lang="en-US" sz="1200"/>
          </a:p>
          <a:p>
            <a:pPr marL="257175" indent="-257175">
              <a:spcAft>
                <a:spcPts val="300"/>
              </a:spcAft>
              <a:buSzPct val="100000"/>
              <a:buChar char="■"/>
            </a:pPr>
            <a:r>
              <a:rPr lang="en-US" sz="1200">
                <a:solidFill>
                  <a:srgbClr val="1A1A1A"/>
                </a:solidFill>
                <a:latin typeface="Calibri" pitchFamily="34" charset="0"/>
                <a:ea typeface="Calibri" pitchFamily="34" charset="-122"/>
                <a:cs typeface="Calibri" pitchFamily="34" charset="-120"/>
              </a:rPr>
              <a:t>Channel:  agribusiness ↔ cold-chain operators</a:t>
            </a:r>
            <a:endParaRPr lang="en-US" sz="1200"/>
          </a:p>
        </p:txBody>
      </p:sp>
      <p:sp>
        <p:nvSpPr>
          <p:cNvPr id="26" name="Text 24"/>
          <p:cNvSpPr/>
          <p:nvPr/>
        </p:nvSpPr>
        <p:spPr>
          <a:xfrm>
            <a:off x="411480" y="4800600"/>
            <a:ext cx="5486400" cy="205740"/>
          </a:xfrm>
          <a:prstGeom prst="rect">
            <a:avLst/>
          </a:prstGeom>
          <a:noFill/>
          <a:ln/>
        </p:spPr>
        <p:txBody>
          <a:bodyPr wrap="square" lIns="0" tIns="0" rIns="0" bIns="0" rtlCol="0" anchor="ctr"/>
          <a:lstStyle/>
          <a:p>
            <a:endParaRPr lang="en-US" sz="675"/>
          </a:p>
        </p:txBody>
      </p:sp>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3CD2-39D3-08D2-2FE3-5C5861A443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3E59A55-5AF8-1320-CDFE-8200CCB75310}"/>
              </a:ext>
            </a:extLst>
          </p:cNvPr>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4  —  IMPROVE</a:t>
            </a:r>
            <a:endParaRPr lang="en-US" sz="1400"/>
          </a:p>
        </p:txBody>
      </p:sp>
      <p:sp>
        <p:nvSpPr>
          <p:cNvPr id="3" name="Text 1">
            <a:extLst>
              <a:ext uri="{FF2B5EF4-FFF2-40B4-BE49-F238E27FC236}">
                <a16:creationId xmlns:a16="http://schemas.microsoft.com/office/drawing/2014/main" id="{AEA858A1-8101-174F-E034-1660F72828C9}"/>
              </a:ext>
            </a:extLst>
          </p:cNvPr>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B2B Strategic Recommendations</a:t>
            </a:r>
            <a:endParaRPr lang="en-US" sz="2250"/>
          </a:p>
        </p:txBody>
      </p:sp>
      <p:sp>
        <p:nvSpPr>
          <p:cNvPr id="4" name="Shape 2">
            <a:extLst>
              <a:ext uri="{FF2B5EF4-FFF2-40B4-BE49-F238E27FC236}">
                <a16:creationId xmlns:a16="http://schemas.microsoft.com/office/drawing/2014/main" id="{E69A3B73-0EC3-89A6-06EC-D1415FC6FA16}"/>
              </a:ext>
            </a:extLst>
          </p:cNvPr>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a:extLst>
              <a:ext uri="{FF2B5EF4-FFF2-40B4-BE49-F238E27FC236}">
                <a16:creationId xmlns:a16="http://schemas.microsoft.com/office/drawing/2014/main" id="{40052AC9-56B6-7DFD-8BC9-C0A3CA2BE6FD}"/>
              </a:ext>
            </a:extLst>
          </p:cNvPr>
          <p:cNvSpPr/>
          <p:nvPr/>
        </p:nvSpPr>
        <p:spPr>
          <a:xfrm>
            <a:off x="411480" y="1062990"/>
            <a:ext cx="8572500" cy="274320"/>
          </a:xfrm>
          <a:prstGeom prst="rect">
            <a:avLst/>
          </a:prstGeom>
          <a:noFill/>
          <a:ln/>
        </p:spPr>
        <p:txBody>
          <a:bodyPr wrap="square" lIns="0" tIns="0" rIns="0" bIns="0" rtlCol="0" anchor="ctr"/>
          <a:lstStyle/>
          <a:p>
            <a:endParaRPr lang="en-US" sz="1200"/>
          </a:p>
        </p:txBody>
      </p:sp>
      <p:sp>
        <p:nvSpPr>
          <p:cNvPr id="21" name="TextBox 20">
            <a:extLst>
              <a:ext uri="{FF2B5EF4-FFF2-40B4-BE49-F238E27FC236}">
                <a16:creationId xmlns:a16="http://schemas.microsoft.com/office/drawing/2014/main" id="{7AA88B0C-74CF-AEB5-2250-B8FD061EE971}"/>
              </a:ext>
            </a:extLst>
          </p:cNvPr>
          <p:cNvSpPr txBox="1"/>
          <p:nvPr/>
        </p:nvSpPr>
        <p:spPr>
          <a:xfrm>
            <a:off x="763571" y="1337310"/>
            <a:ext cx="7475456" cy="2862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t>The data set provided doesn’t have enough information for us to provide recommendations. Therefore…</a:t>
            </a:r>
          </a:p>
          <a:p>
            <a:pPr marL="285750" indent="-285750">
              <a:lnSpc>
                <a:spcPct val="150000"/>
              </a:lnSpc>
              <a:buFont typeface="Arial" panose="020B0604020202020204" pitchFamily="34" charset="0"/>
              <a:buChar char="•"/>
            </a:pPr>
            <a:r>
              <a:rPr lang="en-US"/>
              <a:t>We recommend that further research is conducted to look specifically at reasons why food waste is so prevalent. </a:t>
            </a:r>
          </a:p>
          <a:p>
            <a:pPr marL="285750" indent="-285750">
              <a:lnSpc>
                <a:spcPct val="150000"/>
              </a:lnSpc>
              <a:buFont typeface="Arial" panose="020B0604020202020204" pitchFamily="34" charset="0"/>
              <a:buChar char="•"/>
            </a:pPr>
            <a:r>
              <a:rPr lang="en-US"/>
              <a:t>We will hire a data analyst and consultant to help conduct research.</a:t>
            </a:r>
          </a:p>
          <a:p>
            <a:pPr marL="285750" indent="-285750">
              <a:lnSpc>
                <a:spcPct val="150000"/>
              </a:lnSpc>
              <a:buFont typeface="Arial" panose="020B0604020202020204" pitchFamily="34" charset="0"/>
              <a:buChar char="•"/>
            </a:pPr>
            <a:r>
              <a:rPr lang="en-US"/>
              <a:t>Compare and contrast CV’s and SD’s from new data found </a:t>
            </a: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2873496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5  —  CONTROL</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KPI Monitoring Framework</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062990"/>
            <a:ext cx="8572500" cy="274320"/>
          </a:xfrm>
          <a:prstGeom prst="rect">
            <a:avLst/>
          </a:prstGeom>
          <a:noFill/>
          <a:ln/>
        </p:spPr>
        <p:txBody>
          <a:bodyPr wrap="square" lIns="0" tIns="0" rIns="0" bIns="0" rtlCol="0" anchor="ctr"/>
          <a:lstStyle/>
          <a:p>
            <a:r>
              <a:rPr lang="en-US" sz="1200" i="1">
                <a:latin typeface="Calibri" pitchFamily="34" charset="0"/>
                <a:ea typeface="Calibri" pitchFamily="34" charset="-122"/>
                <a:cs typeface="Calibri" pitchFamily="34" charset="-120"/>
              </a:rPr>
              <a:t>Every KPI baseline is a measured value from the FAO 2019 dataset.</a:t>
            </a:r>
            <a:endParaRPr lang="en-US" sz="1200"/>
          </a:p>
        </p:txBody>
      </p:sp>
      <p:graphicFrame>
        <p:nvGraphicFramePr>
          <p:cNvPr id="15" name="Table 0"/>
          <p:cNvGraphicFramePr>
            <a:graphicFrameLocks noGrp="1"/>
          </p:cNvGraphicFramePr>
          <p:nvPr>
            <p:extLst>
              <p:ext uri="{D42A27DB-BD31-4B8C-83A1-F6EECF244321}">
                <p14:modId xmlns:p14="http://schemas.microsoft.com/office/powerpoint/2010/main" val="3059762766"/>
              </p:ext>
            </p:extLst>
          </p:nvPr>
        </p:nvGraphicFramePr>
        <p:xfrm>
          <a:off x="411480" y="1440180"/>
          <a:ext cx="8298180" cy="2852928"/>
        </p:xfrm>
        <a:graphic>
          <a:graphicData uri="http://schemas.openxmlformats.org/drawingml/2006/table">
            <a:tbl>
              <a:tblPr/>
              <a:tblGrid>
                <a:gridCol w="30861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56616">
                <a:tc>
                  <a:txBody>
                    <a:bodyPr/>
                    <a:lstStyle/>
                    <a:p>
                      <a:pPr marL="0" indent="0">
                        <a:buNone/>
                      </a:pPr>
                      <a:r>
                        <a:rPr lang="en-US" sz="1200" b="1">
                          <a:solidFill>
                            <a:srgbClr val="FFFFFF"/>
                          </a:solidFill>
                          <a:latin typeface="Calibri" pitchFamily="34" charset="0"/>
                          <a:ea typeface="Calibri" pitchFamily="34" charset="-122"/>
                          <a:cs typeface="Calibri" pitchFamily="34" charset="-120"/>
                        </a:rPr>
                        <a:t>KPI</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r">
                        <a:buNone/>
                      </a:pPr>
                      <a:r>
                        <a:rPr lang="en-US" sz="1200" b="1">
                          <a:solidFill>
                            <a:srgbClr val="FFFFFF"/>
                          </a:solidFill>
                          <a:latin typeface="Calibri" pitchFamily="34" charset="0"/>
                          <a:ea typeface="Calibri" pitchFamily="34" charset="-122"/>
                          <a:cs typeface="Calibri" pitchFamily="34" charset="-120"/>
                        </a:rPr>
                        <a:t>2019 BASELINE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r">
                        <a:buNone/>
                      </a:pPr>
                      <a:r>
                        <a:rPr lang="en-US" sz="1200" b="1">
                          <a:solidFill>
                            <a:srgbClr val="FFFFFF"/>
                          </a:solidFill>
                          <a:latin typeface="Calibri" pitchFamily="34" charset="0"/>
                          <a:ea typeface="Calibri" pitchFamily="34" charset="-122"/>
                          <a:cs typeface="Calibri" pitchFamily="34" charset="-120"/>
                        </a:rPr>
                        <a:t>TARGET (10%)</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REVIEW CYCLE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356616">
                <a:tc>
                  <a:txBody>
                    <a:bodyPr/>
                    <a:lstStyle/>
                    <a:p>
                      <a:pPr marL="0" indent="0">
                        <a:buNone/>
                      </a:pPr>
                      <a:r>
                        <a:rPr lang="en-US" sz="1200" b="1">
                          <a:solidFill>
                            <a:srgbClr val="1A1A1A"/>
                          </a:solidFill>
                          <a:latin typeface="Calibri" pitchFamily="34" charset="0"/>
                          <a:ea typeface="Calibri" pitchFamily="34" charset="-122"/>
                          <a:cs typeface="Calibri" pitchFamily="34" charset="-120"/>
                        </a:rPr>
                        <a:t>Global SC Waste (total)</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200">
                          <a:solidFill>
                            <a:srgbClr val="1A1A1A"/>
                          </a:solidFill>
                          <a:latin typeface="Calibri" pitchFamily="34" charset="0"/>
                          <a:ea typeface="Calibri" pitchFamily="34" charset="-122"/>
                          <a:cs typeface="Calibri" pitchFamily="34" charset="-120"/>
                        </a:rPr>
                        <a:t>60.79M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200" b="1">
                          <a:solidFill>
                            <a:srgbClr val="7CB342"/>
                          </a:solidFill>
                          <a:latin typeface="Calibri" pitchFamily="34" charset="0"/>
                          <a:ea typeface="Calibri" pitchFamily="34" charset="-122"/>
                          <a:cs typeface="Calibri" pitchFamily="34" charset="-120"/>
                        </a:rPr>
                        <a:t>54.71M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Annual</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1"/>
                  </a:ext>
                </a:extLst>
              </a:tr>
              <a:tr h="356616">
                <a:tc>
                  <a:txBody>
                    <a:bodyPr/>
                    <a:lstStyle/>
                    <a:p>
                      <a:pPr marL="0" indent="0">
                        <a:buNone/>
                      </a:pPr>
                      <a:r>
                        <a:rPr lang="en-US" sz="1200" b="1">
                          <a:solidFill>
                            <a:srgbClr val="1A1A1A"/>
                          </a:solidFill>
                          <a:latin typeface="Calibri" pitchFamily="34" charset="0"/>
                          <a:ea typeface="Calibri" pitchFamily="34" charset="-122"/>
                          <a:cs typeface="Calibri" pitchFamily="34" charset="-120"/>
                        </a:rPr>
                        <a:t>Mean SC Waste per Country</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200">
                          <a:solidFill>
                            <a:srgbClr val="1A1A1A"/>
                          </a:solidFill>
                          <a:latin typeface="Calibri" pitchFamily="34" charset="0"/>
                          <a:ea typeface="Calibri" pitchFamily="34" charset="-122"/>
                          <a:cs typeface="Calibri" pitchFamily="34" charset="-120"/>
                        </a:rPr>
                        <a:t>498,295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200" b="1">
                          <a:solidFill>
                            <a:srgbClr val="7CB342"/>
                          </a:solidFill>
                          <a:latin typeface="Calibri" pitchFamily="34" charset="0"/>
                          <a:ea typeface="Calibri" pitchFamily="34" charset="-122"/>
                          <a:cs typeface="Calibri" pitchFamily="34" charset="-120"/>
                        </a:rPr>
                        <a:t>448,466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Annual</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buNone/>
                      </a:pPr>
                      <a:r>
                        <a:rPr lang="en-US" sz="1200" b="1">
                          <a:solidFill>
                            <a:srgbClr val="1A1A1A"/>
                          </a:solidFill>
                          <a:latin typeface="Calibri" pitchFamily="34" charset="0"/>
                          <a:ea typeface="Calibri" pitchFamily="34" charset="-122"/>
                          <a:cs typeface="Calibri" pitchFamily="34" charset="-120"/>
                        </a:rPr>
                        <a:t>US waste / production rate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200">
                          <a:solidFill>
                            <a:srgbClr val="1A1A1A"/>
                          </a:solidFill>
                          <a:latin typeface="Calibri" pitchFamily="34" charset="0"/>
                          <a:ea typeface="Calibri" pitchFamily="34" charset="-122"/>
                          <a:cs typeface="Calibri" pitchFamily="34" charset="-120"/>
                        </a:rPr>
                        <a:t>4.6%</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200" b="1">
                          <a:solidFill>
                            <a:srgbClr val="7CB342"/>
                          </a:solidFill>
                          <a:latin typeface="Calibri" pitchFamily="34" charset="0"/>
                          <a:ea typeface="Calibri" pitchFamily="34" charset="-122"/>
                          <a:cs typeface="Calibri" pitchFamily="34" charset="-120"/>
                        </a:rPr>
                        <a:t>4.1%</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Quarterly</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3"/>
                  </a:ext>
                </a:extLst>
              </a:tr>
              <a:tr h="356616">
                <a:tc>
                  <a:txBody>
                    <a:bodyPr/>
                    <a:lstStyle/>
                    <a:p>
                      <a:pPr marL="0" indent="0">
                        <a:buNone/>
                      </a:pPr>
                      <a:r>
                        <a:rPr lang="en-US" sz="1200" b="1">
                          <a:solidFill>
                            <a:srgbClr val="1A1A1A"/>
                          </a:solidFill>
                          <a:latin typeface="Calibri" pitchFamily="34" charset="0"/>
                          <a:ea typeface="Calibri" pitchFamily="34" charset="-122"/>
                          <a:cs typeface="Calibri" pitchFamily="34" charset="-120"/>
                        </a:rPr>
                        <a:t>China waste tonnage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200">
                          <a:solidFill>
                            <a:srgbClr val="1A1A1A"/>
                          </a:solidFill>
                          <a:latin typeface="Calibri" pitchFamily="34" charset="0"/>
                          <a:ea typeface="Calibri" pitchFamily="34" charset="-122"/>
                          <a:cs typeface="Calibri" pitchFamily="34" charset="-120"/>
                        </a:rPr>
                        <a:t>11.94M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200" b="1">
                          <a:solidFill>
                            <a:srgbClr val="7CB342"/>
                          </a:solidFill>
                          <a:latin typeface="Calibri" pitchFamily="34" charset="0"/>
                          <a:ea typeface="Calibri" pitchFamily="34" charset="-122"/>
                          <a:cs typeface="Calibri" pitchFamily="34" charset="-120"/>
                        </a:rPr>
                        <a:t>10.22M t</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Quarterly</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4"/>
                  </a:ext>
                </a:extLst>
              </a:tr>
              <a:tr h="356616">
                <a:tc>
                  <a:txBody>
                    <a:bodyPr/>
                    <a:lstStyle/>
                    <a:p>
                      <a:pPr marL="0" indent="0">
                        <a:buNone/>
                      </a:pPr>
                      <a:r>
                        <a:rPr lang="en-US" sz="1200" b="1">
                          <a:solidFill>
                            <a:srgbClr val="1A1A1A"/>
                          </a:solidFill>
                          <a:latin typeface="Calibri" pitchFamily="34" charset="0"/>
                          <a:ea typeface="Calibri" pitchFamily="34" charset="-122"/>
                          <a:cs typeface="Calibri" pitchFamily="34" charset="-120"/>
                        </a:rPr>
                        <a:t>Brazil domestic supply loss rate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200">
                          <a:solidFill>
                            <a:srgbClr val="1A1A1A"/>
                          </a:solidFill>
                          <a:latin typeface="Calibri" pitchFamily="34" charset="0"/>
                          <a:ea typeface="Calibri" pitchFamily="34" charset="-122"/>
                          <a:cs typeface="Calibri" pitchFamily="34" charset="-120"/>
                        </a:rPr>
                        <a:t>16.1%</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200" b="1">
                          <a:solidFill>
                            <a:srgbClr val="7CB342"/>
                          </a:solidFill>
                          <a:latin typeface="Calibri" pitchFamily="34" charset="0"/>
                          <a:ea typeface="Calibri" pitchFamily="34" charset="-122"/>
                          <a:cs typeface="Calibri" pitchFamily="34" charset="-120"/>
                        </a:rPr>
                        <a:t>14.5%</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Quarterly</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5"/>
                  </a:ext>
                </a:extLst>
              </a:tr>
              <a:tr h="356616">
                <a:tc>
                  <a:txBody>
                    <a:bodyPr/>
                    <a:lstStyle/>
                    <a:p>
                      <a:pPr marL="0" indent="0">
                        <a:buNone/>
                      </a:pPr>
                      <a:r>
                        <a:rPr lang="en-US" sz="1200" b="1">
                          <a:solidFill>
                            <a:srgbClr val="1A1A1A"/>
                          </a:solidFill>
                          <a:latin typeface="Calibri" pitchFamily="34" charset="0"/>
                          <a:ea typeface="Calibri" pitchFamily="34" charset="-122"/>
                          <a:cs typeface="Calibri" pitchFamily="34" charset="-120"/>
                        </a:rPr>
                        <a:t>Mexico waste / production rate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200">
                          <a:solidFill>
                            <a:srgbClr val="1A1A1A"/>
                          </a:solidFill>
                          <a:latin typeface="Calibri" pitchFamily="34" charset="0"/>
                          <a:ea typeface="Calibri" pitchFamily="34" charset="-122"/>
                          <a:cs typeface="Calibri" pitchFamily="34" charset="-120"/>
                        </a:rPr>
                        <a:t>18.4%</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r">
                        <a:buNone/>
                      </a:pPr>
                      <a:r>
                        <a:rPr lang="en-US" sz="1200" b="1">
                          <a:solidFill>
                            <a:srgbClr val="7CB342"/>
                          </a:solidFill>
                          <a:latin typeface="Calibri" pitchFamily="34" charset="0"/>
                          <a:ea typeface="Calibri" pitchFamily="34" charset="-122"/>
                          <a:cs typeface="Calibri" pitchFamily="34" charset="-120"/>
                        </a:rPr>
                        <a:t>16.6%</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Quarterly</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tcPr>
                </a:tc>
                <a:extLst>
                  <a:ext uri="{0D108BD9-81ED-4DB2-BD59-A6C34878D82A}">
                    <a16:rowId xmlns:a16="http://schemas.microsoft.com/office/drawing/2014/main" val="10006"/>
                  </a:ext>
                </a:extLst>
              </a:tr>
              <a:tr h="356616">
                <a:tc>
                  <a:txBody>
                    <a:bodyPr/>
                    <a:lstStyle/>
                    <a:p>
                      <a:pPr marL="0" indent="0">
                        <a:buNone/>
                      </a:pPr>
                      <a:r>
                        <a:rPr lang="en-US" sz="1200" b="1">
                          <a:solidFill>
                            <a:srgbClr val="1A1A1A"/>
                          </a:solidFill>
                          <a:latin typeface="Calibri" pitchFamily="34" charset="0"/>
                          <a:ea typeface="Calibri" pitchFamily="34" charset="-122"/>
                          <a:cs typeface="Calibri" pitchFamily="34" charset="-120"/>
                        </a:rPr>
                        <a:t>Variance check: CV on top-4 share</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200">
                          <a:solidFill>
                            <a:srgbClr val="1A1A1A"/>
                          </a:solidFill>
                          <a:latin typeface="Calibri" pitchFamily="34" charset="0"/>
                          <a:ea typeface="Calibri" pitchFamily="34" charset="-122"/>
                          <a:cs typeface="Calibri" pitchFamily="34" charset="-120"/>
                        </a:rPr>
                        <a:t>70.7% concentration</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r">
                        <a:buNone/>
                      </a:pPr>
                      <a:r>
                        <a:rPr lang="en-US" sz="1200" b="1">
                          <a:solidFill>
                            <a:srgbClr val="7CB342"/>
                          </a:solidFill>
                          <a:latin typeface="Calibri" pitchFamily="34" charset="0"/>
                          <a:ea typeface="Calibri" pitchFamily="34" charset="-122"/>
                          <a:cs typeface="Calibri" pitchFamily="34" charset="-120"/>
                        </a:rPr>
                        <a:t>≤ 65% concentration</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tc>
                  <a:txBody>
                    <a:bodyPr/>
                    <a:lstStyle/>
                    <a:p>
                      <a:pPr marL="0" indent="0" algn="ctr">
                        <a:buNone/>
                      </a:pPr>
                      <a:r>
                        <a:rPr lang="en-US" sz="1200">
                          <a:solidFill>
                            <a:srgbClr val="1A1A1A"/>
                          </a:solidFill>
                          <a:latin typeface="Calibri" pitchFamily="34" charset="0"/>
                          <a:ea typeface="Calibri" pitchFamily="34" charset="-122"/>
                          <a:cs typeface="Calibri" pitchFamily="34" charset="-120"/>
                        </a:rPr>
                        <a:t>Annual</a:t>
                      </a:r>
                      <a:endParaRPr lang="en-US" sz="1200">
                        <a:latin typeface="Calibri" charset="0"/>
                        <a:ea typeface="Calibri" charset="0"/>
                        <a:cs typeface="Calibri" charset="0"/>
                      </a:endParaRPr>
                    </a:p>
                  </a:txBody>
                  <a:tcPr marL="68580" marR="68580" marT="34290" marB="34290" anchor="ctr">
                    <a:lnL w="6350" cap="flat" cmpd="sng" algn="ctr">
                      <a:solidFill>
                        <a:srgbClr val="DCD4BE"/>
                      </a:solidFill>
                      <a:prstDash val="solid"/>
                      <a:round/>
                      <a:headEnd type="none" w="med" len="med"/>
                      <a:tailEnd type="none" w="med" len="med"/>
                    </a:lnL>
                    <a:lnR w="6350" cap="flat" cmpd="sng" algn="ctr">
                      <a:solidFill>
                        <a:srgbClr val="DCD4BE"/>
                      </a:solidFill>
                      <a:prstDash val="solid"/>
                      <a:round/>
                      <a:headEnd type="none" w="med" len="med"/>
                      <a:tailEnd type="none" w="med" len="med"/>
                    </a:lnR>
                    <a:lnT w="6350" cap="flat" cmpd="sng" algn="ctr">
                      <a:solidFill>
                        <a:srgbClr val="DCD4BE"/>
                      </a:solidFill>
                      <a:prstDash val="solid"/>
                      <a:round/>
                      <a:headEnd type="none" w="med" len="med"/>
                      <a:tailEnd type="none" w="med" len="med"/>
                    </a:lnT>
                    <a:lnB w="6350" cap="flat" cmpd="sng" algn="ctr">
                      <a:solidFill>
                        <a:srgbClr val="DCD4BE"/>
                      </a:solidFill>
                      <a:prstDash val="solid"/>
                      <a:round/>
                      <a:headEnd type="none" w="med" len="med"/>
                      <a:tailEnd type="none" w="med" len="med"/>
                    </a:lnB>
                    <a:solidFill>
                      <a:srgbClr val="F5EDD6"/>
                    </a:solidFill>
                  </a:tcPr>
                </a:tc>
                <a:extLst>
                  <a:ext uri="{0D108BD9-81ED-4DB2-BD59-A6C34878D82A}">
                    <a16:rowId xmlns:a16="http://schemas.microsoft.com/office/drawing/2014/main" val="10007"/>
                  </a:ext>
                </a:extLst>
              </a:tr>
            </a:tbl>
          </a:graphicData>
        </a:graphic>
      </p:graphicFrame>
      <p:sp>
        <p:nvSpPr>
          <p:cNvPr id="7" name="Text 4"/>
          <p:cNvSpPr/>
          <p:nvPr/>
        </p:nvSpPr>
        <p:spPr>
          <a:xfrm>
            <a:off x="411480" y="4594860"/>
            <a:ext cx="8298180" cy="342900"/>
          </a:xfrm>
          <a:prstGeom prst="rect">
            <a:avLst/>
          </a:prstGeom>
          <a:noFill/>
          <a:ln/>
        </p:spPr>
        <p:txBody>
          <a:bodyPr wrap="square" lIns="0" tIns="0" rIns="0" bIns="0" rtlCol="0" anchor="ctr"/>
          <a:lstStyle/>
          <a:p>
            <a:endParaRPr lang="en-US" sz="82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STEP 5  —  CONTROL</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Control Plan: Monitor Before Action</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Shape 3"/>
          <p:cNvSpPr/>
          <p:nvPr/>
        </p:nvSpPr>
        <p:spPr>
          <a:xfrm>
            <a:off x="411480" y="1474470"/>
            <a:ext cx="4149090" cy="1645920"/>
          </a:xfrm>
          <a:prstGeom prst="rect">
            <a:avLst/>
          </a:prstGeom>
          <a:solidFill>
            <a:srgbClr val="FFFFFF"/>
          </a:solidFill>
          <a:ln w="6350">
            <a:solidFill>
              <a:srgbClr val="DCD4BE"/>
            </a:solidFill>
            <a:prstDash val="solid"/>
          </a:ln>
        </p:spPr>
        <p:txBody>
          <a:bodyPr/>
          <a:lstStyle/>
          <a:p>
            <a:endParaRPr lang="en-US" sz="1350"/>
          </a:p>
        </p:txBody>
      </p:sp>
      <p:sp>
        <p:nvSpPr>
          <p:cNvPr id="6" name="Shape 4"/>
          <p:cNvSpPr/>
          <p:nvPr/>
        </p:nvSpPr>
        <p:spPr>
          <a:xfrm>
            <a:off x="411480" y="1474470"/>
            <a:ext cx="4149090" cy="54864"/>
          </a:xfrm>
          <a:prstGeom prst="rect">
            <a:avLst/>
          </a:prstGeom>
          <a:solidFill>
            <a:srgbClr val="93C172"/>
          </a:solidFill>
          <a:ln w="12700">
            <a:solidFill>
              <a:srgbClr val="93C172"/>
            </a:solidFill>
            <a:prstDash val="solid"/>
          </a:ln>
        </p:spPr>
        <p:txBody>
          <a:bodyPr/>
          <a:lstStyle/>
          <a:p>
            <a:endParaRPr lang="en-US" sz="1350"/>
          </a:p>
        </p:txBody>
      </p:sp>
      <p:sp>
        <p:nvSpPr>
          <p:cNvPr id="7" name="Text 5"/>
          <p:cNvSpPr/>
          <p:nvPr/>
        </p:nvSpPr>
        <p:spPr>
          <a:xfrm>
            <a:off x="617220" y="1611630"/>
            <a:ext cx="3806190" cy="205740"/>
          </a:xfrm>
          <a:prstGeom prst="rect">
            <a:avLst/>
          </a:prstGeom>
          <a:noFill/>
          <a:ln/>
        </p:spPr>
        <p:txBody>
          <a:bodyPr wrap="square" lIns="0" tIns="0" rIns="0" bIns="0" rtlCol="0" anchor="ctr"/>
          <a:lstStyle/>
          <a:p>
            <a:r>
              <a:rPr lang="en-US" sz="1400" b="1" kern="0" spc="300">
                <a:solidFill>
                  <a:srgbClr val="93C172"/>
                </a:solidFill>
                <a:latin typeface="Calibri" pitchFamily="34" charset="0"/>
                <a:ea typeface="Calibri" pitchFamily="34" charset="-122"/>
                <a:cs typeface="Calibri" pitchFamily="34" charset="-120"/>
              </a:rPr>
              <a:t>FOCUS</a:t>
            </a:r>
            <a:endParaRPr lang="en-US" sz="1400"/>
          </a:p>
        </p:txBody>
      </p:sp>
      <p:sp>
        <p:nvSpPr>
          <p:cNvPr id="8" name="Text 6"/>
          <p:cNvSpPr/>
          <p:nvPr/>
        </p:nvSpPr>
        <p:spPr>
          <a:xfrm>
            <a:off x="617220" y="1817370"/>
            <a:ext cx="3806190" cy="308610"/>
          </a:xfrm>
          <a:prstGeom prst="rect">
            <a:avLst/>
          </a:prstGeom>
          <a:noFill/>
          <a:ln/>
        </p:spPr>
        <p:txBody>
          <a:bodyPr wrap="square" lIns="0" tIns="0" rIns="0" bIns="0" rtlCol="0" anchor="ctr"/>
          <a:lstStyle/>
          <a:p>
            <a:r>
              <a:rPr lang="en-US" sz="1400" b="1">
                <a:solidFill>
                  <a:srgbClr val="1A1A1A"/>
                </a:solidFill>
                <a:latin typeface="Georgia" pitchFamily="34" charset="0"/>
                <a:ea typeface="Georgia" pitchFamily="34" charset="-122"/>
                <a:cs typeface="Georgia" pitchFamily="34" charset="-120"/>
              </a:rPr>
              <a:t>Target the Top 3 Countries</a:t>
            </a:r>
            <a:endParaRPr lang="en-US" sz="1400"/>
          </a:p>
        </p:txBody>
      </p:sp>
      <p:sp>
        <p:nvSpPr>
          <p:cNvPr id="9" name="Text 7"/>
          <p:cNvSpPr/>
          <p:nvPr/>
        </p:nvSpPr>
        <p:spPr>
          <a:xfrm>
            <a:off x="617220" y="2194560"/>
            <a:ext cx="3806190" cy="891540"/>
          </a:xfrm>
          <a:prstGeom prst="rect">
            <a:avLst/>
          </a:prstGeom>
          <a:noFill/>
          <a:ln/>
        </p:spPr>
        <p:txBody>
          <a:bodyPr wrap="square" lIns="0" tIns="0" rIns="0" bIns="0" rtlCol="0" anchor="t"/>
          <a:lstStyle/>
          <a:p>
            <a:pPr marL="257175" indent="-257175">
              <a:spcAft>
                <a:spcPts val="450"/>
              </a:spcAft>
              <a:buSzPct val="100000"/>
              <a:buChar char="■"/>
            </a:pPr>
            <a:r>
              <a:rPr lang="en-US" sz="1200">
                <a:solidFill>
                  <a:srgbClr val="1A1A1A"/>
                </a:solidFill>
                <a:latin typeface="Calibri" pitchFamily="34" charset="0"/>
                <a:ea typeface="Calibri" pitchFamily="34" charset="-122"/>
                <a:cs typeface="Calibri" pitchFamily="34" charset="-120"/>
              </a:rPr>
              <a:t>U.S., China, and Brazil</a:t>
            </a:r>
          </a:p>
          <a:p>
            <a:pPr marL="257175" indent="-257175">
              <a:spcAft>
                <a:spcPts val="450"/>
              </a:spcAft>
              <a:buSzPct val="100000"/>
              <a:buChar char="■"/>
            </a:pPr>
            <a:r>
              <a:rPr lang="en-US" sz="1200">
                <a:solidFill>
                  <a:srgbClr val="1A1A1A"/>
                </a:solidFill>
                <a:latin typeface="Calibri" pitchFamily="34" charset="0"/>
                <a:ea typeface="Calibri" pitchFamily="34" charset="-122"/>
                <a:cs typeface="Calibri" pitchFamily="34" charset="-120"/>
              </a:rPr>
              <a:t>Focuses on where waste is most concentrated</a:t>
            </a:r>
          </a:p>
          <a:p>
            <a:pPr marL="257175" indent="-257175">
              <a:spcAft>
                <a:spcPts val="450"/>
              </a:spcAft>
              <a:buSzPct val="100000"/>
              <a:buChar char="■"/>
            </a:pPr>
            <a:endParaRPr lang="en-US" sz="1200"/>
          </a:p>
        </p:txBody>
      </p:sp>
      <p:sp>
        <p:nvSpPr>
          <p:cNvPr id="10" name="Shape 8"/>
          <p:cNvSpPr/>
          <p:nvPr/>
        </p:nvSpPr>
        <p:spPr>
          <a:xfrm>
            <a:off x="4663440" y="1474470"/>
            <a:ext cx="4149090" cy="1645920"/>
          </a:xfrm>
          <a:prstGeom prst="rect">
            <a:avLst/>
          </a:prstGeom>
          <a:solidFill>
            <a:srgbClr val="FFFFFF"/>
          </a:solidFill>
          <a:ln w="6350">
            <a:solidFill>
              <a:srgbClr val="DCD4BE"/>
            </a:solidFill>
            <a:prstDash val="solid"/>
          </a:ln>
        </p:spPr>
        <p:txBody>
          <a:bodyPr/>
          <a:lstStyle/>
          <a:p>
            <a:endParaRPr lang="en-US" sz="1350"/>
          </a:p>
        </p:txBody>
      </p:sp>
      <p:sp>
        <p:nvSpPr>
          <p:cNvPr id="11" name="Shape 9"/>
          <p:cNvSpPr/>
          <p:nvPr/>
        </p:nvSpPr>
        <p:spPr>
          <a:xfrm>
            <a:off x="4663440" y="1474470"/>
            <a:ext cx="4149090" cy="54864"/>
          </a:xfrm>
          <a:prstGeom prst="rect">
            <a:avLst/>
          </a:prstGeom>
          <a:solidFill>
            <a:srgbClr val="93C172"/>
          </a:solidFill>
          <a:ln w="12700">
            <a:solidFill>
              <a:srgbClr val="93C172"/>
            </a:solidFill>
            <a:prstDash val="solid"/>
          </a:ln>
        </p:spPr>
        <p:txBody>
          <a:bodyPr/>
          <a:lstStyle/>
          <a:p>
            <a:endParaRPr lang="en-US" sz="1350"/>
          </a:p>
        </p:txBody>
      </p:sp>
      <p:sp>
        <p:nvSpPr>
          <p:cNvPr id="12" name="Text 10"/>
          <p:cNvSpPr/>
          <p:nvPr/>
        </p:nvSpPr>
        <p:spPr>
          <a:xfrm>
            <a:off x="4869180" y="1611630"/>
            <a:ext cx="3806190" cy="205740"/>
          </a:xfrm>
          <a:prstGeom prst="rect">
            <a:avLst/>
          </a:prstGeom>
          <a:noFill/>
          <a:ln/>
        </p:spPr>
        <p:txBody>
          <a:bodyPr wrap="square" lIns="0" tIns="0" rIns="0" bIns="0" rtlCol="0" anchor="ctr"/>
          <a:lstStyle/>
          <a:p>
            <a:r>
              <a:rPr lang="en-US" sz="1400" b="1" kern="0" spc="300">
                <a:solidFill>
                  <a:srgbClr val="93C172"/>
                </a:solidFill>
                <a:latin typeface="Calibri" pitchFamily="34" charset="0"/>
                <a:ea typeface="Calibri" pitchFamily="34" charset="-122"/>
                <a:cs typeface="Calibri" pitchFamily="34" charset="-120"/>
              </a:rPr>
              <a:t>REPORTING</a:t>
            </a:r>
            <a:endParaRPr lang="en-US" sz="1400"/>
          </a:p>
        </p:txBody>
      </p:sp>
      <p:sp>
        <p:nvSpPr>
          <p:cNvPr id="13" name="Text 11"/>
          <p:cNvSpPr/>
          <p:nvPr/>
        </p:nvSpPr>
        <p:spPr>
          <a:xfrm>
            <a:off x="4869180" y="1817370"/>
            <a:ext cx="3806190" cy="308610"/>
          </a:xfrm>
          <a:prstGeom prst="rect">
            <a:avLst/>
          </a:prstGeom>
          <a:noFill/>
          <a:ln/>
        </p:spPr>
        <p:txBody>
          <a:bodyPr wrap="square" lIns="0" tIns="0" rIns="0" bIns="0" rtlCol="0" anchor="ctr"/>
          <a:lstStyle/>
          <a:p>
            <a:r>
              <a:rPr lang="en-US" sz="1400" b="1">
                <a:solidFill>
                  <a:srgbClr val="1A1A1A"/>
                </a:solidFill>
                <a:latin typeface="Georgia" pitchFamily="34" charset="0"/>
              </a:rPr>
              <a:t>Quarterly KPI Scorecard</a:t>
            </a:r>
            <a:endParaRPr lang="en-US" sz="1400"/>
          </a:p>
        </p:txBody>
      </p:sp>
      <p:sp>
        <p:nvSpPr>
          <p:cNvPr id="14" name="Text 12"/>
          <p:cNvSpPr/>
          <p:nvPr/>
        </p:nvSpPr>
        <p:spPr>
          <a:xfrm>
            <a:off x="4869180" y="2194560"/>
            <a:ext cx="3806190" cy="891540"/>
          </a:xfrm>
          <a:prstGeom prst="rect">
            <a:avLst/>
          </a:prstGeom>
          <a:noFill/>
          <a:ln/>
        </p:spPr>
        <p:txBody>
          <a:bodyPr wrap="square" lIns="0" tIns="0" rIns="0" bIns="0" rtlCol="0" anchor="t"/>
          <a:lstStyle/>
          <a:p>
            <a:pPr marL="257175" indent="-257175">
              <a:spcAft>
                <a:spcPts val="450"/>
              </a:spcAft>
              <a:buSzPct val="100000"/>
              <a:buChar char="■"/>
            </a:pPr>
            <a:r>
              <a:rPr lang="en-US" sz="1200">
                <a:solidFill>
                  <a:srgbClr val="1A1A1A"/>
                </a:solidFill>
                <a:latin typeface="Calibri" pitchFamily="34" charset="0"/>
                <a:ea typeface="Calibri" pitchFamily="34" charset="-122"/>
                <a:cs typeface="Calibri" pitchFamily="34" charset="-120"/>
              </a:rPr>
              <a:t>Track tonnage, waste rate, per-capita waste</a:t>
            </a:r>
          </a:p>
          <a:p>
            <a:pPr marL="257175" indent="-257175">
              <a:spcAft>
                <a:spcPts val="450"/>
              </a:spcAft>
              <a:buSzPct val="100000"/>
              <a:buChar char="■"/>
            </a:pPr>
            <a:r>
              <a:rPr lang="en-US" sz="1200">
                <a:solidFill>
                  <a:srgbClr val="1A1A1A"/>
                </a:solidFill>
                <a:latin typeface="Calibri" pitchFamily="34" charset="0"/>
                <a:ea typeface="Calibri" pitchFamily="34" charset="-122"/>
                <a:cs typeface="Calibri" pitchFamily="34" charset="-120"/>
              </a:rPr>
              <a:t>Check whether the 10% gap is shrinking</a:t>
            </a:r>
            <a:endParaRPr lang="en-US" sz="1200"/>
          </a:p>
        </p:txBody>
      </p:sp>
      <p:sp>
        <p:nvSpPr>
          <p:cNvPr id="15" name="Shape 13"/>
          <p:cNvSpPr/>
          <p:nvPr/>
        </p:nvSpPr>
        <p:spPr>
          <a:xfrm>
            <a:off x="411480" y="3223260"/>
            <a:ext cx="4149090" cy="1645920"/>
          </a:xfrm>
          <a:prstGeom prst="rect">
            <a:avLst/>
          </a:prstGeom>
          <a:solidFill>
            <a:srgbClr val="FFFFFF"/>
          </a:solidFill>
          <a:ln w="6350">
            <a:solidFill>
              <a:srgbClr val="DCD4BE"/>
            </a:solidFill>
            <a:prstDash val="solid"/>
          </a:ln>
        </p:spPr>
        <p:txBody>
          <a:bodyPr/>
          <a:lstStyle/>
          <a:p>
            <a:endParaRPr lang="en-US" sz="1350"/>
          </a:p>
        </p:txBody>
      </p:sp>
      <p:sp>
        <p:nvSpPr>
          <p:cNvPr id="16" name="Shape 14"/>
          <p:cNvSpPr/>
          <p:nvPr/>
        </p:nvSpPr>
        <p:spPr>
          <a:xfrm>
            <a:off x="411480" y="3223260"/>
            <a:ext cx="4149090" cy="54864"/>
          </a:xfrm>
          <a:prstGeom prst="rect">
            <a:avLst/>
          </a:prstGeom>
          <a:solidFill>
            <a:srgbClr val="93C172"/>
          </a:solidFill>
          <a:ln w="12700">
            <a:solidFill>
              <a:srgbClr val="93C172"/>
            </a:solidFill>
            <a:prstDash val="solid"/>
          </a:ln>
        </p:spPr>
        <p:txBody>
          <a:bodyPr/>
          <a:lstStyle/>
          <a:p>
            <a:endParaRPr lang="en-US" sz="1350"/>
          </a:p>
        </p:txBody>
      </p:sp>
      <p:sp>
        <p:nvSpPr>
          <p:cNvPr id="17" name="Text 15"/>
          <p:cNvSpPr/>
          <p:nvPr/>
        </p:nvSpPr>
        <p:spPr>
          <a:xfrm>
            <a:off x="617220" y="3360420"/>
            <a:ext cx="3806190" cy="205740"/>
          </a:xfrm>
          <a:prstGeom prst="rect">
            <a:avLst/>
          </a:prstGeom>
          <a:noFill/>
          <a:ln/>
        </p:spPr>
        <p:txBody>
          <a:bodyPr wrap="square" lIns="0" tIns="0" rIns="0" bIns="0" rtlCol="0" anchor="ctr"/>
          <a:lstStyle/>
          <a:p>
            <a:r>
              <a:rPr lang="en-US" sz="1400" b="1" kern="0" spc="300">
                <a:solidFill>
                  <a:srgbClr val="93C172"/>
                </a:solidFill>
                <a:latin typeface="Calibri" pitchFamily="34" charset="0"/>
                <a:ea typeface="Calibri" pitchFamily="34" charset="-122"/>
                <a:cs typeface="Calibri" pitchFamily="34" charset="-120"/>
              </a:rPr>
              <a:t>ANALYSIS</a:t>
            </a:r>
            <a:endParaRPr lang="en-US" sz="1400"/>
          </a:p>
        </p:txBody>
      </p:sp>
      <p:sp>
        <p:nvSpPr>
          <p:cNvPr id="18" name="Text 16"/>
          <p:cNvSpPr/>
          <p:nvPr/>
        </p:nvSpPr>
        <p:spPr>
          <a:xfrm>
            <a:off x="617220" y="3566160"/>
            <a:ext cx="3806190" cy="308610"/>
          </a:xfrm>
          <a:prstGeom prst="rect">
            <a:avLst/>
          </a:prstGeom>
          <a:noFill/>
          <a:ln/>
        </p:spPr>
        <p:txBody>
          <a:bodyPr wrap="square" lIns="0" tIns="0" rIns="0" bIns="0" rtlCol="0" anchor="ctr"/>
          <a:lstStyle/>
          <a:p>
            <a:r>
              <a:rPr lang="en-US" sz="1350" b="1">
                <a:solidFill>
                  <a:srgbClr val="1A1A1A"/>
                </a:solidFill>
                <a:latin typeface="Georgia" pitchFamily="34" charset="0"/>
              </a:rPr>
              <a:t>Collect </a:t>
            </a:r>
            <a:r>
              <a:rPr lang="en-US" sz="1400" b="1">
                <a:solidFill>
                  <a:srgbClr val="1A1A1A"/>
                </a:solidFill>
                <a:latin typeface="Georgia" pitchFamily="34" charset="0"/>
              </a:rPr>
              <a:t>Cause-Level</a:t>
            </a:r>
            <a:r>
              <a:rPr lang="en-US" sz="1350" b="1">
                <a:solidFill>
                  <a:srgbClr val="1A1A1A"/>
                </a:solidFill>
                <a:latin typeface="Georgia" pitchFamily="34" charset="0"/>
              </a:rPr>
              <a:t> Data</a:t>
            </a:r>
            <a:endParaRPr lang="en-US" sz="1350"/>
          </a:p>
        </p:txBody>
      </p:sp>
      <p:sp>
        <p:nvSpPr>
          <p:cNvPr id="19" name="Text 17"/>
          <p:cNvSpPr/>
          <p:nvPr/>
        </p:nvSpPr>
        <p:spPr>
          <a:xfrm>
            <a:off x="617220" y="3943350"/>
            <a:ext cx="3806190" cy="891540"/>
          </a:xfrm>
          <a:prstGeom prst="rect">
            <a:avLst/>
          </a:prstGeom>
          <a:noFill/>
          <a:ln/>
        </p:spPr>
        <p:txBody>
          <a:bodyPr wrap="square" lIns="0" tIns="0" rIns="0" bIns="0" rtlCol="0" anchor="t"/>
          <a:lstStyle/>
          <a:p>
            <a:pPr marL="257175" indent="-257175">
              <a:spcAft>
                <a:spcPts val="450"/>
              </a:spcAft>
              <a:buSzPct val="100000"/>
              <a:buChar char="■"/>
            </a:pPr>
            <a:r>
              <a:rPr lang="en-US" sz="1200">
                <a:solidFill>
                  <a:srgbClr val="1A1A1A"/>
                </a:solidFill>
                <a:latin typeface="Calibri" pitchFamily="34" charset="0"/>
                <a:ea typeface="Calibri" pitchFamily="34" charset="-122"/>
                <a:cs typeface="Calibri" pitchFamily="34" charset="-120"/>
              </a:rPr>
              <a:t>Identify food type, waste stage, and location</a:t>
            </a:r>
          </a:p>
          <a:p>
            <a:pPr marL="257175" indent="-257175">
              <a:spcAft>
                <a:spcPts val="450"/>
              </a:spcAft>
              <a:buSzPct val="100000"/>
              <a:buChar char="■"/>
            </a:pPr>
            <a:r>
              <a:rPr lang="en-US" sz="1200">
                <a:solidFill>
                  <a:srgbClr val="1A1A1A"/>
                </a:solidFill>
                <a:latin typeface="Calibri" pitchFamily="34" charset="0"/>
                <a:ea typeface="Calibri" pitchFamily="34" charset="-122"/>
                <a:cs typeface="Calibri" pitchFamily="34" charset="-120"/>
              </a:rPr>
              <a:t>Avoid unsupported operational solutions (for now)</a:t>
            </a:r>
            <a:endParaRPr lang="en-US" sz="1200"/>
          </a:p>
        </p:txBody>
      </p:sp>
      <p:sp>
        <p:nvSpPr>
          <p:cNvPr id="20" name="Shape 18"/>
          <p:cNvSpPr/>
          <p:nvPr/>
        </p:nvSpPr>
        <p:spPr>
          <a:xfrm>
            <a:off x="4663440" y="3022600"/>
            <a:ext cx="4149090" cy="1645920"/>
          </a:xfrm>
          <a:prstGeom prst="rect">
            <a:avLst/>
          </a:prstGeom>
          <a:solidFill>
            <a:srgbClr val="FFFFFF"/>
          </a:solidFill>
          <a:ln w="6350">
            <a:solidFill>
              <a:srgbClr val="DCD4BE"/>
            </a:solidFill>
            <a:prstDash val="solid"/>
          </a:ln>
        </p:spPr>
        <p:txBody>
          <a:bodyPr/>
          <a:lstStyle/>
          <a:p>
            <a:endParaRPr lang="en-US" sz="1350"/>
          </a:p>
        </p:txBody>
      </p:sp>
      <p:sp>
        <p:nvSpPr>
          <p:cNvPr id="21" name="Shape 19"/>
          <p:cNvSpPr/>
          <p:nvPr/>
        </p:nvSpPr>
        <p:spPr>
          <a:xfrm>
            <a:off x="4663440" y="3223260"/>
            <a:ext cx="4149090" cy="54864"/>
          </a:xfrm>
          <a:prstGeom prst="rect">
            <a:avLst/>
          </a:prstGeom>
          <a:solidFill>
            <a:srgbClr val="93C172"/>
          </a:solidFill>
          <a:ln w="12700">
            <a:solidFill>
              <a:srgbClr val="93C172"/>
            </a:solidFill>
            <a:prstDash val="solid"/>
          </a:ln>
        </p:spPr>
        <p:txBody>
          <a:bodyPr/>
          <a:lstStyle/>
          <a:p>
            <a:endParaRPr lang="en-US" sz="1350"/>
          </a:p>
        </p:txBody>
      </p:sp>
      <p:sp>
        <p:nvSpPr>
          <p:cNvPr id="22" name="Text 20"/>
          <p:cNvSpPr/>
          <p:nvPr/>
        </p:nvSpPr>
        <p:spPr>
          <a:xfrm>
            <a:off x="4869180" y="3360420"/>
            <a:ext cx="3806190" cy="205740"/>
          </a:xfrm>
          <a:prstGeom prst="rect">
            <a:avLst/>
          </a:prstGeom>
          <a:noFill/>
          <a:ln/>
        </p:spPr>
        <p:txBody>
          <a:bodyPr wrap="square" lIns="0" tIns="0" rIns="0" bIns="0" rtlCol="0" anchor="ctr"/>
          <a:lstStyle/>
          <a:p>
            <a:r>
              <a:rPr lang="en-US" sz="1400" b="1" kern="0" spc="300">
                <a:solidFill>
                  <a:srgbClr val="93C172"/>
                </a:solidFill>
                <a:latin typeface="Calibri" pitchFamily="34" charset="0"/>
                <a:ea typeface="Calibri" pitchFamily="34" charset="-122"/>
                <a:cs typeface="Calibri" pitchFamily="34" charset="-120"/>
              </a:rPr>
              <a:t>REVIEW</a:t>
            </a:r>
            <a:endParaRPr lang="en-US" sz="1400"/>
          </a:p>
        </p:txBody>
      </p:sp>
      <p:sp>
        <p:nvSpPr>
          <p:cNvPr id="23" name="Text 21"/>
          <p:cNvSpPr/>
          <p:nvPr/>
        </p:nvSpPr>
        <p:spPr>
          <a:xfrm>
            <a:off x="4869180" y="3566160"/>
            <a:ext cx="3806190" cy="308610"/>
          </a:xfrm>
          <a:prstGeom prst="rect">
            <a:avLst/>
          </a:prstGeom>
          <a:noFill/>
          <a:ln/>
        </p:spPr>
        <p:txBody>
          <a:bodyPr wrap="square" lIns="0" tIns="0" rIns="0" bIns="0" rtlCol="0" anchor="ctr"/>
          <a:lstStyle/>
          <a:p>
            <a:r>
              <a:rPr lang="en-US" sz="1400" b="1">
                <a:solidFill>
                  <a:srgbClr val="1A1A1A"/>
                </a:solidFill>
                <a:latin typeface="Georgia" pitchFamily="34" charset="0"/>
                <a:ea typeface="Georgia" pitchFamily="34" charset="-122"/>
                <a:cs typeface="Georgia" pitchFamily="34" charset="-120"/>
              </a:rPr>
              <a:t>Adjust the Strategy</a:t>
            </a:r>
            <a:endParaRPr lang="en-US" sz="1400"/>
          </a:p>
        </p:txBody>
      </p:sp>
      <p:sp>
        <p:nvSpPr>
          <p:cNvPr id="24" name="Text 22"/>
          <p:cNvSpPr/>
          <p:nvPr/>
        </p:nvSpPr>
        <p:spPr>
          <a:xfrm>
            <a:off x="4869180" y="3943350"/>
            <a:ext cx="3806190" cy="891540"/>
          </a:xfrm>
          <a:prstGeom prst="rect">
            <a:avLst/>
          </a:prstGeom>
          <a:noFill/>
          <a:ln/>
        </p:spPr>
        <p:txBody>
          <a:bodyPr wrap="square" lIns="0" tIns="0" rIns="0" bIns="0" rtlCol="0" anchor="t"/>
          <a:lstStyle/>
          <a:p>
            <a:pPr marL="257175" indent="-257175">
              <a:spcAft>
                <a:spcPts val="450"/>
              </a:spcAft>
              <a:buSzPct val="100000"/>
              <a:buChar char="■"/>
            </a:pPr>
            <a:r>
              <a:rPr lang="en-US" sz="1200">
                <a:solidFill>
                  <a:srgbClr val="1A1A1A"/>
                </a:solidFill>
                <a:latin typeface="Calibri" pitchFamily="34" charset="0"/>
                <a:ea typeface="Calibri" pitchFamily="34" charset="-122"/>
                <a:cs typeface="Calibri" pitchFamily="34" charset="-120"/>
              </a:rPr>
              <a:t>Reassess whether 16% is realistic</a:t>
            </a:r>
          </a:p>
          <a:p>
            <a:pPr marL="257175" indent="-257175">
              <a:spcAft>
                <a:spcPts val="450"/>
              </a:spcAft>
              <a:buSzPct val="100000"/>
              <a:buChar char="■"/>
            </a:pPr>
            <a:r>
              <a:rPr lang="en-US" sz="1200">
                <a:solidFill>
                  <a:srgbClr val="1A1A1A"/>
                </a:solidFill>
                <a:latin typeface="Calibri" pitchFamily="34" charset="0"/>
                <a:ea typeface="Calibri" pitchFamily="34" charset="-122"/>
                <a:cs typeface="Calibri" pitchFamily="34" charset="-120"/>
              </a:rPr>
              <a:t>Expand only when evidence supports it</a:t>
            </a:r>
            <a:endParaRPr lang="en-US" sz="1200"/>
          </a:p>
        </p:txBody>
      </p:sp>
      <p:sp>
        <p:nvSpPr>
          <p:cNvPr id="25" name="Text 23"/>
          <p:cNvSpPr/>
          <p:nvPr/>
        </p:nvSpPr>
        <p:spPr>
          <a:xfrm>
            <a:off x="411480" y="4800600"/>
            <a:ext cx="5486400" cy="205740"/>
          </a:xfrm>
          <a:prstGeom prst="rect">
            <a:avLst/>
          </a:prstGeom>
          <a:noFill/>
          <a:ln/>
        </p:spPr>
        <p:txBody>
          <a:bodyPr wrap="square" lIns="0" tIns="0" rIns="0" bIns="0" rtlCol="0" anchor="ctr"/>
          <a:lstStyle/>
          <a:p>
            <a:endParaRPr lang="en-US" sz="6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LEARNINGS</a:t>
            </a:r>
            <a:endParaRPr lang="en-US" sz="1400"/>
          </a:p>
        </p:txBody>
      </p:sp>
      <p:sp>
        <p:nvSpPr>
          <p:cNvPr id="3" name="Text 1"/>
          <p:cNvSpPr/>
          <p:nvPr/>
        </p:nvSpPr>
        <p:spPr>
          <a:xfrm>
            <a:off x="411480" y="514350"/>
            <a:ext cx="7543800" cy="480060"/>
          </a:xfrm>
          <a:prstGeom prst="rect">
            <a:avLst/>
          </a:prstGeom>
          <a:noFill/>
          <a:ln/>
        </p:spPr>
        <p:txBody>
          <a:bodyPr wrap="square" lIns="0" tIns="0" rIns="0" bIns="0" rtlCol="0" anchor="ctr"/>
          <a:lstStyle/>
          <a:p>
            <a:r>
              <a:rPr lang="en-US" sz="2250" b="1">
                <a:solidFill>
                  <a:srgbClr val="1A1A1A"/>
                </a:solidFill>
                <a:latin typeface="Georgia" pitchFamily="34" charset="0"/>
                <a:ea typeface="Georgia" pitchFamily="34" charset="-122"/>
                <a:cs typeface="Georgia" pitchFamily="34" charset="-120"/>
              </a:rPr>
              <a:t>DMAIC Process &amp; Course Connections</a:t>
            </a:r>
            <a:endParaRPr lang="en-US" sz="2250"/>
          </a:p>
        </p:txBody>
      </p:sp>
      <p:sp>
        <p:nvSpPr>
          <p:cNvPr id="4" name="Shape 2"/>
          <p:cNvSpPr/>
          <p:nvPr/>
        </p:nvSpPr>
        <p:spPr>
          <a:xfrm>
            <a:off x="411480" y="960120"/>
            <a:ext cx="582930" cy="34290"/>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168964"/>
            <a:ext cx="41148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DMAIC TAKEAWAYS</a:t>
            </a:r>
            <a:endParaRPr lang="en-US" sz="1400"/>
          </a:p>
        </p:txBody>
      </p:sp>
      <p:sp>
        <p:nvSpPr>
          <p:cNvPr id="6" name="Text 4"/>
          <p:cNvSpPr/>
          <p:nvPr/>
        </p:nvSpPr>
        <p:spPr>
          <a:xfrm>
            <a:off x="411480" y="1509135"/>
            <a:ext cx="3931920" cy="2892586"/>
          </a:xfrm>
          <a:prstGeom prst="rect">
            <a:avLst/>
          </a:prstGeom>
          <a:noFill/>
          <a:ln/>
        </p:spPr>
        <p:txBody>
          <a:bodyPr wrap="square" lIns="0" tIns="0" rIns="0" bIns="0" rtlCol="0" anchor="ctr"/>
          <a:lstStyle/>
          <a:p>
            <a:pPr>
              <a:spcAft>
                <a:spcPts val="1050"/>
              </a:spcAft>
              <a:buSzPct val="100000"/>
            </a:pPr>
            <a:r>
              <a:rPr lang="en-US" sz="1200" b="1"/>
              <a:t>DMAIC Framework</a:t>
            </a:r>
          </a:p>
          <a:p>
            <a:pPr marL="257175" indent="-257175">
              <a:spcAft>
                <a:spcPts val="1050"/>
              </a:spcAft>
              <a:buSzPct val="100000"/>
              <a:buChar char="■"/>
            </a:pPr>
            <a:r>
              <a:rPr lang="en-US" sz="1200"/>
              <a:t>Define - Broad scope let the data narrow the focus (we didn’t pick any target countries in advance).</a:t>
            </a:r>
          </a:p>
          <a:p>
            <a:pPr marL="257175" indent="-257175">
              <a:spcAft>
                <a:spcPts val="1050"/>
              </a:spcAft>
              <a:buSzPct val="100000"/>
              <a:buChar char="■"/>
            </a:pPr>
            <a:r>
              <a:rPr lang="en-US" sz="1200"/>
              <a:t>Measure – Cleaning the dataset from 233 to 122 countries made the CV analysis valid.</a:t>
            </a:r>
          </a:p>
          <a:p>
            <a:pPr marL="257175" indent="-257175">
              <a:spcAft>
                <a:spcPts val="1050"/>
              </a:spcAft>
              <a:buSzPct val="100000"/>
              <a:buChar char="■"/>
            </a:pPr>
            <a:r>
              <a:rPr lang="en-US" sz="1200"/>
              <a:t>Analyze – Country-level data showed how global averages can hide major differences..</a:t>
            </a:r>
          </a:p>
          <a:p>
            <a:pPr marL="257175" indent="-257175">
              <a:spcAft>
                <a:spcPts val="1050"/>
              </a:spcAft>
              <a:buSzPct val="100000"/>
              <a:buChar char="■"/>
            </a:pPr>
            <a:r>
              <a:rPr lang="en-US" sz="1200"/>
              <a:t>Improve – The data identified the target countries; we didn’t enforce any recommendations before the evidence.</a:t>
            </a:r>
          </a:p>
          <a:p>
            <a:pPr marL="257175" indent="-257175">
              <a:spcAft>
                <a:spcPts val="1050"/>
              </a:spcAft>
              <a:buSzPct val="100000"/>
              <a:buChar char="■"/>
            </a:pPr>
            <a:r>
              <a:rPr lang="en-US" sz="1200"/>
              <a:t>Control – KPIs are tied to 2019 baselines, so progress is measured against actual values instead of aspirational goals</a:t>
            </a:r>
          </a:p>
        </p:txBody>
      </p:sp>
      <p:sp>
        <p:nvSpPr>
          <p:cNvPr id="7" name="Text 5"/>
          <p:cNvSpPr/>
          <p:nvPr/>
        </p:nvSpPr>
        <p:spPr>
          <a:xfrm>
            <a:off x="4800600" y="1165860"/>
            <a:ext cx="41148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COURSE CONNECTIONS</a:t>
            </a:r>
            <a:endParaRPr lang="en-US" sz="1400"/>
          </a:p>
        </p:txBody>
      </p:sp>
      <p:sp>
        <p:nvSpPr>
          <p:cNvPr id="8" name="Text 6"/>
          <p:cNvSpPr/>
          <p:nvPr/>
        </p:nvSpPr>
        <p:spPr>
          <a:xfrm>
            <a:off x="4800600" y="1577340"/>
            <a:ext cx="3931920" cy="3223260"/>
          </a:xfrm>
          <a:prstGeom prst="rect">
            <a:avLst/>
          </a:prstGeom>
          <a:noFill/>
          <a:ln/>
        </p:spPr>
        <p:txBody>
          <a:bodyPr wrap="square" lIns="0" tIns="0" rIns="0" bIns="0" rtlCol="0" anchor="ctr"/>
          <a:lstStyle/>
          <a:p>
            <a:pPr>
              <a:spcAft>
                <a:spcPts val="1050"/>
              </a:spcAft>
              <a:buSzPct val="100000"/>
            </a:pPr>
            <a:r>
              <a:rPr lang="en-US" sz="1200" b="1">
                <a:latin typeface="Calibri" pitchFamily="34" charset="0"/>
                <a:ea typeface="Calibri" pitchFamily="34" charset="-122"/>
                <a:cs typeface="Calibri" pitchFamily="34" charset="-120"/>
              </a:rPr>
              <a:t>Structured Problem Solving </a:t>
            </a:r>
          </a:p>
          <a:p>
            <a:pPr>
              <a:spcAft>
                <a:spcPts val="1050"/>
              </a:spcAft>
              <a:buSzPct val="100000"/>
            </a:pPr>
            <a:r>
              <a:rPr lang="en-US" sz="1200"/>
              <a:t>DMAIC works best when the process drives the conclusions instead of forcing solutions too early. </a:t>
            </a:r>
          </a:p>
          <a:p>
            <a:pPr>
              <a:spcAft>
                <a:spcPts val="1050"/>
              </a:spcAft>
              <a:buSzPct val="100000"/>
            </a:pPr>
            <a:r>
              <a:rPr lang="en-US" sz="1200" b="1">
                <a:latin typeface="Calibri" pitchFamily="34" charset="0"/>
                <a:ea typeface="Calibri" pitchFamily="34" charset="-122"/>
                <a:cs typeface="Calibri" pitchFamily="34" charset="-120"/>
              </a:rPr>
              <a:t>Supply Chain Planning </a:t>
            </a:r>
          </a:p>
          <a:p>
            <a:pPr>
              <a:spcAft>
                <a:spcPts val="1050"/>
              </a:spcAft>
              <a:buSzPct val="100000"/>
            </a:pPr>
            <a:r>
              <a:rPr lang="en-US" sz="1200"/>
              <a:t>We learned that strategy depends on reliable data, continuous analysis, and constantly adjusting plans.</a:t>
            </a:r>
          </a:p>
          <a:p>
            <a:pPr>
              <a:spcAft>
                <a:spcPts val="1050"/>
              </a:spcAft>
              <a:buSzPct val="100000"/>
            </a:pPr>
            <a:r>
              <a:rPr lang="en-US" sz="1200" b="1">
                <a:latin typeface="Calibri" pitchFamily="34" charset="0"/>
                <a:ea typeface="Calibri" pitchFamily="34" charset="-122"/>
                <a:cs typeface="Calibri" pitchFamily="34" charset="-120"/>
              </a:rPr>
              <a:t>Six Pillars as a System</a:t>
            </a:r>
          </a:p>
          <a:p>
            <a:pPr>
              <a:spcAft>
                <a:spcPts val="1050"/>
              </a:spcAft>
              <a:buSzPct val="100000"/>
            </a:pPr>
            <a:r>
              <a:rPr lang="en-US" sz="1200"/>
              <a:t>Food waste is an end-to-end supply chain issue, not a problem that can be pinpointed at a single pillar.</a:t>
            </a:r>
          </a:p>
          <a:p>
            <a:pPr>
              <a:spcAft>
                <a:spcPts val="1050"/>
              </a:spcAft>
              <a:buSzPct val="100000"/>
            </a:pPr>
            <a:r>
              <a:rPr lang="en-US" sz="1200" b="1">
                <a:latin typeface="Calibri" pitchFamily="34" charset="0"/>
                <a:ea typeface="Calibri" pitchFamily="34" charset="-122"/>
                <a:cs typeface="Calibri" pitchFamily="34" charset="-120"/>
              </a:rPr>
              <a:t>Sustainable SCM  </a:t>
            </a:r>
          </a:p>
          <a:p>
            <a:pPr>
              <a:spcAft>
                <a:spcPts val="1050"/>
              </a:spcAft>
              <a:buSzPct val="100000"/>
            </a:pPr>
            <a:r>
              <a:rPr lang="en-US" sz="1200">
                <a:latin typeface="Calibri" pitchFamily="34" charset="0"/>
                <a:ea typeface="Calibri" pitchFamily="34" charset="-122"/>
                <a:cs typeface="Calibri" pitchFamily="34" charset="-120"/>
              </a:rPr>
              <a:t>L</a:t>
            </a:r>
            <a:r>
              <a:rPr lang="en-US" sz="1200"/>
              <a:t>arge global problems may not have one universal solution, but a responsible strategy should recognize the limits of current data.</a:t>
            </a:r>
          </a:p>
        </p:txBody>
      </p:sp>
      <p:sp>
        <p:nvSpPr>
          <p:cNvPr id="9" name="Text 7"/>
          <p:cNvSpPr/>
          <p:nvPr/>
        </p:nvSpPr>
        <p:spPr>
          <a:xfrm>
            <a:off x="411480" y="4800600"/>
            <a:ext cx="5486400" cy="205740"/>
          </a:xfrm>
          <a:prstGeom prst="rect">
            <a:avLst/>
          </a:prstGeom>
          <a:noFill/>
          <a:ln/>
        </p:spPr>
        <p:txBody>
          <a:bodyPr wrap="square" lIns="0" tIns="0" rIns="0" bIns="0" rtlCol="0" anchor="ctr"/>
          <a:lstStyle/>
          <a:p>
            <a:endParaRPr lang="en-US" sz="6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617220"/>
            <a:ext cx="5486400" cy="240030"/>
          </a:xfrm>
          <a:prstGeom prst="rect">
            <a:avLst/>
          </a:prstGeom>
          <a:noFill/>
          <a:ln/>
        </p:spPr>
        <p:txBody>
          <a:bodyPr wrap="square" lIns="0" tIns="0" rIns="0" bIns="0" rtlCol="0" anchor="ctr"/>
          <a:lstStyle/>
          <a:p>
            <a:r>
              <a:rPr lang="en-US" sz="1400" b="1" kern="0" spc="300">
                <a:solidFill>
                  <a:srgbClr val="7CB342"/>
                </a:solidFill>
                <a:latin typeface="Calibri" pitchFamily="34" charset="0"/>
                <a:ea typeface="Calibri" pitchFamily="34" charset="-122"/>
                <a:cs typeface="Calibri" pitchFamily="34" charset="-120"/>
              </a:rPr>
              <a:t>Closing</a:t>
            </a:r>
            <a:endParaRPr lang="en-US" sz="1400"/>
          </a:p>
        </p:txBody>
      </p:sp>
      <p:sp>
        <p:nvSpPr>
          <p:cNvPr id="3" name="Text 1"/>
          <p:cNvSpPr/>
          <p:nvPr/>
        </p:nvSpPr>
        <p:spPr>
          <a:xfrm>
            <a:off x="411480" y="582930"/>
            <a:ext cx="8650744" cy="960120"/>
          </a:xfrm>
          <a:prstGeom prst="rect">
            <a:avLst/>
          </a:prstGeom>
          <a:noFill/>
          <a:ln/>
        </p:spPr>
        <p:txBody>
          <a:bodyPr wrap="square" lIns="0" tIns="0" rIns="0" bIns="0" rtlCol="0" anchor="ctr"/>
          <a:lstStyle/>
          <a:p>
            <a:r>
              <a:rPr lang="en-US" sz="2250" b="1">
                <a:solidFill>
                  <a:srgbClr val="1A1A1A"/>
                </a:solidFill>
                <a:latin typeface="Georgia" pitchFamily="34" charset="0"/>
              </a:rPr>
              <a:t>A Step Closer in the Right Direction</a:t>
            </a:r>
            <a:endParaRPr lang="en-US" sz="2250"/>
          </a:p>
        </p:txBody>
      </p:sp>
      <p:sp>
        <p:nvSpPr>
          <p:cNvPr id="4" name="Shape 2"/>
          <p:cNvSpPr/>
          <p:nvPr/>
        </p:nvSpPr>
        <p:spPr>
          <a:xfrm>
            <a:off x="411480" y="1296162"/>
            <a:ext cx="582930" cy="41148"/>
          </a:xfrm>
          <a:prstGeom prst="rect">
            <a:avLst/>
          </a:prstGeom>
          <a:solidFill>
            <a:srgbClr val="7CB342"/>
          </a:solidFill>
          <a:ln w="12700">
            <a:solidFill>
              <a:srgbClr val="7CB342"/>
            </a:solidFill>
            <a:prstDash val="solid"/>
          </a:ln>
        </p:spPr>
        <p:txBody>
          <a:bodyPr/>
          <a:lstStyle/>
          <a:p>
            <a:endParaRPr lang="en-US" sz="1350"/>
          </a:p>
        </p:txBody>
      </p:sp>
      <p:sp>
        <p:nvSpPr>
          <p:cNvPr id="5" name="Text 3"/>
          <p:cNvSpPr/>
          <p:nvPr/>
        </p:nvSpPr>
        <p:spPr>
          <a:xfrm>
            <a:off x="411480" y="1783080"/>
            <a:ext cx="8229600" cy="342900"/>
          </a:xfrm>
          <a:prstGeom prst="rect">
            <a:avLst/>
          </a:prstGeom>
          <a:noFill/>
          <a:ln/>
        </p:spPr>
        <p:txBody>
          <a:bodyPr wrap="square" lIns="0" tIns="0" rIns="0" bIns="0" rtlCol="0" anchor="ctr"/>
          <a:lstStyle/>
          <a:p>
            <a:r>
              <a:rPr lang="en-US" sz="1400" b="1"/>
              <a:t>Closing the 10% global supply-chain waste gap requires removing 6.08M tonnes per year.</a:t>
            </a:r>
            <a:endParaRPr lang="en-US" sz="1400"/>
          </a:p>
        </p:txBody>
      </p:sp>
      <p:sp>
        <p:nvSpPr>
          <p:cNvPr id="6" name="Shape 4"/>
          <p:cNvSpPr/>
          <p:nvPr/>
        </p:nvSpPr>
        <p:spPr>
          <a:xfrm>
            <a:off x="411480" y="2537460"/>
            <a:ext cx="2743200" cy="754380"/>
          </a:xfrm>
          <a:prstGeom prst="rect">
            <a:avLst/>
          </a:prstGeom>
          <a:solidFill>
            <a:srgbClr val="7CB342"/>
          </a:solidFill>
          <a:ln w="12700">
            <a:solidFill>
              <a:srgbClr val="7CB342"/>
            </a:solidFill>
            <a:prstDash val="solid"/>
          </a:ln>
        </p:spPr>
        <p:txBody>
          <a:bodyPr/>
          <a:lstStyle/>
          <a:p>
            <a:endParaRPr lang="en-US" sz="1350"/>
          </a:p>
        </p:txBody>
      </p:sp>
      <p:sp>
        <p:nvSpPr>
          <p:cNvPr id="7" name="Text 5"/>
          <p:cNvSpPr/>
          <p:nvPr/>
        </p:nvSpPr>
        <p:spPr>
          <a:xfrm>
            <a:off x="548640" y="2571750"/>
            <a:ext cx="2468880" cy="685800"/>
          </a:xfrm>
          <a:prstGeom prst="rect">
            <a:avLst/>
          </a:prstGeom>
          <a:noFill/>
          <a:ln/>
        </p:spPr>
        <p:txBody>
          <a:bodyPr wrap="square" lIns="0" tIns="0" rIns="0" bIns="0" rtlCol="0" anchor="ctr"/>
          <a:lstStyle/>
          <a:p>
            <a:pPr algn="ctr"/>
            <a:r>
              <a:rPr lang="en-US" sz="3750" b="1">
                <a:solidFill>
                  <a:srgbClr val="1A1A1A"/>
                </a:solidFill>
                <a:latin typeface="Georgia" pitchFamily="34" charset="0"/>
                <a:ea typeface="Georgia" pitchFamily="34" charset="-122"/>
                <a:cs typeface="Georgia" pitchFamily="34" charset="-120"/>
              </a:rPr>
              <a:t>1</a:t>
            </a:r>
            <a:endParaRPr lang="en-US" sz="3750"/>
          </a:p>
        </p:txBody>
      </p:sp>
      <p:sp>
        <p:nvSpPr>
          <p:cNvPr id="8" name="Shape 6"/>
          <p:cNvSpPr/>
          <p:nvPr/>
        </p:nvSpPr>
        <p:spPr>
          <a:xfrm>
            <a:off x="411480" y="3291840"/>
            <a:ext cx="2743200" cy="1268730"/>
          </a:xfrm>
          <a:prstGeom prst="rect">
            <a:avLst/>
          </a:prstGeom>
          <a:solidFill>
            <a:srgbClr val="FFFFFF"/>
          </a:solidFill>
          <a:ln w="12700">
            <a:solidFill>
              <a:srgbClr val="7CB342"/>
            </a:solidFill>
            <a:prstDash val="solid"/>
          </a:ln>
        </p:spPr>
        <p:txBody>
          <a:bodyPr/>
          <a:lstStyle/>
          <a:p>
            <a:endParaRPr lang="en-US" sz="1350"/>
          </a:p>
        </p:txBody>
      </p:sp>
      <p:sp>
        <p:nvSpPr>
          <p:cNvPr id="9" name="Text 7"/>
          <p:cNvSpPr/>
          <p:nvPr/>
        </p:nvSpPr>
        <p:spPr>
          <a:xfrm>
            <a:off x="548640" y="3394710"/>
            <a:ext cx="2468880" cy="342900"/>
          </a:xfrm>
          <a:prstGeom prst="rect">
            <a:avLst/>
          </a:prstGeom>
          <a:noFill/>
          <a:ln/>
        </p:spPr>
        <p:txBody>
          <a:bodyPr wrap="square" lIns="0" tIns="0" rIns="0" bIns="0" rtlCol="0" anchor="ctr"/>
          <a:lstStyle/>
          <a:p>
            <a:pPr algn="ctr"/>
            <a:r>
              <a:rPr lang="en-US" sz="1400" b="1">
                <a:solidFill>
                  <a:srgbClr val="1A1A1A"/>
                </a:solidFill>
                <a:latin typeface="Georgia" pitchFamily="34" charset="0"/>
                <a:ea typeface="Georgia" pitchFamily="34" charset="-122"/>
                <a:cs typeface="Georgia" pitchFamily="34" charset="-120"/>
              </a:rPr>
              <a:t>One</a:t>
            </a:r>
            <a:r>
              <a:rPr lang="en-US" sz="1200" b="1">
                <a:solidFill>
                  <a:srgbClr val="1A1A1A"/>
                </a:solidFill>
                <a:latin typeface="Georgia" pitchFamily="34" charset="0"/>
                <a:ea typeface="Georgia" pitchFamily="34" charset="-122"/>
                <a:cs typeface="Georgia" pitchFamily="34" charset="-120"/>
              </a:rPr>
              <a:t> interpretation</a:t>
            </a:r>
            <a:endParaRPr lang="en-US" sz="1200"/>
          </a:p>
        </p:txBody>
      </p:sp>
      <p:sp>
        <p:nvSpPr>
          <p:cNvPr id="10" name="Text 8"/>
          <p:cNvSpPr/>
          <p:nvPr/>
        </p:nvSpPr>
        <p:spPr>
          <a:xfrm>
            <a:off x="548640" y="3737610"/>
            <a:ext cx="2468880" cy="754380"/>
          </a:xfrm>
          <a:prstGeom prst="rect">
            <a:avLst/>
          </a:prstGeom>
          <a:noFill/>
          <a:ln/>
        </p:spPr>
        <p:txBody>
          <a:bodyPr wrap="square" lIns="0" tIns="0" rIns="0" bIns="0" rtlCol="0" anchor="t"/>
          <a:lstStyle/>
          <a:p>
            <a:pPr algn="ctr"/>
            <a:r>
              <a:rPr lang="en-US" sz="1200"/>
              <a:t>All 7 variables point to the same issue: waste is concentrated, not evenly spread.</a:t>
            </a:r>
          </a:p>
        </p:txBody>
      </p:sp>
      <p:sp>
        <p:nvSpPr>
          <p:cNvPr id="11" name="Shape 9"/>
          <p:cNvSpPr/>
          <p:nvPr/>
        </p:nvSpPr>
        <p:spPr>
          <a:xfrm>
            <a:off x="3188970" y="2537460"/>
            <a:ext cx="2743200" cy="754380"/>
          </a:xfrm>
          <a:prstGeom prst="rect">
            <a:avLst/>
          </a:prstGeom>
          <a:solidFill>
            <a:srgbClr val="7CB342"/>
          </a:solidFill>
          <a:ln w="12700">
            <a:solidFill>
              <a:srgbClr val="7CB342"/>
            </a:solidFill>
            <a:prstDash val="solid"/>
          </a:ln>
        </p:spPr>
        <p:txBody>
          <a:bodyPr/>
          <a:lstStyle/>
          <a:p>
            <a:endParaRPr lang="en-US" sz="1350"/>
          </a:p>
        </p:txBody>
      </p:sp>
      <p:sp>
        <p:nvSpPr>
          <p:cNvPr id="12" name="Text 10"/>
          <p:cNvSpPr/>
          <p:nvPr/>
        </p:nvSpPr>
        <p:spPr>
          <a:xfrm>
            <a:off x="3326130" y="2571750"/>
            <a:ext cx="2468880" cy="685800"/>
          </a:xfrm>
          <a:prstGeom prst="rect">
            <a:avLst/>
          </a:prstGeom>
          <a:noFill/>
          <a:ln/>
        </p:spPr>
        <p:txBody>
          <a:bodyPr wrap="square" lIns="0" tIns="0" rIns="0" bIns="0" rtlCol="0" anchor="ctr"/>
          <a:lstStyle/>
          <a:p>
            <a:pPr algn="ctr"/>
            <a:r>
              <a:rPr lang="en-US" sz="3750" b="1">
                <a:solidFill>
                  <a:srgbClr val="1A1A1A"/>
                </a:solidFill>
                <a:latin typeface="Georgia" pitchFamily="34" charset="0"/>
              </a:rPr>
              <a:t>3</a:t>
            </a:r>
            <a:endParaRPr lang="en-US" sz="3750"/>
          </a:p>
        </p:txBody>
      </p:sp>
      <p:sp>
        <p:nvSpPr>
          <p:cNvPr id="13" name="Shape 11"/>
          <p:cNvSpPr/>
          <p:nvPr/>
        </p:nvSpPr>
        <p:spPr>
          <a:xfrm>
            <a:off x="3188970" y="3291840"/>
            <a:ext cx="2743200" cy="1268730"/>
          </a:xfrm>
          <a:prstGeom prst="rect">
            <a:avLst/>
          </a:prstGeom>
          <a:solidFill>
            <a:srgbClr val="FFFFFF"/>
          </a:solidFill>
          <a:ln w="12700">
            <a:solidFill>
              <a:srgbClr val="7CB342"/>
            </a:solidFill>
            <a:prstDash val="solid"/>
          </a:ln>
        </p:spPr>
        <p:txBody>
          <a:bodyPr/>
          <a:lstStyle/>
          <a:p>
            <a:endParaRPr lang="en-US" sz="1350"/>
          </a:p>
        </p:txBody>
      </p:sp>
      <p:sp>
        <p:nvSpPr>
          <p:cNvPr id="14" name="Text 12"/>
          <p:cNvSpPr/>
          <p:nvPr/>
        </p:nvSpPr>
        <p:spPr>
          <a:xfrm>
            <a:off x="3326130" y="3394710"/>
            <a:ext cx="2468880" cy="342900"/>
          </a:xfrm>
          <a:prstGeom prst="rect">
            <a:avLst/>
          </a:prstGeom>
          <a:noFill/>
          <a:ln/>
        </p:spPr>
        <p:txBody>
          <a:bodyPr wrap="square" lIns="0" tIns="0" rIns="0" bIns="0" rtlCol="0" anchor="ctr"/>
          <a:lstStyle/>
          <a:p>
            <a:pPr algn="ctr"/>
            <a:r>
              <a:rPr lang="en-US" sz="1400" b="1">
                <a:solidFill>
                  <a:srgbClr val="1A1A1A"/>
                </a:solidFill>
                <a:latin typeface="Georgia" pitchFamily="34" charset="0"/>
                <a:ea typeface="Georgia" pitchFamily="34" charset="-122"/>
                <a:cs typeface="Georgia" pitchFamily="34" charset="-120"/>
              </a:rPr>
              <a:t>Three target countries</a:t>
            </a:r>
            <a:endParaRPr lang="en-US" sz="1400"/>
          </a:p>
        </p:txBody>
      </p:sp>
      <p:sp>
        <p:nvSpPr>
          <p:cNvPr id="15" name="Text 13"/>
          <p:cNvSpPr/>
          <p:nvPr/>
        </p:nvSpPr>
        <p:spPr>
          <a:xfrm>
            <a:off x="3326130" y="3737610"/>
            <a:ext cx="2468880" cy="754380"/>
          </a:xfrm>
          <a:prstGeom prst="rect">
            <a:avLst/>
          </a:prstGeom>
          <a:noFill/>
          <a:ln/>
        </p:spPr>
        <p:txBody>
          <a:bodyPr wrap="square" lIns="0" tIns="0" rIns="0" bIns="0" rtlCol="0" anchor="t"/>
          <a:lstStyle/>
          <a:p>
            <a:pPr algn="ctr"/>
            <a:r>
              <a:rPr lang="en-US" sz="1200"/>
              <a:t>The largest waste countries show where the opportunity is concentrated.</a:t>
            </a:r>
          </a:p>
        </p:txBody>
      </p:sp>
      <p:sp>
        <p:nvSpPr>
          <p:cNvPr id="16" name="Shape 14"/>
          <p:cNvSpPr/>
          <p:nvPr/>
        </p:nvSpPr>
        <p:spPr>
          <a:xfrm>
            <a:off x="5966460" y="2537460"/>
            <a:ext cx="2743200" cy="754380"/>
          </a:xfrm>
          <a:prstGeom prst="rect">
            <a:avLst/>
          </a:prstGeom>
          <a:solidFill>
            <a:srgbClr val="7CB342"/>
          </a:solidFill>
          <a:ln w="12700">
            <a:solidFill>
              <a:srgbClr val="7CB342"/>
            </a:solidFill>
            <a:prstDash val="solid"/>
          </a:ln>
        </p:spPr>
        <p:txBody>
          <a:bodyPr/>
          <a:lstStyle/>
          <a:p>
            <a:endParaRPr lang="en-US" sz="1350"/>
          </a:p>
        </p:txBody>
      </p:sp>
      <p:sp>
        <p:nvSpPr>
          <p:cNvPr id="17" name="Text 15"/>
          <p:cNvSpPr/>
          <p:nvPr/>
        </p:nvSpPr>
        <p:spPr>
          <a:xfrm>
            <a:off x="6103620" y="2571750"/>
            <a:ext cx="2468880" cy="685800"/>
          </a:xfrm>
          <a:prstGeom prst="rect">
            <a:avLst/>
          </a:prstGeom>
          <a:noFill/>
          <a:ln/>
        </p:spPr>
        <p:txBody>
          <a:bodyPr wrap="square" lIns="0" tIns="0" rIns="0" bIns="0" rtlCol="0" anchor="ctr"/>
          <a:lstStyle/>
          <a:p>
            <a:pPr algn="ctr"/>
            <a:r>
              <a:rPr lang="en-US" sz="3750" b="1">
                <a:solidFill>
                  <a:srgbClr val="1A1A1A"/>
                </a:solidFill>
                <a:latin typeface="Georgia" pitchFamily="34" charset="0"/>
                <a:ea typeface="Georgia" pitchFamily="34" charset="-122"/>
                <a:cs typeface="Georgia" pitchFamily="34" charset="-120"/>
              </a:rPr>
              <a:t>16%</a:t>
            </a:r>
            <a:endParaRPr lang="en-US" sz="3750"/>
          </a:p>
        </p:txBody>
      </p:sp>
      <p:sp>
        <p:nvSpPr>
          <p:cNvPr id="18" name="Shape 16"/>
          <p:cNvSpPr/>
          <p:nvPr/>
        </p:nvSpPr>
        <p:spPr>
          <a:xfrm>
            <a:off x="5966460" y="3291840"/>
            <a:ext cx="2743200" cy="1268730"/>
          </a:xfrm>
          <a:prstGeom prst="rect">
            <a:avLst/>
          </a:prstGeom>
          <a:solidFill>
            <a:srgbClr val="FFFFFF"/>
          </a:solidFill>
          <a:ln w="12700">
            <a:solidFill>
              <a:srgbClr val="7CB342"/>
            </a:solidFill>
            <a:prstDash val="solid"/>
          </a:ln>
        </p:spPr>
        <p:txBody>
          <a:bodyPr/>
          <a:lstStyle/>
          <a:p>
            <a:endParaRPr lang="en-US" sz="1350"/>
          </a:p>
        </p:txBody>
      </p:sp>
      <p:sp>
        <p:nvSpPr>
          <p:cNvPr id="19" name="Text 17"/>
          <p:cNvSpPr/>
          <p:nvPr/>
        </p:nvSpPr>
        <p:spPr>
          <a:xfrm>
            <a:off x="5966460" y="3394710"/>
            <a:ext cx="2743200" cy="342900"/>
          </a:xfrm>
          <a:prstGeom prst="rect">
            <a:avLst/>
          </a:prstGeom>
          <a:noFill/>
          <a:ln/>
        </p:spPr>
        <p:txBody>
          <a:bodyPr wrap="square" lIns="0" tIns="0" rIns="0" bIns="0" rtlCol="0" anchor="ctr"/>
          <a:lstStyle/>
          <a:p>
            <a:pPr algn="ctr"/>
            <a:r>
              <a:rPr lang="en-US" sz="1400" b="1">
                <a:solidFill>
                  <a:srgbClr val="1A1A1A"/>
                </a:solidFill>
                <a:latin typeface="Georgia" pitchFamily="34" charset="0"/>
                <a:ea typeface="Georgia" pitchFamily="34" charset="-122"/>
                <a:cs typeface="Georgia" pitchFamily="34" charset="-120"/>
              </a:rPr>
              <a:t>Required reduction per target</a:t>
            </a:r>
            <a:endParaRPr lang="en-US" sz="1400"/>
          </a:p>
        </p:txBody>
      </p:sp>
      <p:sp>
        <p:nvSpPr>
          <p:cNvPr id="20" name="Text 18"/>
          <p:cNvSpPr/>
          <p:nvPr/>
        </p:nvSpPr>
        <p:spPr>
          <a:xfrm>
            <a:off x="6103620" y="3737610"/>
            <a:ext cx="2468880" cy="754380"/>
          </a:xfrm>
          <a:prstGeom prst="rect">
            <a:avLst/>
          </a:prstGeom>
          <a:noFill/>
          <a:ln/>
        </p:spPr>
        <p:txBody>
          <a:bodyPr wrap="square" lIns="0" tIns="0" rIns="0" bIns="0" rtlCol="0" anchor="t"/>
          <a:lstStyle/>
          <a:p>
            <a:pPr algn="ctr"/>
            <a:r>
              <a:rPr lang="en-US" sz="1200"/>
              <a:t>The reduction needed per target, but </a:t>
            </a:r>
            <a:r>
              <a:rPr lang="en-US" sz="1200" b="1"/>
              <a:t>our dataset doesn’t prove it’s operationally achievable yet.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CFB597D4-59BE-1F35-E963-D1EF25332285}"/>
              </a:ext>
            </a:extLst>
          </p:cNvPr>
          <p:cNvSpPr/>
          <p:nvPr/>
        </p:nvSpPr>
        <p:spPr>
          <a:xfrm>
            <a:off x="457200" y="2091690"/>
            <a:ext cx="8229600" cy="960120"/>
          </a:xfrm>
          <a:prstGeom prst="rect">
            <a:avLst/>
          </a:prstGeom>
          <a:noFill/>
          <a:ln/>
        </p:spPr>
        <p:txBody>
          <a:bodyPr wrap="square" lIns="0" tIns="0" rIns="0" bIns="0" rtlCol="0" anchor="ctr"/>
          <a:lstStyle/>
          <a:p>
            <a:pPr algn="ctr"/>
            <a:r>
              <a:rPr lang="en-US" sz="3900" b="1">
                <a:solidFill>
                  <a:srgbClr val="1A1A1A"/>
                </a:solidFill>
                <a:latin typeface="Georgia"/>
              </a:rPr>
              <a:t>Thank you for your time</a:t>
            </a:r>
            <a:endParaRPr lang="en-US">
              <a:ea typeface="Calibri" panose="020F0502020204030204"/>
              <a:cs typeface="Calibri" panose="020F0502020204030204"/>
            </a:endParaRPr>
          </a:p>
        </p:txBody>
      </p:sp>
    </p:spTree>
    <p:extLst>
      <p:ext uri="{BB962C8B-B14F-4D97-AF65-F5344CB8AC3E}">
        <p14:creationId xmlns:p14="http://schemas.microsoft.com/office/powerpoint/2010/main" val="457060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92A1E-8194-D241-0552-A5978949E8C0}"/>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E13D69E1-A642-8E4B-BC17-BEDFB8E75A26}"/>
              </a:ext>
            </a:extLst>
          </p:cNvPr>
          <p:cNvSpPr/>
          <p:nvPr/>
        </p:nvSpPr>
        <p:spPr>
          <a:xfrm>
            <a:off x="457200" y="0"/>
            <a:ext cx="8229600" cy="960120"/>
          </a:xfrm>
          <a:prstGeom prst="rect">
            <a:avLst/>
          </a:prstGeom>
          <a:noFill/>
          <a:ln/>
        </p:spPr>
        <p:txBody>
          <a:bodyPr wrap="square" lIns="0" tIns="0" rIns="0" bIns="0" rtlCol="0" anchor="ctr"/>
          <a:lstStyle/>
          <a:p>
            <a:pPr algn="ctr"/>
            <a:r>
              <a:rPr lang="en-US" sz="3900" b="1">
                <a:solidFill>
                  <a:srgbClr val="1A1A1A"/>
                </a:solidFill>
                <a:latin typeface="Georgia"/>
              </a:rPr>
              <a:t>Data Set</a:t>
            </a:r>
            <a:endParaRPr lang="en-US">
              <a:ea typeface="Calibri" panose="020F0502020204030204"/>
              <a:cs typeface="Calibri" panose="020F0502020204030204"/>
            </a:endParaRPr>
          </a:p>
        </p:txBody>
      </p:sp>
      <p:graphicFrame>
        <p:nvGraphicFramePr>
          <p:cNvPr id="3" name="Object 2">
            <a:extLst>
              <a:ext uri="{FF2B5EF4-FFF2-40B4-BE49-F238E27FC236}">
                <a16:creationId xmlns:a16="http://schemas.microsoft.com/office/drawing/2014/main" id="{27F45375-8CFD-4102-7C70-3EDDEFA8B369}"/>
              </a:ext>
            </a:extLst>
          </p:cNvPr>
          <p:cNvGraphicFramePr>
            <a:graphicFrameLocks noChangeAspect="1"/>
          </p:cNvGraphicFramePr>
          <p:nvPr>
            <p:extLst>
              <p:ext uri="{D42A27DB-BD31-4B8C-83A1-F6EECF244321}">
                <p14:modId xmlns:p14="http://schemas.microsoft.com/office/powerpoint/2010/main" val="3745797498"/>
              </p:ext>
            </p:extLst>
          </p:nvPr>
        </p:nvGraphicFramePr>
        <p:xfrm>
          <a:off x="2499143" y="987401"/>
          <a:ext cx="4145714" cy="3591516"/>
        </p:xfrm>
        <a:graphic>
          <a:graphicData uri="http://schemas.openxmlformats.org/presentationml/2006/ole">
            <mc:AlternateContent xmlns:mc="http://schemas.openxmlformats.org/markup-compatibility/2006">
              <mc:Choice xmlns:v="urn:schemas-microsoft-com:vml" Requires="v">
                <p:oleObj name="Worksheet" showAsIcon="1" r:id="rId2" imgW="914400" imgH="792417" progId="Excel.Sheet.12">
                  <p:embed/>
                </p:oleObj>
              </mc:Choice>
              <mc:Fallback>
                <p:oleObj name="Worksheet" showAsIcon="1" r:id="rId2" imgW="914400" imgH="792417" progId="Excel.Sheet.12">
                  <p:embed/>
                  <p:pic>
                    <p:nvPicPr>
                      <p:cNvPr id="3" name="Object 2">
                        <a:extLst>
                          <a:ext uri="{FF2B5EF4-FFF2-40B4-BE49-F238E27FC236}">
                            <a16:creationId xmlns:a16="http://schemas.microsoft.com/office/drawing/2014/main" id="{27F45375-8CFD-4102-7C70-3EDDEFA8B369}"/>
                          </a:ext>
                        </a:extLst>
                      </p:cNvPr>
                      <p:cNvPicPr/>
                      <p:nvPr/>
                    </p:nvPicPr>
                    <p:blipFill>
                      <a:blip r:embed="rId3"/>
                      <a:stretch>
                        <a:fillRect/>
                      </a:stretch>
                    </p:blipFill>
                    <p:spPr>
                      <a:xfrm>
                        <a:off x="2499143" y="987401"/>
                        <a:ext cx="4145714" cy="3591516"/>
                      </a:xfrm>
                      <a:prstGeom prst="rect">
                        <a:avLst/>
                      </a:prstGeom>
                    </p:spPr>
                  </p:pic>
                </p:oleObj>
              </mc:Fallback>
            </mc:AlternateContent>
          </a:graphicData>
        </a:graphic>
      </p:graphicFrame>
      <p:sp>
        <p:nvSpPr>
          <p:cNvPr id="5" name="Text 1">
            <a:extLst>
              <a:ext uri="{FF2B5EF4-FFF2-40B4-BE49-F238E27FC236}">
                <a16:creationId xmlns:a16="http://schemas.microsoft.com/office/drawing/2014/main" id="{74728DA4-BD49-A240-66A2-DA5BB5DC9CEA}"/>
              </a:ext>
            </a:extLst>
          </p:cNvPr>
          <p:cNvSpPr/>
          <p:nvPr/>
        </p:nvSpPr>
        <p:spPr>
          <a:xfrm>
            <a:off x="457200" y="4417277"/>
            <a:ext cx="8523249" cy="480060"/>
          </a:xfrm>
          <a:prstGeom prst="rect">
            <a:avLst/>
          </a:prstGeom>
          <a:noFill/>
          <a:ln/>
        </p:spPr>
        <p:txBody>
          <a:bodyPr wrap="square" lIns="0" tIns="0" rIns="0" bIns="0" rtlCol="0" anchor="ctr"/>
          <a:lstStyle/>
          <a:p>
            <a:pPr algn="ctr"/>
            <a:r>
              <a:rPr lang="en-US" sz="2250">
                <a:solidFill>
                  <a:srgbClr val="1A1A1A"/>
                </a:solidFill>
                <a:latin typeface="Georgia" pitchFamily="34" charset="0"/>
                <a:ea typeface="Georgia" pitchFamily="34" charset="-122"/>
                <a:cs typeface="Georgia" pitchFamily="34" charset="-120"/>
              </a:rPr>
              <a:t>Full Excel Dataset here and has been submitted separately</a:t>
            </a:r>
            <a:endParaRPr lang="en-US" sz="2250"/>
          </a:p>
        </p:txBody>
      </p:sp>
    </p:spTree>
    <p:extLst>
      <p:ext uri="{BB962C8B-B14F-4D97-AF65-F5344CB8AC3E}">
        <p14:creationId xmlns:p14="http://schemas.microsoft.com/office/powerpoint/2010/main" val="998156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0665206-d72e-4873-aa05-c896f9112ac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B41E382A2C774C9CEFC53F5565E55D" ma:contentTypeVersion="13" ma:contentTypeDescription="Create a new document." ma:contentTypeScope="" ma:versionID="4d3f19d93b55dd5a1996719dcd69df70">
  <xsd:schema xmlns:xsd="http://www.w3.org/2001/XMLSchema" xmlns:xs="http://www.w3.org/2001/XMLSchema" xmlns:p="http://schemas.microsoft.com/office/2006/metadata/properties" xmlns:ns3="b0665206-d72e-4873-aa05-c896f9112acb" xmlns:ns4="49635902-30e9-4156-a7b7-d74e8cef14e2" targetNamespace="http://schemas.microsoft.com/office/2006/metadata/properties" ma:root="true" ma:fieldsID="8e21a0feb704a54a8e30f4a6820a8b36" ns3:_="" ns4:_="">
    <xsd:import namespace="b0665206-d72e-4873-aa05-c896f9112acb"/>
    <xsd:import namespace="49635902-30e9-4156-a7b7-d74e8cef14e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4:SharedWithUsers" minOccurs="0"/>
                <xsd:element ref="ns4:SharedWithDetails" minOccurs="0"/>
                <xsd:element ref="ns4:SharingHintHash"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665206-d72e-4873-aa05-c896f9112a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9635902-30e9-4156-a7b7-d74e8cef14e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A3D4E3-28B4-4329-9FB5-A69D4AB1835D}">
  <ds:schemaRefs>
    <ds:schemaRef ds:uri="http://purl.org/dc/dcmitype/"/>
    <ds:schemaRef ds:uri="b0665206-d72e-4873-aa05-c896f9112acb"/>
    <ds:schemaRef ds:uri="http://purl.org/dc/terms/"/>
    <ds:schemaRef ds:uri="http://schemas.microsoft.com/office/2006/metadata/properties"/>
    <ds:schemaRef ds:uri="http://schemas.microsoft.com/office/2006/documentManagement/types"/>
    <ds:schemaRef ds:uri="49635902-30e9-4156-a7b7-d74e8cef14e2"/>
    <ds:schemaRef ds:uri="http://schemas.microsoft.com/office/infopath/2007/PartnerControls"/>
    <ds:schemaRef ds:uri="http://purl.org/dc/elements/1.1/"/>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433E750-E148-4153-8BA4-C265E276E2CE}">
  <ds:schemaRefs>
    <ds:schemaRef ds:uri="http://schemas.microsoft.com/sharepoint/v3/contenttype/forms"/>
  </ds:schemaRefs>
</ds:datastoreItem>
</file>

<file path=customXml/itemProps3.xml><?xml version="1.0" encoding="utf-8"?>
<ds:datastoreItem xmlns:ds="http://schemas.openxmlformats.org/officeDocument/2006/customXml" ds:itemID="{D5204A25-C750-46A3-BE37-72FB3EA4E921}">
  <ds:schemaRefs>
    <ds:schemaRef ds:uri="49635902-30e9-4156-a7b7-d74e8cef14e2"/>
    <ds:schemaRef ds:uri="b0665206-d72e-4873-aa05-c896f9112a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3731</Words>
  <Application>Microsoft Macintosh PowerPoint</Application>
  <PresentationFormat>On-screen Show (16:9)</PresentationFormat>
  <Paragraphs>439</Paragraphs>
  <Slides>20</Slides>
  <Notes>19</Notes>
  <HiddenSlides>2</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5" baseType="lpstr">
      <vt:lpstr>Arial</vt:lpstr>
      <vt:lpstr>Calibri</vt:lpstr>
      <vt:lpstr>Georgia</vt:lpstr>
      <vt:lpstr>Office Theme</vt:lpstr>
      <vt:lpstr>Microsoft Excel 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Food Waste — DMAIC</dc:title>
  <dc:subject>PptxGenJS Presentation</dc:subject>
  <dc:creator>PptxGenJS</dc:creator>
  <cp:lastModifiedBy>Alex Claunch</cp:lastModifiedBy>
  <cp:revision>1</cp:revision>
  <dcterms:created xsi:type="dcterms:W3CDTF">2026-04-16T21:45:01Z</dcterms:created>
  <dcterms:modified xsi:type="dcterms:W3CDTF">2026-05-28T17:59:44Z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0x01010026B41E382A2C774C9CEFC53F5565E55D</vt:lpwstr>
  </property>
</Properties>
</file>