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60" r:id="rId5"/>
    <p:sldId id="259"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4"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8408"/>
  </p:normalViewPr>
  <p:slideViewPr>
    <p:cSldViewPr snapToGrid="0">
      <p:cViewPr>
        <p:scale>
          <a:sx n="118" d="100"/>
          <a:sy n="118" d="100"/>
        </p:scale>
        <p:origin x="1384" y="-4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710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Production, Domestic Supply, and SC Waste — for each of these tonnage variables, the average country produces 5 to 10 times more than the median country, and skewness sits above 6. That's textbook right-skew. Population follows the same pattern (skewness 6.75) — a few giant countries pulling the average way up.</a:t>
            </a:r>
          </a:p>
          <a:p>
            <a:endParaRPr lang="en-US" dirty="0"/>
          </a:p>
          <a:p>
            <a:r>
              <a:rPr lang="en-US" dirty="0"/>
              <a:t>But Food (t) and the per-capita variables tell a different story. Their skewness is much lower, between 1.6 and 3.5. So while waste </a:t>
            </a:r>
            <a:r>
              <a:rPr lang="en-US" i="1" dirty="0"/>
              <a:t>volume</a:t>
            </a:r>
            <a:r>
              <a:rPr lang="en-US" dirty="0"/>
              <a:t> is concentrated in a handful of countries, waste </a:t>
            </a:r>
            <a:r>
              <a:rPr lang="en-US" i="1" dirty="0"/>
              <a:t>intensity</a:t>
            </a:r>
            <a:r>
              <a:rPr lang="en-US" dirty="0"/>
              <a:t> — how much each person wastes — is spread more evenly across the world.</a:t>
            </a:r>
          </a:p>
          <a:p>
            <a:endParaRPr lang="en-US" dirty="0"/>
          </a:p>
          <a:p>
            <a:r>
              <a:rPr lang="en-US" dirty="0"/>
              <a:t>The takeaway: our 10% reduction target lives in the upper tail. A small group of high-output countries drives the global total, which means that's where the leverage is.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Population alone does not predict waste — economic intensity and supply chain infrastructure matter more. Look at the contrast: China and India together hold over 2.8 billion people but generate dramatically different waste totals, while the U.S. produces 15.8 million tons of supply chain waste with less than a quarter of China's population.</a:t>
            </a:r>
            <a:endParaRPr lang="en-US" sz="1200"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B85042"/>
                </a:solidFill>
                <a:latin typeface="Calibri" pitchFamily="34" charset="0"/>
                <a:ea typeface="Calibri" pitchFamily="34" charset="-122"/>
                <a:cs typeface="Calibri" pitchFamily="34" charset="-120"/>
              </a:rPr>
              <a:t>Analysis: </a:t>
            </a:r>
            <a:r>
              <a:rPr lang="en-US" sz="1200" dirty="0">
                <a:solidFill>
                  <a:srgbClr val="2B2B2B"/>
                </a:solidFill>
                <a:latin typeface="Calibri" pitchFamily="34" charset="0"/>
                <a:ea typeface="Calibri" pitchFamily="34" charset="-122"/>
                <a:cs typeface="Calibri" pitchFamily="34" charset="-120"/>
              </a:rPr>
              <a:t>Argentina and Ukraine produce significant volumes (56.86M t and 35.88M t) yet waste under 2% of their production. Brazil loses 10.1% of what it produces — more than double the US rate. Production volume drives total waste, but efficiency determines the rate.</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B85042"/>
                </a:solidFill>
                <a:latin typeface="Calibri" pitchFamily="34" charset="0"/>
                <a:ea typeface="Calibri" pitchFamily="34" charset="-122"/>
                <a:cs typeface="Calibri" pitchFamily="34" charset="-120"/>
              </a:rPr>
              <a:t>Analysis: </a:t>
            </a:r>
            <a:r>
              <a:rPr lang="en-US" sz="1200">
                <a:solidFill>
                  <a:srgbClr val="2B2B2B"/>
                </a:solidFill>
                <a:latin typeface="Calibri" pitchFamily="34" charset="0"/>
                <a:ea typeface="Calibri" pitchFamily="34" charset="-122"/>
                <a:cs typeface="Calibri" pitchFamily="34" charset="-120"/>
              </a:rPr>
              <a:t>Brazil and Mexico lose 16.1% and 11.8% of domestic supply to waste — more than 3x the US rate. Countries with comparable supply volumes show vastly different loss rates, pointing to cold chain infrastructure and handling practices as the key differentiators.</a:t>
            </a:r>
            <a:endParaRPr lang="en-US" sz="1200"/>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B85042"/>
                </a:solidFill>
                <a:latin typeface="Calibri" pitchFamily="34" charset="0"/>
                <a:ea typeface="Calibri" pitchFamily="34" charset="-122"/>
                <a:cs typeface="Calibri" pitchFamily="34" charset="-120"/>
              </a:rPr>
              <a:t>Analysis: </a:t>
            </a:r>
            <a:r>
              <a:rPr lang="en-US" sz="1200">
                <a:solidFill>
                  <a:srgbClr val="2B2B2B"/>
                </a:solidFill>
                <a:latin typeface="Calibri" pitchFamily="34" charset="0"/>
                <a:ea typeface="Calibri" pitchFamily="34" charset="-122"/>
                <a:cs typeface="Calibri" pitchFamily="34" charset="-120"/>
              </a:rPr>
              <a:t>China directs only 8.9M t to food consumption yet generates 11.94M t of supply chain waste — more waste than food delivered. Nigeria, with comparable food volume, produces only 7.7% as waste. Reducing waste does not require reducing food supply — it requires fixing how the chain handles what flows through it.</a:t>
            </a:r>
            <a:endParaRPr lang="en-US" sz="1200"/>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B85042"/>
                </a:solidFill>
                <a:latin typeface="Calibri" pitchFamily="34" charset="0"/>
                <a:ea typeface="Calibri" pitchFamily="34" charset="-122"/>
                <a:cs typeface="Calibri" pitchFamily="34" charset="-120"/>
              </a:rPr>
              <a:t>Analysis: </a:t>
            </a:r>
            <a:r>
              <a:rPr lang="en-US" sz="1200">
                <a:solidFill>
                  <a:srgbClr val="2B2B2B"/>
                </a:solidFill>
                <a:latin typeface="Calibri" pitchFamily="34" charset="0"/>
                <a:ea typeface="Calibri" pitchFamily="34" charset="-122"/>
                <a:cs typeface="Calibri" pitchFamily="34" charset="-120"/>
              </a:rPr>
              <a:t>The United States, China, and Brazil account for 62.3% of global supply chain waste (37.99M t). The US and China share a near-identical 4.6% waste rate despite different supply chain structures. Mexico wastes 18.4% of what it produces — nearly 4x the US rate — signaling a structurally inefficient system.</a:t>
            </a:r>
            <a:endParaRPr lang="en-US" sz="1200"/>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“Looking at waste per capita, Slovenia ranks the highest among all 122 countries, followed closely by Brazil and the United States. But what stands out is that countries like Paraguay and Malawi appear in a similar range as much larger economies.</a:t>
            </a:r>
          </a:p>
          <a:p>
            <a:r>
              <a:rPr lang="en-US"/>
              <a:t>So this tells us that waste per person isn’t driven by population size or economic scale alone. Instead, something deeper—structural factors like infrastructure, efficiency, and consumption patterns—is shaping these outcomes.”</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bring in food supply per capita, we start to see the answer. Malawi, for example, has the highest food supply per person, but it also has relatively high waste.</a:t>
            </a:r>
          </a:p>
          <a:p>
            <a:r>
              <a:rPr lang="en-US" dirty="0"/>
              <a:t>However, Zambia and Lesotho have nearly the same level of food supply, yet waste far less. This shows that availability alone isn’t the driver.</a:t>
            </a:r>
          </a:p>
          <a:p>
            <a:r>
              <a:rPr lang="en-US" dirty="0"/>
              <a:t>Instead, it’s how effectively the system handles that supply—through storage, distribution, and consumption—that determines waste. In other words, waste is less about how much food a country has, and more about how well it manages it.”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85042"/>
        </a:solidFill>
        <a:effectLst/>
      </p:bgPr>
    </p:bg>
    <p:spTree>
      <p:nvGrpSpPr>
        <p:cNvPr id="1" name=""/>
        <p:cNvGrpSpPr/>
        <p:nvPr/>
      </p:nvGrpSpPr>
      <p:grpSpPr>
        <a:xfrm>
          <a:off x="0" y="0"/>
          <a:ext cx="0" cy="0"/>
          <a:chOff x="0" y="0"/>
          <a:chExt cx="0" cy="0"/>
        </a:xfrm>
      </p:grpSpPr>
      <p:sp>
        <p:nvSpPr>
          <p:cNvPr id="2" name="Shape 0"/>
          <p:cNvSpPr/>
          <p:nvPr/>
        </p:nvSpPr>
        <p:spPr>
          <a:xfrm>
            <a:off x="0" y="0"/>
            <a:ext cx="3840480" cy="5143500"/>
          </a:xfrm>
          <a:prstGeom prst="rect">
            <a:avLst/>
          </a:prstGeom>
          <a:solidFill>
            <a:srgbClr val="F5F1EA"/>
          </a:solidFill>
          <a:ln w="12700">
            <a:solidFill>
              <a:srgbClr val="F5F1EA"/>
            </a:solidFill>
            <a:prstDash val="solid"/>
          </a:ln>
        </p:spPr>
        <p:txBody>
          <a:bodyPr/>
          <a:lstStyle/>
          <a:p>
            <a:endParaRPr lang="en-US"/>
          </a:p>
        </p:txBody>
      </p:sp>
      <p:sp>
        <p:nvSpPr>
          <p:cNvPr id="3" name="Text 1"/>
          <p:cNvSpPr/>
          <p:nvPr/>
        </p:nvSpPr>
        <p:spPr>
          <a:xfrm>
            <a:off x="457200" y="457200"/>
            <a:ext cx="3200400" cy="274320"/>
          </a:xfrm>
          <a:prstGeom prst="rect">
            <a:avLst/>
          </a:prstGeom>
          <a:noFill/>
          <a:ln/>
        </p:spPr>
        <p:txBody>
          <a:bodyPr wrap="square" lIns="0" tIns="0" rIns="0" bIns="0" rtlCol="0" anchor="ctr"/>
          <a:lstStyle/>
          <a:p>
            <a:pPr marL="0" indent="0">
              <a:buNone/>
            </a:pPr>
            <a:r>
              <a:rPr lang="en-US" sz="1000" b="1" kern="0" spc="600">
                <a:solidFill>
                  <a:srgbClr val="B85042"/>
                </a:solidFill>
                <a:latin typeface="Calibri" pitchFamily="34" charset="0"/>
                <a:ea typeface="Calibri" pitchFamily="34" charset="-122"/>
                <a:cs typeface="Calibri" pitchFamily="34" charset="-120"/>
              </a:rPr>
              <a:t>DMAIC  |  FAO 2019</a:t>
            </a:r>
            <a:endParaRPr lang="en-US" sz="1000"/>
          </a:p>
        </p:txBody>
      </p:sp>
      <p:sp>
        <p:nvSpPr>
          <p:cNvPr id="4" name="Text 2"/>
          <p:cNvSpPr/>
          <p:nvPr/>
        </p:nvSpPr>
        <p:spPr>
          <a:xfrm>
            <a:off x="457200" y="1188720"/>
            <a:ext cx="3200400" cy="2926080"/>
          </a:xfrm>
          <a:prstGeom prst="rect">
            <a:avLst/>
          </a:prstGeom>
          <a:noFill/>
          <a:ln/>
        </p:spPr>
        <p:txBody>
          <a:bodyPr wrap="square" lIns="0" tIns="0" rIns="0" bIns="0" rtlCol="0" anchor="ctr"/>
          <a:lstStyle/>
          <a:p>
            <a:pPr marL="0" indent="0">
              <a:lnSpc>
                <a:spcPct val="95000"/>
              </a:lnSpc>
              <a:buNone/>
            </a:pPr>
            <a:r>
              <a:rPr lang="en-US" sz="5600" b="1">
                <a:solidFill>
                  <a:srgbClr val="2B2B2B"/>
                </a:solidFill>
                <a:latin typeface="Georgia" pitchFamily="34" charset="0"/>
                <a:ea typeface="Georgia" pitchFamily="34" charset="-122"/>
                <a:cs typeface="Georgia" pitchFamily="34" charset="-120"/>
              </a:rPr>
              <a:t>WORLD</a:t>
            </a:r>
            <a:endParaRPr lang="en-US" sz="5600"/>
          </a:p>
          <a:p>
            <a:pPr marL="0" indent="0">
              <a:lnSpc>
                <a:spcPct val="95000"/>
              </a:lnSpc>
              <a:buNone/>
            </a:pPr>
            <a:r>
              <a:rPr lang="en-US" sz="5600" b="1">
                <a:solidFill>
                  <a:srgbClr val="2B2B2B"/>
                </a:solidFill>
                <a:latin typeface="Georgia" pitchFamily="34" charset="0"/>
                <a:ea typeface="Georgia" pitchFamily="34" charset="-122"/>
                <a:cs typeface="Georgia" pitchFamily="34" charset="-120"/>
              </a:rPr>
              <a:t>FOOD</a:t>
            </a:r>
            <a:endParaRPr lang="en-US" sz="5600"/>
          </a:p>
          <a:p>
            <a:pPr marL="0" indent="0">
              <a:lnSpc>
                <a:spcPct val="95000"/>
              </a:lnSpc>
              <a:buNone/>
            </a:pPr>
            <a:r>
              <a:rPr lang="en-US" sz="5600" b="1">
                <a:solidFill>
                  <a:srgbClr val="2B2B2B"/>
                </a:solidFill>
                <a:latin typeface="Georgia" pitchFamily="34" charset="0"/>
                <a:ea typeface="Georgia" pitchFamily="34" charset="-122"/>
                <a:cs typeface="Georgia" pitchFamily="34" charset="-120"/>
              </a:rPr>
              <a:t>WASTE</a:t>
            </a:r>
            <a:endParaRPr lang="en-US" sz="5600"/>
          </a:p>
        </p:txBody>
      </p:sp>
      <p:sp>
        <p:nvSpPr>
          <p:cNvPr id="5" name="Text 3"/>
          <p:cNvSpPr/>
          <p:nvPr/>
        </p:nvSpPr>
        <p:spPr>
          <a:xfrm>
            <a:off x="457200" y="4206240"/>
            <a:ext cx="3200400" cy="274320"/>
          </a:xfrm>
          <a:prstGeom prst="rect">
            <a:avLst/>
          </a:prstGeom>
          <a:noFill/>
          <a:ln/>
        </p:spPr>
        <p:txBody>
          <a:bodyPr wrap="square" lIns="0" tIns="0" rIns="0" bIns="0" rtlCol="0" anchor="ctr"/>
          <a:lstStyle/>
          <a:p>
            <a:pPr marL="0" indent="0">
              <a:buNone/>
            </a:pPr>
            <a:r>
              <a:rPr lang="en-US" sz="1200" i="1">
                <a:solidFill>
                  <a:srgbClr val="B85042"/>
                </a:solidFill>
                <a:latin typeface="Calibri" pitchFamily="34" charset="0"/>
                <a:ea typeface="Calibri" pitchFamily="34" charset="-122"/>
                <a:cs typeface="Calibri" pitchFamily="34" charset="-120"/>
              </a:rPr>
              <a:t>Supply Chain Strategy</a:t>
            </a:r>
            <a:endParaRPr lang="en-US" sz="1200"/>
          </a:p>
        </p:txBody>
      </p:sp>
      <p:sp>
        <p:nvSpPr>
          <p:cNvPr id="6" name="Text 4"/>
          <p:cNvSpPr/>
          <p:nvPr/>
        </p:nvSpPr>
        <p:spPr>
          <a:xfrm>
            <a:off x="4572000" y="1645920"/>
            <a:ext cx="4114800" cy="274320"/>
          </a:xfrm>
          <a:prstGeom prst="rect">
            <a:avLst/>
          </a:prstGeom>
          <a:noFill/>
          <a:ln/>
        </p:spPr>
        <p:txBody>
          <a:bodyPr wrap="square" lIns="0" tIns="0" rIns="0" bIns="0" rtlCol="0" anchor="ctr"/>
          <a:lstStyle/>
          <a:p>
            <a:pPr marL="0" indent="0">
              <a:buNone/>
            </a:pPr>
            <a:r>
              <a:rPr lang="en-US" sz="1000" b="1" kern="0" spc="600">
                <a:solidFill>
                  <a:srgbClr val="FFFFFF"/>
                </a:solidFill>
                <a:latin typeface="Calibri" pitchFamily="34" charset="0"/>
                <a:ea typeface="Calibri" pitchFamily="34" charset="-122"/>
                <a:cs typeface="Calibri" pitchFamily="34" charset="-120"/>
              </a:rPr>
              <a:t>PRESENTED BY</a:t>
            </a:r>
            <a:endParaRPr lang="en-US" sz="1000"/>
          </a:p>
        </p:txBody>
      </p:sp>
      <p:sp>
        <p:nvSpPr>
          <p:cNvPr id="7" name="Text 5"/>
          <p:cNvSpPr/>
          <p:nvPr/>
        </p:nvSpPr>
        <p:spPr>
          <a:xfrm>
            <a:off x="4572000" y="2011680"/>
            <a:ext cx="4114800" cy="2286000"/>
          </a:xfrm>
          <a:prstGeom prst="rect">
            <a:avLst/>
          </a:prstGeom>
          <a:noFill/>
          <a:ln/>
        </p:spPr>
        <p:txBody>
          <a:bodyPr wrap="square" lIns="0" tIns="0" rIns="0" bIns="0" rtlCol="0" anchor="ctr"/>
          <a:lstStyle/>
          <a:p>
            <a:pPr marL="0" indent="0">
              <a:lnSpc>
                <a:spcPct val="130000"/>
              </a:lnSpc>
              <a:buNone/>
            </a:pPr>
            <a:r>
              <a:rPr lang="en-US" sz="2000">
                <a:solidFill>
                  <a:srgbClr val="FFFFFF"/>
                </a:solidFill>
                <a:latin typeface="Georgia" pitchFamily="34" charset="0"/>
                <a:ea typeface="Georgia" pitchFamily="34" charset="-122"/>
                <a:cs typeface="Georgia" pitchFamily="34" charset="-120"/>
              </a:rPr>
              <a:t>Alex Claunch</a:t>
            </a:r>
            <a:endParaRPr lang="en-US" sz="2000"/>
          </a:p>
          <a:p>
            <a:pPr marL="0" indent="0">
              <a:lnSpc>
                <a:spcPct val="130000"/>
              </a:lnSpc>
              <a:buNone/>
            </a:pPr>
            <a:r>
              <a:rPr lang="en-US" sz="2000">
                <a:solidFill>
                  <a:srgbClr val="FFFFFF"/>
                </a:solidFill>
                <a:latin typeface="Georgia" pitchFamily="34" charset="0"/>
                <a:ea typeface="Georgia" pitchFamily="34" charset="-122"/>
                <a:cs typeface="Georgia" pitchFamily="34" charset="-120"/>
              </a:rPr>
              <a:t>Abel Lopez</a:t>
            </a:r>
            <a:endParaRPr lang="en-US" sz="2000"/>
          </a:p>
          <a:p>
            <a:pPr marL="0" indent="0">
              <a:lnSpc>
                <a:spcPct val="130000"/>
              </a:lnSpc>
              <a:buNone/>
            </a:pPr>
            <a:r>
              <a:rPr lang="en-US" sz="2000">
                <a:solidFill>
                  <a:srgbClr val="FFFFFF"/>
                </a:solidFill>
                <a:latin typeface="Georgia" pitchFamily="34" charset="0"/>
                <a:ea typeface="Georgia" pitchFamily="34" charset="-122"/>
                <a:cs typeface="Georgia" pitchFamily="34" charset="-120"/>
              </a:rPr>
              <a:t>Benjamin Aamodt</a:t>
            </a:r>
            <a:endParaRPr lang="en-US" sz="2000"/>
          </a:p>
          <a:p>
            <a:pPr marL="0" indent="0">
              <a:lnSpc>
                <a:spcPct val="130000"/>
              </a:lnSpc>
              <a:buNone/>
            </a:pPr>
            <a:r>
              <a:rPr lang="en-US" sz="2000">
                <a:solidFill>
                  <a:srgbClr val="FFFFFF"/>
                </a:solidFill>
                <a:latin typeface="Georgia" pitchFamily="34" charset="0"/>
                <a:ea typeface="Georgia" pitchFamily="34" charset="-122"/>
                <a:cs typeface="Georgia" pitchFamily="34" charset="-120"/>
              </a:rPr>
              <a:t>Joon Park</a:t>
            </a:r>
            <a:endParaRPr lang="en-US" sz="2000"/>
          </a:p>
          <a:p>
            <a:pPr marL="0" indent="0">
              <a:lnSpc>
                <a:spcPct val="130000"/>
              </a:lnSpc>
              <a:buNone/>
            </a:pPr>
            <a:r>
              <a:rPr lang="en-US" sz="2000">
                <a:solidFill>
                  <a:srgbClr val="FFFFFF"/>
                </a:solidFill>
                <a:latin typeface="Georgia" pitchFamily="34" charset="0"/>
                <a:ea typeface="Georgia" pitchFamily="34" charset="-122"/>
                <a:cs typeface="Georgia" pitchFamily="34" charset="-120"/>
              </a:rPr>
              <a:t>Julius Pedro</a:t>
            </a:r>
            <a:endParaRPr lang="en-US" sz="2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marL="0" indent="0">
              <a:buNone/>
            </a:pPr>
            <a:r>
              <a:rPr lang="en-US" sz="1000" b="1" kern="0" spc="400">
                <a:solidFill>
                  <a:srgbClr val="B85042"/>
                </a:solidFill>
                <a:latin typeface="Calibri" pitchFamily="34" charset="0"/>
                <a:ea typeface="Calibri" pitchFamily="34" charset="-122"/>
                <a:cs typeface="Calibri" pitchFamily="34" charset="-120"/>
              </a:rPr>
              <a:t>STEP 1 — DEFINE</a:t>
            </a:r>
            <a:endParaRPr lang="en-US" sz="1000"/>
          </a:p>
        </p:txBody>
      </p:sp>
      <p:sp>
        <p:nvSpPr>
          <p:cNvPr id="3" name="Text 1"/>
          <p:cNvSpPr/>
          <p:nvPr/>
        </p:nvSpPr>
        <p:spPr>
          <a:xfrm>
            <a:off x="457200" y="502920"/>
            <a:ext cx="8229600" cy="502920"/>
          </a:xfrm>
          <a:prstGeom prst="rect">
            <a:avLst/>
          </a:prstGeom>
          <a:noFill/>
          <a:ln/>
        </p:spPr>
        <p:txBody>
          <a:bodyPr wrap="square" lIns="0" tIns="0" rIns="0" bIns="0" rtlCol="0" anchor="ctr"/>
          <a:lstStyle/>
          <a:p>
            <a:pPr marL="0" indent="0">
              <a:buNone/>
            </a:pPr>
            <a:r>
              <a:rPr lang="en-US" sz="2800" b="1">
                <a:solidFill>
                  <a:srgbClr val="2B2B2B"/>
                </a:solidFill>
                <a:latin typeface="Georgia" pitchFamily="34" charset="0"/>
                <a:ea typeface="Georgia" pitchFamily="34" charset="-122"/>
                <a:cs typeface="Georgia" pitchFamily="34" charset="-120"/>
              </a:rPr>
              <a:t>Problem Statement</a:t>
            </a:r>
            <a:endParaRPr lang="en-US" sz="2800"/>
          </a:p>
        </p:txBody>
      </p:sp>
      <p:sp>
        <p:nvSpPr>
          <p:cNvPr id="4" name="Shape 2"/>
          <p:cNvSpPr/>
          <p:nvPr/>
        </p:nvSpPr>
        <p:spPr>
          <a:xfrm>
            <a:off x="457200" y="1051560"/>
            <a:ext cx="457200" cy="36576"/>
          </a:xfrm>
          <a:prstGeom prst="rect">
            <a:avLst/>
          </a:prstGeom>
          <a:solidFill>
            <a:srgbClr val="B85042"/>
          </a:solidFill>
          <a:ln w="12700">
            <a:solidFill>
              <a:srgbClr val="B85042"/>
            </a:solidFill>
            <a:prstDash val="solid"/>
          </a:ln>
        </p:spPr>
        <p:txBody>
          <a:bodyPr/>
          <a:lstStyle/>
          <a:p>
            <a:endParaRPr lang="en-US"/>
          </a:p>
        </p:txBody>
      </p:sp>
      <p:sp>
        <p:nvSpPr>
          <p:cNvPr id="5" name="Shape 3"/>
          <p:cNvSpPr/>
          <p:nvPr/>
        </p:nvSpPr>
        <p:spPr>
          <a:xfrm>
            <a:off x="457200" y="1371600"/>
            <a:ext cx="8229600" cy="1280160"/>
          </a:xfrm>
          <a:prstGeom prst="rect">
            <a:avLst/>
          </a:prstGeom>
          <a:solidFill>
            <a:srgbClr val="F5F1EA"/>
          </a:solidFill>
          <a:ln w="12700">
            <a:solidFill>
              <a:srgbClr val="F5F1EA"/>
            </a:solidFill>
            <a:prstDash val="solid"/>
          </a:ln>
        </p:spPr>
        <p:txBody>
          <a:bodyPr/>
          <a:lstStyle/>
          <a:p>
            <a:endParaRPr lang="en-US"/>
          </a:p>
        </p:txBody>
      </p:sp>
      <p:sp>
        <p:nvSpPr>
          <p:cNvPr id="6" name="Shape 4"/>
          <p:cNvSpPr/>
          <p:nvPr/>
        </p:nvSpPr>
        <p:spPr>
          <a:xfrm>
            <a:off x="457200" y="1371600"/>
            <a:ext cx="73152" cy="1280160"/>
          </a:xfrm>
          <a:prstGeom prst="rect">
            <a:avLst/>
          </a:prstGeom>
          <a:solidFill>
            <a:srgbClr val="B85042"/>
          </a:solidFill>
          <a:ln w="12700">
            <a:solidFill>
              <a:srgbClr val="B85042"/>
            </a:solidFill>
            <a:prstDash val="solid"/>
          </a:ln>
        </p:spPr>
        <p:txBody>
          <a:bodyPr/>
          <a:lstStyle/>
          <a:p>
            <a:endParaRPr lang="en-US"/>
          </a:p>
        </p:txBody>
      </p:sp>
      <p:sp>
        <p:nvSpPr>
          <p:cNvPr id="7" name="Text 5"/>
          <p:cNvSpPr/>
          <p:nvPr/>
        </p:nvSpPr>
        <p:spPr>
          <a:xfrm>
            <a:off x="777240" y="1453896"/>
            <a:ext cx="8153696" cy="1152144"/>
          </a:xfrm>
          <a:prstGeom prst="rect">
            <a:avLst/>
          </a:prstGeom>
          <a:noFill/>
          <a:ln/>
        </p:spPr>
        <p:txBody>
          <a:bodyPr wrap="square" lIns="0" tIns="0" rIns="0" bIns="0" rtlCol="0" anchor="ctr"/>
          <a:lstStyle/>
          <a:p>
            <a:pPr marL="0" indent="0">
              <a:buNone/>
            </a:pPr>
            <a:r>
              <a:rPr lang="en-US" sz="2200" i="1">
                <a:solidFill>
                  <a:srgbClr val="2B2B2B"/>
                </a:solidFill>
                <a:latin typeface="Georgia" pitchFamily="34" charset="0"/>
                <a:ea typeface="Georgia" pitchFamily="34" charset="-122"/>
                <a:cs typeface="Georgia" pitchFamily="34" charset="-120"/>
              </a:rPr>
              <a:t>“There’s an opportunity to reduce food waste worldwide.”</a:t>
            </a:r>
            <a:endParaRPr lang="en-US" sz="2200"/>
          </a:p>
        </p:txBody>
      </p:sp>
      <p:pic>
        <p:nvPicPr>
          <p:cNvPr id="11" name="Picture 10">
            <a:extLst>
              <a:ext uri="{FF2B5EF4-FFF2-40B4-BE49-F238E27FC236}">
                <a16:creationId xmlns:a16="http://schemas.microsoft.com/office/drawing/2014/main" id="{B1FD719D-C604-FE2E-3985-6048F760BC6A}"/>
              </a:ext>
            </a:extLst>
          </p:cNvPr>
          <p:cNvPicPr>
            <a:picLocks noChangeAspect="1"/>
          </p:cNvPicPr>
          <p:nvPr/>
        </p:nvPicPr>
        <p:blipFill>
          <a:blip r:embed="rId3"/>
          <a:srcRect t="32016"/>
          <a:stretch>
            <a:fillRect/>
          </a:stretch>
        </p:blipFill>
        <p:spPr>
          <a:xfrm>
            <a:off x="436251" y="2935224"/>
            <a:ext cx="8250549" cy="1875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marL="0" indent="0">
              <a:buNone/>
            </a:pPr>
            <a:r>
              <a:rPr lang="en-US" sz="1000" b="1" kern="0" spc="400">
                <a:solidFill>
                  <a:srgbClr val="B85042"/>
                </a:solidFill>
                <a:latin typeface="Calibri" pitchFamily="34" charset="0"/>
                <a:ea typeface="Calibri" pitchFamily="34" charset="-122"/>
                <a:cs typeface="Calibri" pitchFamily="34" charset="-120"/>
              </a:rPr>
              <a:t>STEP 2 — MEASURE</a:t>
            </a:r>
            <a:endParaRPr lang="en-US" sz="1000"/>
          </a:p>
        </p:txBody>
      </p:sp>
      <p:sp>
        <p:nvSpPr>
          <p:cNvPr id="3" name="Text 1"/>
          <p:cNvSpPr/>
          <p:nvPr/>
        </p:nvSpPr>
        <p:spPr>
          <a:xfrm>
            <a:off x="457200" y="502920"/>
            <a:ext cx="8229600" cy="502920"/>
          </a:xfrm>
          <a:prstGeom prst="rect">
            <a:avLst/>
          </a:prstGeom>
          <a:noFill/>
          <a:ln/>
        </p:spPr>
        <p:txBody>
          <a:bodyPr wrap="square" lIns="0" tIns="0" rIns="0" bIns="0" rtlCol="0" anchor="ctr"/>
          <a:lstStyle/>
          <a:p>
            <a:pPr marL="0" indent="0">
              <a:buNone/>
            </a:pPr>
            <a:r>
              <a:rPr lang="en-US" sz="2800" b="1">
                <a:solidFill>
                  <a:srgbClr val="2B2B2B"/>
                </a:solidFill>
                <a:latin typeface="Georgia" pitchFamily="34" charset="0"/>
                <a:ea typeface="Georgia" pitchFamily="34" charset="-122"/>
                <a:cs typeface="Georgia" pitchFamily="34" charset="-120"/>
              </a:rPr>
              <a:t>Data Source &amp; Sufficiency</a:t>
            </a:r>
            <a:endParaRPr lang="en-US" sz="2800"/>
          </a:p>
        </p:txBody>
      </p:sp>
      <p:sp>
        <p:nvSpPr>
          <p:cNvPr id="4" name="Shape 2"/>
          <p:cNvSpPr/>
          <p:nvPr/>
        </p:nvSpPr>
        <p:spPr>
          <a:xfrm>
            <a:off x="457200" y="1051560"/>
            <a:ext cx="457200" cy="36576"/>
          </a:xfrm>
          <a:prstGeom prst="rect">
            <a:avLst/>
          </a:prstGeom>
          <a:solidFill>
            <a:srgbClr val="B85042"/>
          </a:solidFill>
          <a:ln w="12700">
            <a:solidFill>
              <a:srgbClr val="B85042"/>
            </a:solidFill>
            <a:prstDash val="solid"/>
          </a:ln>
        </p:spPr>
        <p:txBody>
          <a:bodyPr/>
          <a:lstStyle/>
          <a:p>
            <a:endParaRPr lang="en-US"/>
          </a:p>
        </p:txBody>
      </p:sp>
      <p:sp>
        <p:nvSpPr>
          <p:cNvPr id="5" name="Text 3"/>
          <p:cNvSpPr/>
          <p:nvPr/>
        </p:nvSpPr>
        <p:spPr>
          <a:xfrm>
            <a:off x="457200" y="1371600"/>
            <a:ext cx="3931920" cy="320040"/>
          </a:xfrm>
          <a:prstGeom prst="rect">
            <a:avLst/>
          </a:prstGeom>
          <a:noFill/>
          <a:ln/>
        </p:spPr>
        <p:txBody>
          <a:bodyPr wrap="square" lIns="0" tIns="0" rIns="0" bIns="0" rtlCol="0" anchor="ctr"/>
          <a:lstStyle/>
          <a:p>
            <a:pPr marL="0" indent="0">
              <a:buNone/>
            </a:pPr>
            <a:r>
              <a:rPr lang="en-US" sz="1400" b="1">
                <a:solidFill>
                  <a:srgbClr val="B85042"/>
                </a:solidFill>
                <a:latin typeface="Calibri" pitchFamily="34" charset="0"/>
                <a:ea typeface="Calibri" pitchFamily="34" charset="-122"/>
                <a:cs typeface="Calibri" pitchFamily="34" charset="-120"/>
              </a:rPr>
              <a:t>Data Source</a:t>
            </a:r>
            <a:endParaRPr lang="en-US" sz="1400"/>
          </a:p>
        </p:txBody>
      </p:sp>
      <p:sp>
        <p:nvSpPr>
          <p:cNvPr id="6" name="Text 4"/>
          <p:cNvSpPr/>
          <p:nvPr/>
        </p:nvSpPr>
        <p:spPr>
          <a:xfrm>
            <a:off x="457200" y="1737360"/>
            <a:ext cx="3931920" cy="1463040"/>
          </a:xfrm>
          <a:prstGeom prst="rect">
            <a:avLst/>
          </a:prstGeom>
          <a:noFill/>
          <a:ln/>
        </p:spPr>
        <p:txBody>
          <a:bodyPr wrap="square" lIns="0" tIns="0" rIns="0" bIns="0" rtlCol="0" anchor="t"/>
          <a:lstStyle/>
          <a:p>
            <a:pPr marL="0" indent="0">
              <a:buNone/>
            </a:pPr>
            <a:r>
              <a:rPr lang="en-US" sz="1300">
                <a:solidFill>
                  <a:srgbClr val="2B2B2B"/>
                </a:solidFill>
                <a:latin typeface="Calibri" pitchFamily="34" charset="0"/>
                <a:ea typeface="Calibri" pitchFamily="34" charset="-122"/>
                <a:cs typeface="Calibri" pitchFamily="34" charset="-120"/>
              </a:rPr>
              <a:t>FAO (Food and Agriculture Organization) 2019 global dataset.</a:t>
            </a:r>
            <a:endParaRPr lang="en-US" sz="1300"/>
          </a:p>
          <a:p>
            <a:pPr marL="0" indent="0">
              <a:buNone/>
            </a:pPr>
            <a:r>
              <a:rPr lang="en-US" sz="600">
                <a:solidFill>
                  <a:srgbClr val="2B2B2B"/>
                </a:solidFill>
                <a:latin typeface="Calibri" pitchFamily="34" charset="0"/>
                <a:ea typeface="Calibri" pitchFamily="34" charset="-122"/>
                <a:cs typeface="Calibri" pitchFamily="34" charset="-120"/>
              </a:rPr>
              <a:t> </a:t>
            </a:r>
            <a:endParaRPr lang="en-US" sz="1300"/>
          </a:p>
          <a:p>
            <a:pPr marL="0" indent="0">
              <a:buNone/>
            </a:pPr>
            <a:r>
              <a:rPr lang="en-US" sz="1300">
                <a:solidFill>
                  <a:srgbClr val="2B2B2B"/>
                </a:solidFill>
                <a:latin typeface="Calibri" pitchFamily="34" charset="0"/>
                <a:ea typeface="Calibri" pitchFamily="34" charset="-122"/>
                <a:cs typeface="Calibri" pitchFamily="34" charset="-120"/>
              </a:rPr>
              <a:t>Publicly available, standardized, and widely used in global supply chain and food security research.</a:t>
            </a:r>
            <a:endParaRPr lang="en-US" sz="1300"/>
          </a:p>
        </p:txBody>
      </p:sp>
      <p:sp>
        <p:nvSpPr>
          <p:cNvPr id="7" name="Text 5"/>
          <p:cNvSpPr/>
          <p:nvPr/>
        </p:nvSpPr>
        <p:spPr>
          <a:xfrm>
            <a:off x="4754880" y="1371600"/>
            <a:ext cx="3931920" cy="320040"/>
          </a:xfrm>
          <a:prstGeom prst="rect">
            <a:avLst/>
          </a:prstGeom>
          <a:noFill/>
          <a:ln/>
        </p:spPr>
        <p:txBody>
          <a:bodyPr wrap="square" lIns="0" tIns="0" rIns="0" bIns="0" rtlCol="0" anchor="ctr"/>
          <a:lstStyle/>
          <a:p>
            <a:pPr marL="0" indent="0">
              <a:buNone/>
            </a:pPr>
            <a:r>
              <a:rPr lang="en-US" sz="1400" b="1">
                <a:solidFill>
                  <a:srgbClr val="B85042"/>
                </a:solidFill>
                <a:latin typeface="Calibri" pitchFamily="34" charset="0"/>
                <a:ea typeface="Calibri" pitchFamily="34" charset="-122"/>
                <a:cs typeface="Calibri" pitchFamily="34" charset="-120"/>
              </a:rPr>
              <a:t>Sufficiency &amp; Validity</a:t>
            </a:r>
            <a:endParaRPr lang="en-US" sz="1400"/>
          </a:p>
        </p:txBody>
      </p:sp>
      <p:sp>
        <p:nvSpPr>
          <p:cNvPr id="8" name="Text 6"/>
          <p:cNvSpPr/>
          <p:nvPr/>
        </p:nvSpPr>
        <p:spPr>
          <a:xfrm>
            <a:off x="4754880" y="1737360"/>
            <a:ext cx="3931920" cy="1828800"/>
          </a:xfrm>
          <a:prstGeom prst="rect">
            <a:avLst/>
          </a:prstGeom>
          <a:noFill/>
          <a:ln/>
        </p:spPr>
        <p:txBody>
          <a:bodyPr wrap="square" lIns="0" tIns="0" rIns="0" bIns="0" rtlCol="0" anchor="t"/>
          <a:lstStyle/>
          <a:p>
            <a:pPr marL="0" indent="0">
              <a:buNone/>
            </a:pPr>
            <a:r>
              <a:rPr lang="en-US" sz="1300" b="1">
                <a:solidFill>
                  <a:srgbClr val="2B2B2B"/>
                </a:solidFill>
                <a:latin typeface="Calibri" pitchFamily="34" charset="0"/>
                <a:ea typeface="Calibri" pitchFamily="34" charset="-122"/>
                <a:cs typeface="Calibri" pitchFamily="34" charset="-120"/>
              </a:rPr>
              <a:t>122 sovereign countries</a:t>
            </a:r>
            <a:r>
              <a:rPr lang="en-US" sz="1300">
                <a:solidFill>
                  <a:srgbClr val="2B2B2B"/>
                </a:solidFill>
                <a:latin typeface="Calibri" pitchFamily="34" charset="0"/>
                <a:ea typeface="Calibri" pitchFamily="34" charset="-122"/>
                <a:cs typeface="Calibri" pitchFamily="34" charset="-120"/>
              </a:rPr>
              <a:t> across 5 continents after cleaning.</a:t>
            </a:r>
            <a:endParaRPr lang="en-US" sz="1300"/>
          </a:p>
          <a:p>
            <a:pPr marL="0" indent="0">
              <a:buNone/>
            </a:pPr>
            <a:r>
              <a:rPr lang="en-US" sz="600">
                <a:solidFill>
                  <a:srgbClr val="2B2B2B"/>
                </a:solidFill>
                <a:latin typeface="Calibri" pitchFamily="34" charset="0"/>
                <a:ea typeface="Calibri" pitchFamily="34" charset="-122"/>
                <a:cs typeface="Calibri" pitchFamily="34" charset="-120"/>
              </a:rPr>
              <a:t> </a:t>
            </a:r>
            <a:endParaRPr lang="en-US" sz="1300"/>
          </a:p>
          <a:p>
            <a:pPr marL="0" indent="0">
              <a:buNone/>
            </a:pPr>
            <a:r>
              <a:rPr lang="en-US" sz="1300">
                <a:solidFill>
                  <a:srgbClr val="2B2B2B"/>
                </a:solidFill>
                <a:latin typeface="Calibri" pitchFamily="34" charset="0"/>
                <a:ea typeface="Calibri" pitchFamily="34" charset="-122"/>
                <a:cs typeface="Calibri" pitchFamily="34" charset="-120"/>
              </a:rPr>
              <a:t>7.38 billion people represented (~96% of 2019 world population).</a:t>
            </a:r>
            <a:endParaRPr lang="en-US" sz="1300"/>
          </a:p>
          <a:p>
            <a:pPr marL="0" indent="0">
              <a:buNone/>
            </a:pPr>
            <a:r>
              <a:rPr lang="en-US" sz="600">
                <a:solidFill>
                  <a:srgbClr val="2B2B2B"/>
                </a:solidFill>
                <a:latin typeface="Calibri" pitchFamily="34" charset="0"/>
                <a:ea typeface="Calibri" pitchFamily="34" charset="-122"/>
                <a:cs typeface="Calibri" pitchFamily="34" charset="-120"/>
              </a:rPr>
              <a:t> </a:t>
            </a:r>
            <a:endParaRPr lang="en-US" sz="1300"/>
          </a:p>
          <a:p>
            <a:pPr marL="0" indent="0">
              <a:buNone/>
            </a:pPr>
            <a:r>
              <a:rPr lang="en-US" sz="1300">
                <a:solidFill>
                  <a:srgbClr val="2B2B2B"/>
                </a:solidFill>
                <a:latin typeface="Calibri" pitchFamily="34" charset="0"/>
                <a:ea typeface="Calibri" pitchFamily="34" charset="-122"/>
                <a:cs typeface="Calibri" pitchFamily="34" charset="-120"/>
              </a:rPr>
              <a:t>60.8M tonnes of supply chain waste measured—sufficient scale for continent-level and country-level comparisons.</a:t>
            </a:r>
            <a:endParaRPr lang="en-US" sz="1300"/>
          </a:p>
        </p:txBody>
      </p:sp>
      <p:sp>
        <p:nvSpPr>
          <p:cNvPr id="9" name="Shape 7"/>
          <p:cNvSpPr/>
          <p:nvPr/>
        </p:nvSpPr>
        <p:spPr>
          <a:xfrm>
            <a:off x="457200" y="3749040"/>
            <a:ext cx="1920240" cy="1097280"/>
          </a:xfrm>
          <a:prstGeom prst="rect">
            <a:avLst/>
          </a:prstGeom>
          <a:solidFill>
            <a:srgbClr val="F5F1EA"/>
          </a:solidFill>
          <a:ln w="12700">
            <a:solidFill>
              <a:srgbClr val="F5F1EA"/>
            </a:solidFill>
            <a:prstDash val="solid"/>
          </a:ln>
        </p:spPr>
        <p:txBody>
          <a:bodyPr/>
          <a:lstStyle/>
          <a:p>
            <a:endParaRPr lang="en-US"/>
          </a:p>
        </p:txBody>
      </p:sp>
      <p:sp>
        <p:nvSpPr>
          <p:cNvPr id="10" name="Text 8"/>
          <p:cNvSpPr/>
          <p:nvPr/>
        </p:nvSpPr>
        <p:spPr>
          <a:xfrm>
            <a:off x="457200" y="3840480"/>
            <a:ext cx="1920240" cy="640080"/>
          </a:xfrm>
          <a:prstGeom prst="rect">
            <a:avLst/>
          </a:prstGeom>
          <a:noFill/>
          <a:ln/>
        </p:spPr>
        <p:txBody>
          <a:bodyPr wrap="square" lIns="0" tIns="0" rIns="0" bIns="0" rtlCol="0" anchor="ctr"/>
          <a:lstStyle/>
          <a:p>
            <a:pPr marL="0" indent="0" algn="ctr">
              <a:buNone/>
            </a:pPr>
            <a:r>
              <a:rPr lang="en-US" sz="4000" b="1">
                <a:solidFill>
                  <a:srgbClr val="B85042"/>
                </a:solidFill>
                <a:latin typeface="Georgia" pitchFamily="34" charset="0"/>
                <a:ea typeface="Georgia" pitchFamily="34" charset="-122"/>
                <a:cs typeface="Georgia" pitchFamily="34" charset="-120"/>
              </a:rPr>
              <a:t>122</a:t>
            </a:r>
            <a:endParaRPr lang="en-US" sz="4000"/>
          </a:p>
        </p:txBody>
      </p:sp>
      <p:sp>
        <p:nvSpPr>
          <p:cNvPr id="11" name="Text 9"/>
          <p:cNvSpPr/>
          <p:nvPr/>
        </p:nvSpPr>
        <p:spPr>
          <a:xfrm>
            <a:off x="457200" y="4480560"/>
            <a:ext cx="1920240" cy="274320"/>
          </a:xfrm>
          <a:prstGeom prst="rect">
            <a:avLst/>
          </a:prstGeom>
          <a:noFill/>
          <a:ln/>
        </p:spPr>
        <p:txBody>
          <a:bodyPr wrap="square" lIns="0" tIns="0" rIns="0" bIns="0" rtlCol="0" anchor="ctr"/>
          <a:lstStyle/>
          <a:p>
            <a:pPr marL="0" indent="0" algn="ctr">
              <a:buNone/>
            </a:pPr>
            <a:r>
              <a:rPr lang="en-US" sz="1100" kern="0" spc="300">
                <a:solidFill>
                  <a:srgbClr val="6B6B6B"/>
                </a:solidFill>
                <a:latin typeface="Calibri" pitchFamily="34" charset="0"/>
                <a:ea typeface="Calibri" pitchFamily="34" charset="-122"/>
                <a:cs typeface="Calibri" pitchFamily="34" charset="-120"/>
              </a:rPr>
              <a:t>countries</a:t>
            </a:r>
            <a:endParaRPr lang="en-US" sz="1100"/>
          </a:p>
        </p:txBody>
      </p:sp>
      <p:sp>
        <p:nvSpPr>
          <p:cNvPr id="12" name="Shape 10"/>
          <p:cNvSpPr/>
          <p:nvPr/>
        </p:nvSpPr>
        <p:spPr>
          <a:xfrm>
            <a:off x="2560320" y="3749040"/>
            <a:ext cx="1920240" cy="1097280"/>
          </a:xfrm>
          <a:prstGeom prst="rect">
            <a:avLst/>
          </a:prstGeom>
          <a:solidFill>
            <a:srgbClr val="F5F1EA"/>
          </a:solidFill>
          <a:ln w="12700">
            <a:solidFill>
              <a:srgbClr val="F5F1EA"/>
            </a:solidFill>
            <a:prstDash val="solid"/>
          </a:ln>
        </p:spPr>
        <p:txBody>
          <a:bodyPr/>
          <a:lstStyle/>
          <a:p>
            <a:endParaRPr lang="en-US"/>
          </a:p>
        </p:txBody>
      </p:sp>
      <p:sp>
        <p:nvSpPr>
          <p:cNvPr id="13" name="Text 11"/>
          <p:cNvSpPr/>
          <p:nvPr/>
        </p:nvSpPr>
        <p:spPr>
          <a:xfrm>
            <a:off x="2560320" y="3840480"/>
            <a:ext cx="1920240" cy="640080"/>
          </a:xfrm>
          <a:prstGeom prst="rect">
            <a:avLst/>
          </a:prstGeom>
          <a:noFill/>
          <a:ln/>
        </p:spPr>
        <p:txBody>
          <a:bodyPr wrap="square" lIns="0" tIns="0" rIns="0" bIns="0" rtlCol="0" anchor="ctr"/>
          <a:lstStyle/>
          <a:p>
            <a:pPr marL="0" indent="0" algn="ctr">
              <a:buNone/>
            </a:pPr>
            <a:r>
              <a:rPr lang="en-US" sz="4000" b="1">
                <a:solidFill>
                  <a:srgbClr val="B85042"/>
                </a:solidFill>
                <a:latin typeface="Georgia" pitchFamily="34" charset="0"/>
                <a:ea typeface="Georgia" pitchFamily="34" charset="-122"/>
                <a:cs typeface="Georgia" pitchFamily="34" charset="-120"/>
              </a:rPr>
              <a:t>5</a:t>
            </a:r>
            <a:endParaRPr lang="en-US" sz="4000"/>
          </a:p>
        </p:txBody>
      </p:sp>
      <p:sp>
        <p:nvSpPr>
          <p:cNvPr id="14" name="Text 12"/>
          <p:cNvSpPr/>
          <p:nvPr/>
        </p:nvSpPr>
        <p:spPr>
          <a:xfrm>
            <a:off x="2560320" y="4480560"/>
            <a:ext cx="1920240" cy="274320"/>
          </a:xfrm>
          <a:prstGeom prst="rect">
            <a:avLst/>
          </a:prstGeom>
          <a:noFill/>
          <a:ln/>
        </p:spPr>
        <p:txBody>
          <a:bodyPr wrap="square" lIns="0" tIns="0" rIns="0" bIns="0" rtlCol="0" anchor="ctr"/>
          <a:lstStyle/>
          <a:p>
            <a:pPr marL="0" indent="0" algn="ctr">
              <a:buNone/>
            </a:pPr>
            <a:r>
              <a:rPr lang="en-US" sz="1100" kern="0" spc="300">
                <a:solidFill>
                  <a:srgbClr val="6B6B6B"/>
                </a:solidFill>
                <a:latin typeface="Calibri" pitchFamily="34" charset="0"/>
                <a:ea typeface="Calibri" pitchFamily="34" charset="-122"/>
                <a:cs typeface="Calibri" pitchFamily="34" charset="-120"/>
              </a:rPr>
              <a:t>continents</a:t>
            </a:r>
            <a:endParaRPr lang="en-US" sz="1100"/>
          </a:p>
        </p:txBody>
      </p:sp>
      <p:sp>
        <p:nvSpPr>
          <p:cNvPr id="15" name="Shape 13"/>
          <p:cNvSpPr/>
          <p:nvPr/>
        </p:nvSpPr>
        <p:spPr>
          <a:xfrm>
            <a:off x="4663440" y="3749040"/>
            <a:ext cx="1920240" cy="1097280"/>
          </a:xfrm>
          <a:prstGeom prst="rect">
            <a:avLst/>
          </a:prstGeom>
          <a:solidFill>
            <a:srgbClr val="F5F1EA"/>
          </a:solidFill>
          <a:ln w="12700">
            <a:solidFill>
              <a:srgbClr val="F5F1EA"/>
            </a:solidFill>
            <a:prstDash val="solid"/>
          </a:ln>
        </p:spPr>
        <p:txBody>
          <a:bodyPr/>
          <a:lstStyle/>
          <a:p>
            <a:endParaRPr lang="en-US"/>
          </a:p>
        </p:txBody>
      </p:sp>
      <p:sp>
        <p:nvSpPr>
          <p:cNvPr id="16" name="Text 14"/>
          <p:cNvSpPr/>
          <p:nvPr/>
        </p:nvSpPr>
        <p:spPr>
          <a:xfrm>
            <a:off x="4663440" y="3840480"/>
            <a:ext cx="1920240" cy="640080"/>
          </a:xfrm>
          <a:prstGeom prst="rect">
            <a:avLst/>
          </a:prstGeom>
          <a:noFill/>
          <a:ln/>
        </p:spPr>
        <p:txBody>
          <a:bodyPr wrap="square" lIns="0" tIns="0" rIns="0" bIns="0" rtlCol="0" anchor="ctr"/>
          <a:lstStyle/>
          <a:p>
            <a:pPr marL="0" indent="0" algn="ctr">
              <a:buNone/>
            </a:pPr>
            <a:r>
              <a:rPr lang="en-US" sz="4000" b="1">
                <a:solidFill>
                  <a:srgbClr val="B85042"/>
                </a:solidFill>
                <a:latin typeface="Georgia" pitchFamily="34" charset="0"/>
                <a:ea typeface="Georgia" pitchFamily="34" charset="-122"/>
                <a:cs typeface="Georgia" pitchFamily="34" charset="-120"/>
              </a:rPr>
              <a:t>7</a:t>
            </a:r>
            <a:endParaRPr lang="en-US" sz="4000"/>
          </a:p>
        </p:txBody>
      </p:sp>
      <p:sp>
        <p:nvSpPr>
          <p:cNvPr id="17" name="Text 15"/>
          <p:cNvSpPr/>
          <p:nvPr/>
        </p:nvSpPr>
        <p:spPr>
          <a:xfrm>
            <a:off x="4663440" y="4480560"/>
            <a:ext cx="1920240" cy="274320"/>
          </a:xfrm>
          <a:prstGeom prst="rect">
            <a:avLst/>
          </a:prstGeom>
          <a:noFill/>
          <a:ln/>
        </p:spPr>
        <p:txBody>
          <a:bodyPr wrap="square" lIns="0" tIns="0" rIns="0" bIns="0" rtlCol="0" anchor="ctr"/>
          <a:lstStyle/>
          <a:p>
            <a:pPr marL="0" indent="0" algn="ctr">
              <a:buNone/>
            </a:pPr>
            <a:r>
              <a:rPr lang="en-US" sz="1100" kern="0" spc="300">
                <a:solidFill>
                  <a:srgbClr val="6B6B6B"/>
                </a:solidFill>
                <a:latin typeface="Calibri" pitchFamily="34" charset="0"/>
                <a:ea typeface="Calibri" pitchFamily="34" charset="-122"/>
                <a:cs typeface="Calibri" pitchFamily="34" charset="-120"/>
              </a:rPr>
              <a:t>variables</a:t>
            </a:r>
            <a:endParaRPr lang="en-US" sz="1100"/>
          </a:p>
        </p:txBody>
      </p:sp>
      <p:sp>
        <p:nvSpPr>
          <p:cNvPr id="18" name="Shape 16"/>
          <p:cNvSpPr/>
          <p:nvPr/>
        </p:nvSpPr>
        <p:spPr>
          <a:xfrm>
            <a:off x="6766560" y="3749040"/>
            <a:ext cx="1920240" cy="1097280"/>
          </a:xfrm>
          <a:prstGeom prst="rect">
            <a:avLst/>
          </a:prstGeom>
          <a:solidFill>
            <a:srgbClr val="F5F1EA"/>
          </a:solidFill>
          <a:ln w="12700">
            <a:solidFill>
              <a:srgbClr val="F5F1EA"/>
            </a:solidFill>
            <a:prstDash val="solid"/>
          </a:ln>
        </p:spPr>
        <p:txBody>
          <a:bodyPr/>
          <a:lstStyle/>
          <a:p>
            <a:endParaRPr lang="en-US"/>
          </a:p>
        </p:txBody>
      </p:sp>
      <p:sp>
        <p:nvSpPr>
          <p:cNvPr id="19" name="Text 17"/>
          <p:cNvSpPr/>
          <p:nvPr/>
        </p:nvSpPr>
        <p:spPr>
          <a:xfrm>
            <a:off x="6766560" y="3840480"/>
            <a:ext cx="1920240" cy="640080"/>
          </a:xfrm>
          <a:prstGeom prst="rect">
            <a:avLst/>
          </a:prstGeom>
          <a:noFill/>
          <a:ln/>
        </p:spPr>
        <p:txBody>
          <a:bodyPr wrap="square" lIns="0" tIns="0" rIns="0" bIns="0" rtlCol="0" anchor="ctr"/>
          <a:lstStyle/>
          <a:p>
            <a:pPr marL="0" indent="0" algn="ctr">
              <a:buNone/>
            </a:pPr>
            <a:r>
              <a:rPr lang="en-US" sz="4000" b="1">
                <a:solidFill>
                  <a:srgbClr val="B85042"/>
                </a:solidFill>
                <a:latin typeface="Georgia" pitchFamily="34" charset="0"/>
                <a:ea typeface="Georgia" pitchFamily="34" charset="-122"/>
                <a:cs typeface="Georgia" pitchFamily="34" charset="-120"/>
              </a:rPr>
              <a:t>7</a:t>
            </a:r>
            <a:endParaRPr lang="en-US" sz="4000"/>
          </a:p>
        </p:txBody>
      </p:sp>
      <p:sp>
        <p:nvSpPr>
          <p:cNvPr id="20" name="Text 18"/>
          <p:cNvSpPr/>
          <p:nvPr/>
        </p:nvSpPr>
        <p:spPr>
          <a:xfrm>
            <a:off x="6766560" y="4480560"/>
            <a:ext cx="1920240" cy="274320"/>
          </a:xfrm>
          <a:prstGeom prst="rect">
            <a:avLst/>
          </a:prstGeom>
          <a:noFill/>
          <a:ln/>
        </p:spPr>
        <p:txBody>
          <a:bodyPr wrap="square" lIns="0" tIns="0" rIns="0" bIns="0" rtlCol="0" anchor="ctr"/>
          <a:lstStyle/>
          <a:p>
            <a:pPr marL="0" indent="0" algn="ctr">
              <a:buNone/>
            </a:pPr>
            <a:r>
              <a:rPr lang="en-US" sz="1100" kern="0" spc="300">
                <a:solidFill>
                  <a:srgbClr val="6B6B6B"/>
                </a:solidFill>
                <a:latin typeface="Calibri" pitchFamily="34" charset="0"/>
                <a:ea typeface="Calibri" pitchFamily="34" charset="-122"/>
                <a:cs typeface="Calibri" pitchFamily="34" charset="-120"/>
              </a:rPr>
              <a:t>pivot tables</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marL="0" indent="0">
              <a:buNone/>
            </a:pPr>
            <a:r>
              <a:rPr lang="en-US" sz="1000" b="1" kern="0" spc="400">
                <a:solidFill>
                  <a:srgbClr val="B85042"/>
                </a:solidFill>
                <a:latin typeface="Calibri" pitchFamily="34" charset="0"/>
                <a:ea typeface="Calibri" pitchFamily="34" charset="-122"/>
                <a:cs typeface="Calibri" pitchFamily="34" charset="-120"/>
              </a:rPr>
              <a:t>STEP 2 — MEASURE</a:t>
            </a:r>
            <a:endParaRPr lang="en-US" sz="1000"/>
          </a:p>
        </p:txBody>
      </p:sp>
      <p:sp>
        <p:nvSpPr>
          <p:cNvPr id="3" name="Text 1"/>
          <p:cNvSpPr/>
          <p:nvPr/>
        </p:nvSpPr>
        <p:spPr>
          <a:xfrm>
            <a:off x="457200" y="502920"/>
            <a:ext cx="8229600" cy="502920"/>
          </a:xfrm>
          <a:prstGeom prst="rect">
            <a:avLst/>
          </a:prstGeom>
          <a:noFill/>
          <a:ln/>
        </p:spPr>
        <p:txBody>
          <a:bodyPr wrap="square" lIns="0" tIns="0" rIns="0" bIns="0" rtlCol="0" anchor="ctr"/>
          <a:lstStyle/>
          <a:p>
            <a:pPr marL="0" indent="0">
              <a:buNone/>
            </a:pPr>
            <a:r>
              <a:rPr lang="en-US" sz="2800" b="1">
                <a:solidFill>
                  <a:srgbClr val="2B2B2B"/>
                </a:solidFill>
                <a:latin typeface="Georgia" pitchFamily="34" charset="0"/>
                <a:ea typeface="Georgia" pitchFamily="34" charset="-122"/>
                <a:cs typeface="Georgia" pitchFamily="34" charset="-120"/>
              </a:rPr>
              <a:t>Data Cleaning Rationale</a:t>
            </a:r>
            <a:endParaRPr lang="en-US" sz="2800"/>
          </a:p>
        </p:txBody>
      </p:sp>
      <p:sp>
        <p:nvSpPr>
          <p:cNvPr id="4" name="Shape 2"/>
          <p:cNvSpPr/>
          <p:nvPr/>
        </p:nvSpPr>
        <p:spPr>
          <a:xfrm>
            <a:off x="457200" y="1051560"/>
            <a:ext cx="457200" cy="36576"/>
          </a:xfrm>
          <a:prstGeom prst="rect">
            <a:avLst/>
          </a:prstGeom>
          <a:solidFill>
            <a:srgbClr val="B85042"/>
          </a:solidFill>
          <a:ln w="12700">
            <a:solidFill>
              <a:srgbClr val="B85042"/>
            </a:solidFill>
            <a:prstDash val="solid"/>
          </a:ln>
        </p:spPr>
        <p:txBody>
          <a:bodyPr/>
          <a:lstStyle/>
          <a:p>
            <a:endParaRPr lang="en-US"/>
          </a:p>
        </p:txBody>
      </p:sp>
      <p:sp>
        <p:nvSpPr>
          <p:cNvPr id="5" name="Text 3"/>
          <p:cNvSpPr/>
          <p:nvPr/>
        </p:nvSpPr>
        <p:spPr>
          <a:xfrm>
            <a:off x="457200" y="1188720"/>
            <a:ext cx="8229600" cy="457200"/>
          </a:xfrm>
          <a:prstGeom prst="rect">
            <a:avLst/>
          </a:prstGeom>
          <a:noFill/>
          <a:ln/>
        </p:spPr>
        <p:txBody>
          <a:bodyPr wrap="square" lIns="0" tIns="0" rIns="0" bIns="0" rtlCol="0" anchor="ctr"/>
          <a:lstStyle/>
          <a:p>
            <a:pPr marL="0" indent="0">
              <a:buNone/>
            </a:pPr>
            <a:endParaRPr lang="en-US" sz="1100"/>
          </a:p>
        </p:txBody>
      </p:sp>
      <p:graphicFrame>
        <p:nvGraphicFramePr>
          <p:cNvPr id="6" name="Table 0"/>
          <p:cNvGraphicFramePr>
            <a:graphicFrameLocks noGrp="1"/>
          </p:cNvGraphicFramePr>
          <p:nvPr>
            <p:extLst>
              <p:ext uri="{D42A27DB-BD31-4B8C-83A1-F6EECF244321}">
                <p14:modId xmlns:p14="http://schemas.microsoft.com/office/powerpoint/2010/main" val="3888517595"/>
              </p:ext>
            </p:extLst>
          </p:nvPr>
        </p:nvGraphicFramePr>
        <p:xfrm>
          <a:off x="457200" y="1316337"/>
          <a:ext cx="8229600" cy="3552843"/>
        </p:xfrm>
        <a:graphic>
          <a:graphicData uri="http://schemas.openxmlformats.org/drawingml/2006/table">
            <a:tbl>
              <a:tblPr/>
              <a:tblGrid>
                <a:gridCol w="17373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4572000">
                  <a:extLst>
                    <a:ext uri="{9D8B030D-6E8A-4147-A177-3AD203B41FA5}">
                      <a16:colId xmlns:a16="http://schemas.microsoft.com/office/drawing/2014/main" val="20003"/>
                    </a:ext>
                  </a:extLst>
                </a:gridCol>
              </a:tblGrid>
              <a:tr h="507549">
                <a:tc>
                  <a:txBody>
                    <a:bodyPr/>
                    <a:lstStyle/>
                    <a:p>
                      <a:pPr marL="0" indent="0">
                        <a:buNone/>
                      </a:pPr>
                      <a:r>
                        <a:rPr lang="en-US" sz="1000" b="1">
                          <a:solidFill>
                            <a:srgbClr val="FFFFFF"/>
                          </a:solidFill>
                          <a:latin typeface="Calibri" pitchFamily="34" charset="0"/>
                          <a:ea typeface="Calibri" pitchFamily="34" charset="-122"/>
                          <a:cs typeface="Calibri" pitchFamily="34" charset="-120"/>
                        </a:rPr>
                        <a:t>STEP</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tc>
                  <a:txBody>
                    <a:bodyPr/>
                    <a:lstStyle/>
                    <a:p>
                      <a:pPr marL="0" indent="0" algn="ctr">
                        <a:buNone/>
                      </a:pPr>
                      <a:r>
                        <a:rPr lang="en-US" sz="1000" b="1">
                          <a:solidFill>
                            <a:srgbClr val="FFFFFF"/>
                          </a:solidFill>
                          <a:latin typeface="Calibri" pitchFamily="34" charset="0"/>
                          <a:ea typeface="Calibri" pitchFamily="34" charset="-122"/>
                          <a:cs typeface="Calibri" pitchFamily="34" charset="-120"/>
                        </a:rPr>
                        <a:t>REMOVED</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tc>
                  <a:txBody>
                    <a:bodyPr/>
                    <a:lstStyle/>
                    <a:p>
                      <a:pPr marL="0" indent="0" algn="ctr">
                        <a:buNone/>
                      </a:pPr>
                      <a:r>
                        <a:rPr lang="en-US" sz="1000" b="1">
                          <a:solidFill>
                            <a:srgbClr val="FFFFFF"/>
                          </a:solidFill>
                          <a:latin typeface="Calibri" pitchFamily="34" charset="0"/>
                          <a:ea typeface="Calibri" pitchFamily="34" charset="-122"/>
                          <a:cs typeface="Calibri" pitchFamily="34" charset="-120"/>
                        </a:rPr>
                        <a:t>REMAINING</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tc>
                  <a:txBody>
                    <a:bodyPr/>
                    <a:lstStyle/>
                    <a:p>
                      <a:pPr marL="0" indent="0">
                        <a:buNone/>
                      </a:pPr>
                      <a:r>
                        <a:rPr lang="en-US" sz="1000" b="1">
                          <a:solidFill>
                            <a:srgbClr val="FFFFFF"/>
                          </a:solidFill>
                          <a:latin typeface="Calibri" pitchFamily="34" charset="0"/>
                          <a:ea typeface="Calibri" pitchFamily="34" charset="-122"/>
                          <a:cs typeface="Calibri" pitchFamily="34" charset="-120"/>
                        </a:rPr>
                        <a:t>REASON</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extLst>
                  <a:ext uri="{0D108BD9-81ED-4DB2-BD59-A6C34878D82A}">
                    <a16:rowId xmlns:a16="http://schemas.microsoft.com/office/drawing/2014/main" val="10000"/>
                  </a:ext>
                </a:extLst>
              </a:tr>
              <a:tr h="507549">
                <a:tc>
                  <a:txBody>
                    <a:bodyPr/>
                    <a:lstStyle/>
                    <a:p>
                      <a:pPr marL="0" indent="0">
                        <a:buNone/>
                      </a:pPr>
                      <a:r>
                        <a:rPr lang="en-US" sz="1000" b="1">
                          <a:solidFill>
                            <a:srgbClr val="2B2B2B"/>
                          </a:solidFill>
                          <a:latin typeface="Calibri" pitchFamily="34" charset="0"/>
                          <a:ea typeface="Calibri" pitchFamily="34" charset="-122"/>
                          <a:cs typeface="Calibri" pitchFamily="34" charset="-120"/>
                        </a:rPr>
                        <a:t>Raw dataset</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000">
                          <a:solidFill>
                            <a:srgbClr val="2B2B2B"/>
                          </a:solidFill>
                          <a:latin typeface="Calibri" pitchFamily="34" charset="0"/>
                          <a:ea typeface="Calibri" pitchFamily="34" charset="-122"/>
                          <a:cs typeface="Calibri" pitchFamily="34" charset="-120"/>
                        </a:rPr>
                        <a:t>—</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000">
                          <a:solidFill>
                            <a:srgbClr val="2B2B2B"/>
                          </a:solidFill>
                          <a:latin typeface="Calibri" pitchFamily="34" charset="0"/>
                          <a:ea typeface="Calibri" pitchFamily="34" charset="-122"/>
                          <a:cs typeface="Calibri" pitchFamily="34" charset="-120"/>
                        </a:rPr>
                        <a:t>233</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buNone/>
                      </a:pPr>
                      <a:r>
                        <a:rPr lang="en-US" sz="1000">
                          <a:solidFill>
                            <a:srgbClr val="2B2B2B"/>
                          </a:solidFill>
                          <a:latin typeface="Calibri" pitchFamily="34" charset="0"/>
                          <a:ea typeface="Calibri" pitchFamily="34" charset="-122"/>
                          <a:cs typeface="Calibri" pitchFamily="34" charset="-120"/>
                        </a:rPr>
                        <a:t>Starting FAO 2019 global dataset.</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7549">
                <a:tc>
                  <a:txBody>
                    <a:bodyPr/>
                    <a:lstStyle/>
                    <a:p>
                      <a:pPr marL="0" indent="0">
                        <a:buNone/>
                      </a:pPr>
                      <a:r>
                        <a:rPr lang="en-US" sz="1000" b="1">
                          <a:solidFill>
                            <a:srgbClr val="2B2B2B"/>
                          </a:solidFill>
                          <a:latin typeface="Calibri" pitchFamily="34" charset="0"/>
                          <a:ea typeface="Calibri" pitchFamily="34" charset="-122"/>
                          <a:cs typeface="Calibri" pitchFamily="34" charset="-120"/>
                        </a:rPr>
                        <a:t>Non-country entries</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000">
                          <a:solidFill>
                            <a:srgbClr val="2B2B2B"/>
                          </a:solidFill>
                          <a:latin typeface="Calibri" pitchFamily="34" charset="0"/>
                          <a:ea typeface="Calibri" pitchFamily="34" charset="-122"/>
                          <a:cs typeface="Calibri" pitchFamily="34" charset="-120"/>
                        </a:rPr>
                        <a:t>46</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000">
                          <a:solidFill>
                            <a:srgbClr val="2B2B2B"/>
                          </a:solidFill>
                          <a:latin typeface="Calibri" pitchFamily="34" charset="0"/>
                          <a:ea typeface="Calibri" pitchFamily="34" charset="-122"/>
                          <a:cs typeface="Calibri" pitchFamily="34" charset="-120"/>
                        </a:rPr>
                        <a:t>186</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buNone/>
                      </a:pPr>
                      <a:r>
                        <a:rPr lang="en-US" sz="1000">
                          <a:solidFill>
                            <a:srgbClr val="2B2B2B"/>
                          </a:solidFill>
                          <a:latin typeface="Calibri" pitchFamily="34" charset="0"/>
                          <a:ea typeface="Calibri" pitchFamily="34" charset="-122"/>
                          <a:cs typeface="Calibri" pitchFamily="34" charset="-120"/>
                        </a:rPr>
                        <a:t>Regional aggregates, income groupings, political blocs, and FAO duplicates — would double-count country-level data.</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extLst>
                  <a:ext uri="{0D108BD9-81ED-4DB2-BD59-A6C34878D82A}">
                    <a16:rowId xmlns:a16="http://schemas.microsoft.com/office/drawing/2014/main" val="10002"/>
                  </a:ext>
                </a:extLst>
              </a:tr>
              <a:tr h="507549">
                <a:tc>
                  <a:txBody>
                    <a:bodyPr/>
                    <a:lstStyle/>
                    <a:p>
                      <a:pPr marL="0" indent="0">
                        <a:buNone/>
                      </a:pPr>
                      <a:r>
                        <a:rPr lang="en-US" sz="1000" b="1">
                          <a:solidFill>
                            <a:srgbClr val="2B2B2B"/>
                          </a:solidFill>
                          <a:latin typeface="Calibri" pitchFamily="34" charset="0"/>
                          <a:ea typeface="Calibri" pitchFamily="34" charset="-122"/>
                          <a:cs typeface="Calibri" pitchFamily="34" charset="-120"/>
                        </a:rPr>
                        <a:t>Population &lt; 2M</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000">
                          <a:solidFill>
                            <a:srgbClr val="2B2B2B"/>
                          </a:solidFill>
                          <a:latin typeface="Calibri" pitchFamily="34" charset="0"/>
                          <a:ea typeface="Calibri" pitchFamily="34" charset="-122"/>
                          <a:cs typeface="Calibri" pitchFamily="34" charset="-120"/>
                        </a:rPr>
                        <a:t>39</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000">
                          <a:solidFill>
                            <a:srgbClr val="2B2B2B"/>
                          </a:solidFill>
                          <a:latin typeface="Calibri" pitchFamily="34" charset="0"/>
                          <a:ea typeface="Calibri" pitchFamily="34" charset="-122"/>
                          <a:cs typeface="Calibri" pitchFamily="34" charset="-120"/>
                        </a:rPr>
                        <a:t>147</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buNone/>
                      </a:pPr>
                      <a:r>
                        <a:rPr lang="en-US" sz="1000">
                          <a:solidFill>
                            <a:srgbClr val="2B2B2B"/>
                          </a:solidFill>
                          <a:latin typeface="Calibri" pitchFamily="34" charset="0"/>
                          <a:ea typeface="Calibri" pitchFamily="34" charset="-122"/>
                          <a:cs typeface="Calibri" pitchFamily="34" charset="-120"/>
                        </a:rPr>
                        <a:t>Micro-states produce extreme per-capita values that skew averages and contribute negligible tonnage to global totals.</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7549">
                <a:tc>
                  <a:txBody>
                    <a:bodyPr/>
                    <a:lstStyle/>
                    <a:p>
                      <a:pPr marL="0" indent="0">
                        <a:buNone/>
                      </a:pPr>
                      <a:r>
                        <a:rPr lang="en-US" sz="1000" b="1">
                          <a:solidFill>
                            <a:srgbClr val="2B2B2B"/>
                          </a:solidFill>
                          <a:latin typeface="Calibri" pitchFamily="34" charset="0"/>
                          <a:ea typeface="Calibri" pitchFamily="34" charset="-122"/>
                          <a:cs typeface="Calibri" pitchFamily="34" charset="-120"/>
                        </a:rPr>
                        <a:t>Missing SC waste data</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000">
                          <a:solidFill>
                            <a:srgbClr val="2B2B2B"/>
                          </a:solidFill>
                          <a:latin typeface="Calibri" pitchFamily="34" charset="0"/>
                          <a:ea typeface="Calibri" pitchFamily="34" charset="-122"/>
                          <a:cs typeface="Calibri" pitchFamily="34" charset="-120"/>
                        </a:rPr>
                        <a:t>15</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000">
                          <a:solidFill>
                            <a:srgbClr val="2B2B2B"/>
                          </a:solidFill>
                          <a:latin typeface="Calibri" pitchFamily="34" charset="0"/>
                          <a:ea typeface="Calibri" pitchFamily="34" charset="-122"/>
                          <a:cs typeface="Calibri" pitchFamily="34" charset="-120"/>
                        </a:rPr>
                        <a:t>132</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buNone/>
                      </a:pPr>
                      <a:r>
                        <a:rPr lang="en-US" sz="1000">
                          <a:solidFill>
                            <a:srgbClr val="2B2B2B"/>
                          </a:solidFill>
                          <a:latin typeface="Calibri" pitchFamily="34" charset="0"/>
                          <a:ea typeface="Calibri" pitchFamily="34" charset="-122"/>
                          <a:cs typeface="Calibri" pitchFamily="34" charset="-120"/>
                        </a:rPr>
                        <a:t>Columns V and W are the core dependent variables — countries missing both cannot be analyzed.</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extLst>
                  <a:ext uri="{0D108BD9-81ED-4DB2-BD59-A6C34878D82A}">
                    <a16:rowId xmlns:a16="http://schemas.microsoft.com/office/drawing/2014/main" val="10004"/>
                  </a:ext>
                </a:extLst>
              </a:tr>
              <a:tr h="507549">
                <a:tc>
                  <a:txBody>
                    <a:bodyPr/>
                    <a:lstStyle/>
                    <a:p>
                      <a:pPr marL="0" indent="0">
                        <a:buNone/>
                      </a:pPr>
                      <a:r>
                        <a:rPr lang="en-US" sz="1000" b="1">
                          <a:solidFill>
                            <a:srgbClr val="2B2B2B"/>
                          </a:solidFill>
                          <a:latin typeface="Calibri" pitchFamily="34" charset="0"/>
                          <a:ea typeface="Calibri" pitchFamily="34" charset="-122"/>
                          <a:cs typeface="Calibri" pitchFamily="34" charset="-120"/>
                        </a:rPr>
                        <a:t>Missing selected variables</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000">
                          <a:solidFill>
                            <a:srgbClr val="2B2B2B"/>
                          </a:solidFill>
                          <a:latin typeface="Calibri" pitchFamily="34" charset="0"/>
                          <a:ea typeface="Calibri" pitchFamily="34" charset="-122"/>
                          <a:cs typeface="Calibri" pitchFamily="34" charset="-120"/>
                        </a:rPr>
                        <a:t>7</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000">
                          <a:solidFill>
                            <a:srgbClr val="2B2B2B"/>
                          </a:solidFill>
                          <a:latin typeface="Calibri" pitchFamily="34" charset="0"/>
                          <a:ea typeface="Calibri" pitchFamily="34" charset="-122"/>
                          <a:cs typeface="Calibri" pitchFamily="34" charset="-120"/>
                        </a:rPr>
                        <a:t>125</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buNone/>
                      </a:pPr>
                      <a:r>
                        <a:rPr lang="en-US" sz="1000">
                          <a:solidFill>
                            <a:srgbClr val="2B2B2B"/>
                          </a:solidFill>
                          <a:latin typeface="Calibri" pitchFamily="34" charset="0"/>
                          <a:ea typeface="Calibri" pitchFamily="34" charset="-122"/>
                          <a:cs typeface="Calibri" pitchFamily="34" charset="-120"/>
                        </a:rPr>
                        <a:t>Czechia, Hong Kong, Hungary, Poland, Slovakia, Turkmenistan, UK — each missing one or more of the 7 selected variables.</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7549">
                <a:tc>
                  <a:txBody>
                    <a:bodyPr/>
                    <a:lstStyle/>
                    <a:p>
                      <a:pPr marL="0" indent="0">
                        <a:buNone/>
                      </a:pPr>
                      <a:r>
                        <a:rPr lang="en-US" sz="1000" b="1">
                          <a:solidFill>
                            <a:srgbClr val="2B2B2B"/>
                          </a:solidFill>
                          <a:latin typeface="Calibri" pitchFamily="34" charset="0"/>
                          <a:ea typeface="Calibri" pitchFamily="34" charset="-122"/>
                          <a:cs typeface="Calibri" pitchFamily="34" charset="-120"/>
                        </a:rPr>
                        <a:t>Oceania countries</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000">
                          <a:solidFill>
                            <a:srgbClr val="2B2B2B"/>
                          </a:solidFill>
                          <a:latin typeface="Calibri" pitchFamily="34" charset="0"/>
                          <a:ea typeface="Calibri" pitchFamily="34" charset="-122"/>
                          <a:cs typeface="Calibri" pitchFamily="34" charset="-120"/>
                        </a:rPr>
                        <a:t>3</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000">
                          <a:solidFill>
                            <a:srgbClr val="2B2B2B"/>
                          </a:solidFill>
                          <a:latin typeface="Calibri" pitchFamily="34" charset="0"/>
                          <a:ea typeface="Calibri" pitchFamily="34" charset="-122"/>
                          <a:cs typeface="Calibri" pitchFamily="34" charset="-120"/>
                        </a:rPr>
                        <a:t>122</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buNone/>
                      </a:pPr>
                      <a:r>
                        <a:rPr lang="en-US" sz="1000">
                          <a:solidFill>
                            <a:srgbClr val="2B2B2B"/>
                          </a:solidFill>
                          <a:latin typeface="Calibri" pitchFamily="34" charset="0"/>
                          <a:ea typeface="Calibri" pitchFamily="34" charset="-122"/>
                          <a:cs typeface="Calibri" pitchFamily="34" charset="-120"/>
                        </a:rPr>
                        <a:t>Scope narrowed to the 5 primary inhabited continents; Oceania's 3-country sample would distort continent-level rollups.</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marL="0" indent="0">
              <a:buNone/>
            </a:pPr>
            <a:r>
              <a:rPr lang="en-US" sz="1000" b="1" kern="0" spc="400">
                <a:solidFill>
                  <a:srgbClr val="B85042"/>
                </a:solidFill>
                <a:latin typeface="Calibri" pitchFamily="34" charset="0"/>
                <a:ea typeface="Calibri" pitchFamily="34" charset="-122"/>
                <a:cs typeface="Calibri" pitchFamily="34" charset="-120"/>
              </a:rPr>
              <a:t>STEP 2 — MEASURE</a:t>
            </a:r>
            <a:endParaRPr lang="en-US" sz="1000"/>
          </a:p>
        </p:txBody>
      </p:sp>
      <p:sp>
        <p:nvSpPr>
          <p:cNvPr id="3" name="Text 1"/>
          <p:cNvSpPr/>
          <p:nvPr/>
        </p:nvSpPr>
        <p:spPr>
          <a:xfrm>
            <a:off x="457200" y="502920"/>
            <a:ext cx="8229600" cy="502920"/>
          </a:xfrm>
          <a:prstGeom prst="rect">
            <a:avLst/>
          </a:prstGeom>
          <a:noFill/>
          <a:ln/>
        </p:spPr>
        <p:txBody>
          <a:bodyPr wrap="square" lIns="0" tIns="0" rIns="0" bIns="0" rtlCol="0" anchor="ctr"/>
          <a:lstStyle/>
          <a:p>
            <a:pPr marL="0" indent="0">
              <a:buNone/>
            </a:pPr>
            <a:r>
              <a:rPr lang="en-US" sz="2800" b="1">
                <a:solidFill>
                  <a:srgbClr val="2B2B2B"/>
                </a:solidFill>
                <a:latin typeface="Georgia" pitchFamily="34" charset="0"/>
                <a:ea typeface="Georgia" pitchFamily="34" charset="-122"/>
                <a:cs typeface="Georgia" pitchFamily="34" charset="-120"/>
              </a:rPr>
              <a:t>Variable Selection</a:t>
            </a:r>
            <a:endParaRPr lang="en-US" sz="2800"/>
          </a:p>
        </p:txBody>
      </p:sp>
      <p:sp>
        <p:nvSpPr>
          <p:cNvPr id="4" name="Shape 2"/>
          <p:cNvSpPr/>
          <p:nvPr/>
        </p:nvSpPr>
        <p:spPr>
          <a:xfrm>
            <a:off x="457200" y="1051560"/>
            <a:ext cx="457200" cy="36576"/>
          </a:xfrm>
          <a:prstGeom prst="rect">
            <a:avLst/>
          </a:prstGeom>
          <a:solidFill>
            <a:srgbClr val="B85042"/>
          </a:solidFill>
          <a:ln w="12700">
            <a:solidFill>
              <a:srgbClr val="B85042"/>
            </a:solidFill>
            <a:prstDash val="solid"/>
          </a:ln>
        </p:spPr>
        <p:txBody>
          <a:bodyPr/>
          <a:lstStyle/>
          <a:p>
            <a:endParaRPr lang="en-US"/>
          </a:p>
        </p:txBody>
      </p:sp>
      <p:sp>
        <p:nvSpPr>
          <p:cNvPr id="5" name="Text 3"/>
          <p:cNvSpPr/>
          <p:nvPr/>
        </p:nvSpPr>
        <p:spPr>
          <a:xfrm>
            <a:off x="457200" y="1188720"/>
            <a:ext cx="8229600" cy="548640"/>
          </a:xfrm>
          <a:prstGeom prst="rect">
            <a:avLst/>
          </a:prstGeom>
          <a:noFill/>
          <a:ln/>
        </p:spPr>
        <p:txBody>
          <a:bodyPr wrap="square" lIns="0" tIns="0" rIns="0" bIns="0" rtlCol="0" anchor="ctr"/>
          <a:lstStyle/>
          <a:p>
            <a:pPr marL="0" indent="0">
              <a:buNone/>
            </a:pPr>
            <a:r>
              <a:rPr lang="en-US" sz="1200" i="1">
                <a:solidFill>
                  <a:srgbClr val="6B6B6B"/>
                </a:solidFill>
                <a:latin typeface="Calibri" pitchFamily="34" charset="0"/>
                <a:ea typeface="Calibri" pitchFamily="34" charset="-122"/>
                <a:cs typeface="Calibri" pitchFamily="34" charset="-120"/>
              </a:rPr>
              <a:t>From the 26 raw columns, 7 variables were selected because each directly links producing, supplying, or consuming food to where waste occurs in the chain.</a:t>
            </a:r>
            <a:endParaRPr lang="en-US" sz="120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8229600" cy="2560320"/>
        </p:xfrm>
        <a:graphic>
          <a:graphicData uri="http://schemas.openxmlformats.org/drawingml/2006/table">
            <a:tbl>
              <a:tblPr/>
              <a:tblGrid>
                <a:gridCol w="2377440">
                  <a:extLst>
                    <a:ext uri="{9D8B030D-6E8A-4147-A177-3AD203B41FA5}">
                      <a16:colId xmlns:a16="http://schemas.microsoft.com/office/drawing/2014/main" val="20000"/>
                    </a:ext>
                  </a:extLst>
                </a:gridCol>
                <a:gridCol w="5852160">
                  <a:extLst>
                    <a:ext uri="{9D8B030D-6E8A-4147-A177-3AD203B41FA5}">
                      <a16:colId xmlns:a16="http://schemas.microsoft.com/office/drawing/2014/main" val="20001"/>
                    </a:ext>
                  </a:extLst>
                </a:gridCol>
              </a:tblGrid>
              <a:tr h="320040">
                <a:tc>
                  <a:txBody>
                    <a:bodyPr/>
                    <a:lstStyle/>
                    <a:p>
                      <a:pPr marL="0" indent="0" algn="l">
                        <a:buNone/>
                      </a:pPr>
                      <a:r>
                        <a:rPr lang="en-US" sz="1100" b="1">
                          <a:solidFill>
                            <a:srgbClr val="FFFFFF"/>
                          </a:solidFill>
                          <a:latin typeface="Calibri" pitchFamily="34" charset="0"/>
                          <a:ea typeface="Calibri" pitchFamily="34" charset="-122"/>
                          <a:cs typeface="Calibri" pitchFamily="34" charset="-120"/>
                        </a:rPr>
                        <a:t>VARIABLE</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tc>
                  <a:txBody>
                    <a:bodyPr/>
                    <a:lstStyle/>
                    <a:p>
                      <a:pPr marL="0" indent="0" algn="l">
                        <a:buNone/>
                      </a:pPr>
                      <a:r>
                        <a:rPr lang="en-US" sz="1100" b="1">
                          <a:solidFill>
                            <a:srgbClr val="FFFFFF"/>
                          </a:solidFill>
                          <a:latin typeface="Calibri" pitchFamily="34" charset="0"/>
                          <a:ea typeface="Calibri" pitchFamily="34" charset="-122"/>
                          <a:cs typeface="Calibri" pitchFamily="34" charset="-120"/>
                        </a:rPr>
                        <a:t>WHY IT WAS SELECTED</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extLst>
                  <a:ext uri="{0D108BD9-81ED-4DB2-BD59-A6C34878D82A}">
                    <a16:rowId xmlns:a16="http://schemas.microsoft.com/office/drawing/2014/main" val="10000"/>
                  </a:ext>
                </a:extLst>
              </a:tr>
              <a:tr h="320040">
                <a:tc>
                  <a:txBody>
                    <a:bodyPr/>
                    <a:lstStyle/>
                    <a:p>
                      <a:pPr marL="0" indent="0">
                        <a:buNone/>
                      </a:pPr>
                      <a:r>
                        <a:rPr lang="en-US" sz="1100" b="1">
                          <a:solidFill>
                            <a:srgbClr val="2B2B2B"/>
                          </a:solidFill>
                          <a:latin typeface="Calibri" pitchFamily="34" charset="0"/>
                          <a:ea typeface="Calibri" pitchFamily="34" charset="-122"/>
                          <a:cs typeface="Calibri" pitchFamily="34" charset="-120"/>
                        </a:rPr>
                        <a:t>Population</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buNone/>
                      </a:pPr>
                      <a:r>
                        <a:rPr lang="en-US" sz="1100">
                          <a:solidFill>
                            <a:srgbClr val="2B2B2B"/>
                          </a:solidFill>
                          <a:latin typeface="Calibri" pitchFamily="34" charset="0"/>
                          <a:ea typeface="Calibri" pitchFamily="34" charset="-122"/>
                          <a:cs typeface="Calibri" pitchFamily="34" charset="-120"/>
                        </a:rPr>
                        <a:t>Scales every other variable and anchors per-capita comparisons.</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buNone/>
                      </a:pPr>
                      <a:r>
                        <a:rPr lang="en-US" sz="1100" b="1">
                          <a:solidFill>
                            <a:srgbClr val="2B2B2B"/>
                          </a:solidFill>
                          <a:latin typeface="Calibri" pitchFamily="34" charset="0"/>
                          <a:ea typeface="Calibri" pitchFamily="34" charset="-122"/>
                          <a:cs typeface="Calibri" pitchFamily="34" charset="-120"/>
                        </a:rPr>
                        <a:t>Production (t)</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buNone/>
                      </a:pPr>
                      <a:r>
                        <a:rPr lang="en-US" sz="1100">
                          <a:solidFill>
                            <a:srgbClr val="2B2B2B"/>
                          </a:solidFill>
                          <a:latin typeface="Calibri" pitchFamily="34" charset="0"/>
                          <a:ea typeface="Calibri" pitchFamily="34" charset="-122"/>
                          <a:cs typeface="Calibri" pitchFamily="34" charset="-120"/>
                        </a:rPr>
                        <a:t>Total domestic food produced — the upstream entry point of the chain.</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extLst>
                  <a:ext uri="{0D108BD9-81ED-4DB2-BD59-A6C34878D82A}">
                    <a16:rowId xmlns:a16="http://schemas.microsoft.com/office/drawing/2014/main" val="10002"/>
                  </a:ext>
                </a:extLst>
              </a:tr>
              <a:tr h="320040">
                <a:tc>
                  <a:txBody>
                    <a:bodyPr/>
                    <a:lstStyle/>
                    <a:p>
                      <a:pPr marL="0" indent="0">
                        <a:buNone/>
                      </a:pPr>
                      <a:r>
                        <a:rPr lang="en-US" sz="1100" b="1">
                          <a:solidFill>
                            <a:srgbClr val="2B2B2B"/>
                          </a:solidFill>
                          <a:latin typeface="Calibri" pitchFamily="34" charset="0"/>
                          <a:ea typeface="Calibri" pitchFamily="34" charset="-122"/>
                          <a:cs typeface="Calibri" pitchFamily="34" charset="-120"/>
                        </a:rPr>
                        <a:t>Domestic Supply (t)</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buNone/>
                      </a:pPr>
                      <a:r>
                        <a:rPr lang="en-US" sz="1100">
                          <a:solidFill>
                            <a:srgbClr val="2B2B2B"/>
                          </a:solidFill>
                          <a:latin typeface="Calibri" pitchFamily="34" charset="0"/>
                          <a:ea typeface="Calibri" pitchFamily="34" charset="-122"/>
                          <a:cs typeface="Calibri" pitchFamily="34" charset="-120"/>
                        </a:rPr>
                        <a:t>Production plus imports minus exports — total food available in-country.</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buNone/>
                      </a:pPr>
                      <a:r>
                        <a:rPr lang="en-US" sz="1100" b="1">
                          <a:solidFill>
                            <a:srgbClr val="2B2B2B"/>
                          </a:solidFill>
                          <a:latin typeface="Calibri" pitchFamily="34" charset="0"/>
                          <a:ea typeface="Calibri" pitchFamily="34" charset="-122"/>
                          <a:cs typeface="Calibri" pitchFamily="34" charset="-120"/>
                        </a:rPr>
                        <a:t>Food (t)</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buNone/>
                      </a:pPr>
                      <a:r>
                        <a:rPr lang="en-US" sz="1100">
                          <a:solidFill>
                            <a:srgbClr val="2B2B2B"/>
                          </a:solidFill>
                          <a:latin typeface="Calibri" pitchFamily="34" charset="0"/>
                          <a:ea typeface="Calibri" pitchFamily="34" charset="-122"/>
                          <a:cs typeface="Calibri" pitchFamily="34" charset="-120"/>
                        </a:rPr>
                        <a:t>Portion of supply actually destined for human consumption.</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extLst>
                  <a:ext uri="{0D108BD9-81ED-4DB2-BD59-A6C34878D82A}">
                    <a16:rowId xmlns:a16="http://schemas.microsoft.com/office/drawing/2014/main" val="10004"/>
                  </a:ext>
                </a:extLst>
              </a:tr>
              <a:tr h="320040">
                <a:tc>
                  <a:txBody>
                    <a:bodyPr/>
                    <a:lstStyle/>
                    <a:p>
                      <a:pPr marL="0" indent="0">
                        <a:buNone/>
                      </a:pPr>
                      <a:r>
                        <a:rPr lang="en-US" sz="1100" b="1">
                          <a:solidFill>
                            <a:srgbClr val="2B2B2B"/>
                          </a:solidFill>
                          <a:latin typeface="Calibri" pitchFamily="34" charset="0"/>
                          <a:ea typeface="Calibri" pitchFamily="34" charset="-122"/>
                          <a:cs typeface="Calibri" pitchFamily="34" charset="-120"/>
                        </a:rPr>
                        <a:t>Supply Chain Waste (t)</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buNone/>
                      </a:pPr>
                      <a:r>
                        <a:rPr lang="en-US" sz="1100">
                          <a:solidFill>
                            <a:srgbClr val="2B2B2B"/>
                          </a:solidFill>
                          <a:latin typeface="Calibri" pitchFamily="34" charset="0"/>
                          <a:ea typeface="Calibri" pitchFamily="34" charset="-122"/>
                          <a:cs typeface="Calibri" pitchFamily="34" charset="-120"/>
                        </a:rPr>
                        <a:t>Core dependent variable — the waste being measured and targeted.</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0040">
                <a:tc>
                  <a:txBody>
                    <a:bodyPr/>
                    <a:lstStyle/>
                    <a:p>
                      <a:pPr marL="0" indent="0">
                        <a:buNone/>
                      </a:pPr>
                      <a:r>
                        <a:rPr lang="en-US" sz="1100" b="1">
                          <a:solidFill>
                            <a:srgbClr val="2B2B2B"/>
                          </a:solidFill>
                          <a:latin typeface="Calibri" pitchFamily="34" charset="0"/>
                          <a:ea typeface="Calibri" pitchFamily="34" charset="-122"/>
                          <a:cs typeface="Calibri" pitchFamily="34" charset="-120"/>
                        </a:rPr>
                        <a:t>Waste per Capita (t)</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buNone/>
                      </a:pPr>
                      <a:r>
                        <a:rPr lang="en-US" sz="1100">
                          <a:solidFill>
                            <a:srgbClr val="2B2B2B"/>
                          </a:solidFill>
                          <a:latin typeface="Calibri" pitchFamily="34" charset="0"/>
                          <a:ea typeface="Calibri" pitchFamily="34" charset="-122"/>
                          <a:cs typeface="Calibri" pitchFamily="34" charset="-120"/>
                        </a:rPr>
                        <a:t>Normalizes waste by population to compare countries of different sizes.</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extLst>
                  <a:ext uri="{0D108BD9-81ED-4DB2-BD59-A6C34878D82A}">
                    <a16:rowId xmlns:a16="http://schemas.microsoft.com/office/drawing/2014/main" val="10006"/>
                  </a:ext>
                </a:extLst>
              </a:tr>
              <a:tr h="320040">
                <a:tc>
                  <a:txBody>
                    <a:bodyPr/>
                    <a:lstStyle/>
                    <a:p>
                      <a:pPr marL="0" indent="0">
                        <a:buNone/>
                      </a:pPr>
                      <a:r>
                        <a:rPr lang="en-US" sz="1100" b="1">
                          <a:solidFill>
                            <a:srgbClr val="2B2B2B"/>
                          </a:solidFill>
                          <a:latin typeface="Calibri" pitchFamily="34" charset="0"/>
                          <a:ea typeface="Calibri" pitchFamily="34" charset="-122"/>
                          <a:cs typeface="Calibri" pitchFamily="34" charset="-120"/>
                        </a:rPr>
                        <a:t>Food Supply per Capita (kg/yr)</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buNone/>
                      </a:pPr>
                      <a:r>
                        <a:rPr lang="en-US" sz="1100">
                          <a:solidFill>
                            <a:srgbClr val="2B2B2B"/>
                          </a:solidFill>
                          <a:latin typeface="Calibri" pitchFamily="34" charset="0"/>
                          <a:ea typeface="Calibri" pitchFamily="34" charset="-122"/>
                          <a:cs typeface="Calibri" pitchFamily="34" charset="-120"/>
                        </a:rPr>
                        <a:t>Ties waste back to how much food each person actually receives.</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marL="0" indent="0">
              <a:buNone/>
            </a:pPr>
            <a:r>
              <a:rPr lang="en-US" sz="1000" b="1" kern="0" spc="400">
                <a:solidFill>
                  <a:srgbClr val="B85042"/>
                </a:solidFill>
                <a:latin typeface="Calibri" pitchFamily="34" charset="0"/>
                <a:ea typeface="Calibri" pitchFamily="34" charset="-122"/>
                <a:cs typeface="Calibri" pitchFamily="34" charset="-120"/>
              </a:rPr>
              <a:t>STEP 2 — MEASURE</a:t>
            </a:r>
            <a:endParaRPr lang="en-US" sz="1000"/>
          </a:p>
        </p:txBody>
      </p:sp>
      <p:sp>
        <p:nvSpPr>
          <p:cNvPr id="3" name="Text 1"/>
          <p:cNvSpPr/>
          <p:nvPr/>
        </p:nvSpPr>
        <p:spPr>
          <a:xfrm>
            <a:off x="457200" y="502920"/>
            <a:ext cx="8229600" cy="502920"/>
          </a:xfrm>
          <a:prstGeom prst="rect">
            <a:avLst/>
          </a:prstGeom>
          <a:noFill/>
          <a:ln/>
        </p:spPr>
        <p:txBody>
          <a:bodyPr wrap="square" lIns="0" tIns="0" rIns="0" bIns="0" rtlCol="0" anchor="ctr"/>
          <a:lstStyle/>
          <a:p>
            <a:pPr marL="0" indent="0">
              <a:buNone/>
            </a:pPr>
            <a:r>
              <a:rPr lang="en-US" sz="2800" b="1">
                <a:solidFill>
                  <a:srgbClr val="2B2B2B"/>
                </a:solidFill>
                <a:latin typeface="Georgia" pitchFamily="34" charset="0"/>
                <a:ea typeface="Georgia" pitchFamily="34" charset="-122"/>
                <a:cs typeface="Georgia" pitchFamily="34" charset="-120"/>
              </a:rPr>
              <a:t>Current vs. Future State</a:t>
            </a:r>
            <a:endParaRPr lang="en-US" sz="2800"/>
          </a:p>
        </p:txBody>
      </p:sp>
      <p:sp>
        <p:nvSpPr>
          <p:cNvPr id="4" name="Shape 2"/>
          <p:cNvSpPr/>
          <p:nvPr/>
        </p:nvSpPr>
        <p:spPr>
          <a:xfrm>
            <a:off x="457200" y="1051560"/>
            <a:ext cx="457200" cy="36576"/>
          </a:xfrm>
          <a:prstGeom prst="rect">
            <a:avLst/>
          </a:prstGeom>
          <a:solidFill>
            <a:srgbClr val="B85042"/>
          </a:solidFill>
          <a:ln w="12700">
            <a:solidFill>
              <a:srgbClr val="B85042"/>
            </a:solidFill>
            <a:prstDash val="solid"/>
          </a:ln>
        </p:spPr>
        <p:txBody>
          <a:bodyPr/>
          <a:lstStyle/>
          <a:p>
            <a:endParaRPr lang="en-US"/>
          </a:p>
        </p:txBody>
      </p:sp>
      <p:sp>
        <p:nvSpPr>
          <p:cNvPr id="5" name="Shape 3"/>
          <p:cNvSpPr/>
          <p:nvPr/>
        </p:nvSpPr>
        <p:spPr>
          <a:xfrm>
            <a:off x="457200" y="1371600"/>
            <a:ext cx="3931920" cy="2743200"/>
          </a:xfrm>
          <a:prstGeom prst="rect">
            <a:avLst/>
          </a:prstGeom>
          <a:solidFill>
            <a:srgbClr val="F5F1EA"/>
          </a:solidFill>
          <a:ln w="12700">
            <a:solidFill>
              <a:srgbClr val="F5F1EA"/>
            </a:solidFill>
            <a:prstDash val="solid"/>
          </a:ln>
        </p:spPr>
        <p:txBody>
          <a:bodyPr/>
          <a:lstStyle/>
          <a:p>
            <a:endParaRPr lang="en-US"/>
          </a:p>
        </p:txBody>
      </p:sp>
      <p:sp>
        <p:nvSpPr>
          <p:cNvPr id="6" name="Shape 4"/>
          <p:cNvSpPr/>
          <p:nvPr/>
        </p:nvSpPr>
        <p:spPr>
          <a:xfrm>
            <a:off x="457200" y="1371600"/>
            <a:ext cx="3931920" cy="73152"/>
          </a:xfrm>
          <a:prstGeom prst="rect">
            <a:avLst/>
          </a:prstGeom>
          <a:solidFill>
            <a:srgbClr val="A7725C"/>
          </a:solidFill>
          <a:ln w="12700">
            <a:solidFill>
              <a:srgbClr val="A7725C"/>
            </a:solidFill>
            <a:prstDash val="solid"/>
          </a:ln>
        </p:spPr>
        <p:txBody>
          <a:bodyPr/>
          <a:lstStyle/>
          <a:p>
            <a:endParaRPr lang="en-US"/>
          </a:p>
        </p:txBody>
      </p:sp>
      <p:sp>
        <p:nvSpPr>
          <p:cNvPr id="7" name="Text 5"/>
          <p:cNvSpPr/>
          <p:nvPr/>
        </p:nvSpPr>
        <p:spPr>
          <a:xfrm>
            <a:off x="731520" y="1554480"/>
            <a:ext cx="3383280" cy="274320"/>
          </a:xfrm>
          <a:prstGeom prst="rect">
            <a:avLst/>
          </a:prstGeom>
          <a:noFill/>
          <a:ln/>
        </p:spPr>
        <p:txBody>
          <a:bodyPr wrap="square" lIns="0" tIns="0" rIns="0" bIns="0" rtlCol="0" anchor="ctr"/>
          <a:lstStyle/>
          <a:p>
            <a:pPr marL="0" indent="0">
              <a:buNone/>
            </a:pPr>
            <a:r>
              <a:rPr lang="en-US" sz="1100" b="1" kern="0" spc="400">
                <a:solidFill>
                  <a:srgbClr val="6B6B6B"/>
                </a:solidFill>
                <a:latin typeface="Calibri" pitchFamily="34" charset="0"/>
                <a:ea typeface="Calibri" pitchFamily="34" charset="-122"/>
                <a:cs typeface="Calibri" pitchFamily="34" charset="-120"/>
              </a:rPr>
              <a:t>CURRENT STATE</a:t>
            </a:r>
            <a:endParaRPr lang="en-US" sz="1100"/>
          </a:p>
        </p:txBody>
      </p:sp>
      <p:sp>
        <p:nvSpPr>
          <p:cNvPr id="8" name="Text 6"/>
          <p:cNvSpPr/>
          <p:nvPr/>
        </p:nvSpPr>
        <p:spPr>
          <a:xfrm>
            <a:off x="731520" y="1828800"/>
            <a:ext cx="3383280" cy="320040"/>
          </a:xfrm>
          <a:prstGeom prst="rect">
            <a:avLst/>
          </a:prstGeom>
          <a:noFill/>
          <a:ln/>
        </p:spPr>
        <p:txBody>
          <a:bodyPr wrap="square" lIns="0" tIns="0" rIns="0" bIns="0" rtlCol="0" anchor="ctr"/>
          <a:lstStyle/>
          <a:p>
            <a:pPr marL="0" indent="0">
              <a:buNone/>
            </a:pPr>
            <a:r>
              <a:rPr lang="en-US" sz="1800" b="1">
                <a:solidFill>
                  <a:srgbClr val="2B2B2B"/>
                </a:solidFill>
                <a:latin typeface="Georgia" pitchFamily="34" charset="0"/>
                <a:ea typeface="Georgia" pitchFamily="34" charset="-122"/>
                <a:cs typeface="Georgia" pitchFamily="34" charset="-120"/>
              </a:rPr>
              <a:t>2019 Baseline</a:t>
            </a:r>
            <a:endParaRPr lang="en-US" sz="1800"/>
          </a:p>
        </p:txBody>
      </p:sp>
      <p:sp>
        <p:nvSpPr>
          <p:cNvPr id="9" name="Text 7"/>
          <p:cNvSpPr/>
          <p:nvPr/>
        </p:nvSpPr>
        <p:spPr>
          <a:xfrm>
            <a:off x="731520" y="2240280"/>
            <a:ext cx="3383280" cy="1737360"/>
          </a:xfrm>
          <a:prstGeom prst="rect">
            <a:avLst/>
          </a:prstGeom>
          <a:noFill/>
          <a:ln/>
        </p:spPr>
        <p:txBody>
          <a:bodyPr wrap="square" lIns="0" tIns="0" rIns="0" bIns="0" rtlCol="0" anchor="t"/>
          <a:lstStyle/>
          <a:p>
            <a:pPr marL="0" indent="0">
              <a:buNone/>
            </a:pPr>
            <a:r>
              <a:rPr lang="en-US" sz="1100" b="1">
                <a:solidFill>
                  <a:srgbClr val="6B6B6B"/>
                </a:solidFill>
                <a:latin typeface="Calibri" pitchFamily="34" charset="0"/>
                <a:ea typeface="Calibri" pitchFamily="34" charset="-122"/>
                <a:cs typeface="Calibri" pitchFamily="34" charset="-120"/>
              </a:rPr>
              <a:t>Total global waste</a:t>
            </a:r>
            <a:endParaRPr lang="en-US" sz="1100"/>
          </a:p>
          <a:p>
            <a:pPr marL="0" indent="0">
              <a:buNone/>
            </a:pPr>
            <a:r>
              <a:rPr lang="en-US" sz="2000" b="1">
                <a:solidFill>
                  <a:srgbClr val="2B2B2B"/>
                </a:solidFill>
                <a:latin typeface="Calibri" pitchFamily="34" charset="0"/>
                <a:ea typeface="Calibri" pitchFamily="34" charset="-122"/>
                <a:cs typeface="Calibri" pitchFamily="34" charset="-120"/>
              </a:rPr>
              <a:t>60.8 million tonnes</a:t>
            </a:r>
            <a:endParaRPr lang="en-US" sz="1100"/>
          </a:p>
          <a:p>
            <a:pPr marL="0" indent="0">
              <a:buNone/>
            </a:pPr>
            <a:r>
              <a:rPr lang="en-US" sz="600">
                <a:solidFill>
                  <a:srgbClr val="000000"/>
                </a:solidFill>
                <a:latin typeface="Calibri" pitchFamily="34" charset="0"/>
                <a:ea typeface="Calibri" pitchFamily="34" charset="-122"/>
                <a:cs typeface="Calibri" pitchFamily="34" charset="-120"/>
              </a:rPr>
              <a:t> </a:t>
            </a:r>
            <a:endParaRPr lang="en-US" sz="1100"/>
          </a:p>
          <a:p>
            <a:pPr marL="0" indent="0">
              <a:buNone/>
            </a:pPr>
            <a:r>
              <a:rPr lang="en-US" sz="1100" b="1">
                <a:solidFill>
                  <a:srgbClr val="6B6B6B"/>
                </a:solidFill>
                <a:latin typeface="Calibri" pitchFamily="34" charset="0"/>
                <a:ea typeface="Calibri" pitchFamily="34" charset="-122"/>
                <a:cs typeface="Calibri" pitchFamily="34" charset="-120"/>
              </a:rPr>
              <a:t>Average SC waste per country</a:t>
            </a:r>
            <a:endParaRPr lang="en-US" sz="1100"/>
          </a:p>
          <a:p>
            <a:pPr marL="0" indent="0">
              <a:buNone/>
            </a:pPr>
            <a:r>
              <a:rPr lang="en-US" sz="2000" b="1">
                <a:solidFill>
                  <a:srgbClr val="2B2B2B"/>
                </a:solidFill>
                <a:latin typeface="Calibri" pitchFamily="34" charset="0"/>
                <a:ea typeface="Calibri" pitchFamily="34" charset="-122"/>
                <a:cs typeface="Calibri" pitchFamily="34" charset="-120"/>
              </a:rPr>
              <a:t>498,295 tonnes</a:t>
            </a:r>
            <a:endParaRPr lang="en-US" sz="1100"/>
          </a:p>
          <a:p>
            <a:pPr marL="0" indent="0">
              <a:buNone/>
            </a:pPr>
            <a:r>
              <a:rPr lang="en-US" sz="600">
                <a:solidFill>
                  <a:srgbClr val="000000"/>
                </a:solidFill>
                <a:latin typeface="Calibri" pitchFamily="34" charset="0"/>
                <a:ea typeface="Calibri" pitchFamily="34" charset="-122"/>
                <a:cs typeface="Calibri" pitchFamily="34" charset="-120"/>
              </a:rPr>
              <a:t> </a:t>
            </a:r>
            <a:endParaRPr lang="en-US" sz="1100"/>
          </a:p>
          <a:p>
            <a:pPr marL="0" indent="0">
              <a:buNone/>
            </a:pPr>
            <a:r>
              <a:rPr lang="en-US" sz="1100" b="1">
                <a:solidFill>
                  <a:srgbClr val="6B6B6B"/>
                </a:solidFill>
                <a:latin typeface="Calibri" pitchFamily="34" charset="0"/>
                <a:ea typeface="Calibri" pitchFamily="34" charset="-122"/>
                <a:cs typeface="Calibri" pitchFamily="34" charset="-120"/>
              </a:rPr>
              <a:t>Average waste per capita</a:t>
            </a:r>
            <a:endParaRPr lang="en-US" sz="1100"/>
          </a:p>
          <a:p>
            <a:pPr marL="0" indent="0">
              <a:buNone/>
            </a:pPr>
            <a:r>
              <a:rPr lang="en-US" sz="2000" b="1">
                <a:solidFill>
                  <a:srgbClr val="2B2B2B"/>
                </a:solidFill>
                <a:latin typeface="Calibri" pitchFamily="34" charset="0"/>
                <a:ea typeface="Calibri" pitchFamily="34" charset="-122"/>
                <a:cs typeface="Calibri" pitchFamily="34" charset="-120"/>
              </a:rPr>
              <a:t>0.00678 tonnes</a:t>
            </a:r>
            <a:endParaRPr lang="en-US" sz="1100"/>
          </a:p>
        </p:txBody>
      </p:sp>
      <p:sp>
        <p:nvSpPr>
          <p:cNvPr id="10" name="Shape 8"/>
          <p:cNvSpPr/>
          <p:nvPr/>
        </p:nvSpPr>
        <p:spPr>
          <a:xfrm>
            <a:off x="4754880" y="1371600"/>
            <a:ext cx="3931920" cy="2743200"/>
          </a:xfrm>
          <a:prstGeom prst="rect">
            <a:avLst/>
          </a:prstGeom>
          <a:solidFill>
            <a:srgbClr val="F5F1EA"/>
          </a:solidFill>
          <a:ln w="12700">
            <a:solidFill>
              <a:srgbClr val="F5F1EA"/>
            </a:solidFill>
            <a:prstDash val="solid"/>
          </a:ln>
        </p:spPr>
        <p:txBody>
          <a:bodyPr/>
          <a:lstStyle/>
          <a:p>
            <a:endParaRPr lang="en-US"/>
          </a:p>
        </p:txBody>
      </p:sp>
      <p:sp>
        <p:nvSpPr>
          <p:cNvPr id="11" name="Shape 9"/>
          <p:cNvSpPr/>
          <p:nvPr/>
        </p:nvSpPr>
        <p:spPr>
          <a:xfrm>
            <a:off x="4754880" y="1371600"/>
            <a:ext cx="3931920" cy="73152"/>
          </a:xfrm>
          <a:prstGeom prst="rect">
            <a:avLst/>
          </a:prstGeom>
          <a:solidFill>
            <a:srgbClr val="B85042"/>
          </a:solidFill>
          <a:ln w="12700">
            <a:solidFill>
              <a:srgbClr val="B85042"/>
            </a:solidFill>
            <a:prstDash val="solid"/>
          </a:ln>
        </p:spPr>
        <p:txBody>
          <a:bodyPr/>
          <a:lstStyle/>
          <a:p>
            <a:endParaRPr lang="en-US"/>
          </a:p>
        </p:txBody>
      </p:sp>
      <p:sp>
        <p:nvSpPr>
          <p:cNvPr id="12" name="Text 10"/>
          <p:cNvSpPr/>
          <p:nvPr/>
        </p:nvSpPr>
        <p:spPr>
          <a:xfrm>
            <a:off x="5029200" y="1554480"/>
            <a:ext cx="3383280" cy="274320"/>
          </a:xfrm>
          <a:prstGeom prst="rect">
            <a:avLst/>
          </a:prstGeom>
          <a:noFill/>
          <a:ln/>
        </p:spPr>
        <p:txBody>
          <a:bodyPr wrap="square" lIns="0" tIns="0" rIns="0" bIns="0" rtlCol="0" anchor="ctr"/>
          <a:lstStyle/>
          <a:p>
            <a:pPr marL="0" indent="0">
              <a:buNone/>
            </a:pPr>
            <a:r>
              <a:rPr lang="en-US" sz="1100" b="1" kern="0" spc="400">
                <a:solidFill>
                  <a:srgbClr val="B85042"/>
                </a:solidFill>
                <a:latin typeface="Calibri" pitchFamily="34" charset="0"/>
                <a:ea typeface="Calibri" pitchFamily="34" charset="-122"/>
                <a:cs typeface="Calibri" pitchFamily="34" charset="-120"/>
              </a:rPr>
              <a:t>FUTURE STATE</a:t>
            </a:r>
            <a:endParaRPr lang="en-US" sz="1100"/>
          </a:p>
        </p:txBody>
      </p:sp>
      <p:sp>
        <p:nvSpPr>
          <p:cNvPr id="13" name="Text 11"/>
          <p:cNvSpPr/>
          <p:nvPr/>
        </p:nvSpPr>
        <p:spPr>
          <a:xfrm>
            <a:off x="5029200" y="1828800"/>
            <a:ext cx="3383280" cy="320040"/>
          </a:xfrm>
          <a:prstGeom prst="rect">
            <a:avLst/>
          </a:prstGeom>
          <a:noFill/>
          <a:ln/>
        </p:spPr>
        <p:txBody>
          <a:bodyPr wrap="square" lIns="0" tIns="0" rIns="0" bIns="0" rtlCol="0" anchor="ctr"/>
          <a:lstStyle/>
          <a:p>
            <a:pPr marL="0" indent="0">
              <a:buNone/>
            </a:pPr>
            <a:r>
              <a:rPr lang="en-US" sz="1800" b="1">
                <a:solidFill>
                  <a:srgbClr val="2B2B2B"/>
                </a:solidFill>
                <a:latin typeface="Georgia" pitchFamily="34" charset="0"/>
                <a:ea typeface="Georgia" pitchFamily="34" charset="-122"/>
                <a:cs typeface="Georgia" pitchFamily="34" charset="-120"/>
              </a:rPr>
              <a:t>10% Reduction Target</a:t>
            </a:r>
            <a:endParaRPr lang="en-US" sz="1800"/>
          </a:p>
        </p:txBody>
      </p:sp>
      <p:sp>
        <p:nvSpPr>
          <p:cNvPr id="14" name="Text 12"/>
          <p:cNvSpPr/>
          <p:nvPr/>
        </p:nvSpPr>
        <p:spPr>
          <a:xfrm>
            <a:off x="5029200" y="2240280"/>
            <a:ext cx="3383280" cy="1737360"/>
          </a:xfrm>
          <a:prstGeom prst="rect">
            <a:avLst/>
          </a:prstGeom>
          <a:noFill/>
          <a:ln/>
        </p:spPr>
        <p:txBody>
          <a:bodyPr wrap="square" lIns="0" tIns="0" rIns="0" bIns="0" rtlCol="0" anchor="t"/>
          <a:lstStyle/>
          <a:p>
            <a:pPr marL="0" indent="0">
              <a:buNone/>
            </a:pPr>
            <a:r>
              <a:rPr lang="en-US" sz="1100" b="1">
                <a:solidFill>
                  <a:srgbClr val="6B6B6B"/>
                </a:solidFill>
                <a:latin typeface="Calibri" pitchFamily="34" charset="0"/>
                <a:ea typeface="Calibri" pitchFamily="34" charset="-122"/>
                <a:cs typeface="Calibri" pitchFamily="34" charset="-120"/>
              </a:rPr>
              <a:t>Target global waste</a:t>
            </a:r>
            <a:endParaRPr lang="en-US" sz="1100"/>
          </a:p>
          <a:p>
            <a:pPr marL="0" indent="0">
              <a:buNone/>
            </a:pPr>
            <a:r>
              <a:rPr lang="en-US" sz="2000" b="1">
                <a:solidFill>
                  <a:srgbClr val="B85042"/>
                </a:solidFill>
                <a:latin typeface="Calibri" pitchFamily="34" charset="0"/>
                <a:ea typeface="Calibri" pitchFamily="34" charset="-122"/>
                <a:cs typeface="Calibri" pitchFamily="34" charset="-120"/>
              </a:rPr>
              <a:t>54.7 million tonnes</a:t>
            </a:r>
            <a:endParaRPr lang="en-US" sz="1100"/>
          </a:p>
          <a:p>
            <a:pPr marL="0" indent="0">
              <a:buNone/>
            </a:pPr>
            <a:r>
              <a:rPr lang="en-US" sz="600">
                <a:solidFill>
                  <a:srgbClr val="000000"/>
                </a:solidFill>
                <a:latin typeface="Calibri" pitchFamily="34" charset="0"/>
                <a:ea typeface="Calibri" pitchFamily="34" charset="-122"/>
                <a:cs typeface="Calibri" pitchFamily="34" charset="-120"/>
              </a:rPr>
              <a:t> </a:t>
            </a:r>
            <a:endParaRPr lang="en-US" sz="1100"/>
          </a:p>
          <a:p>
            <a:pPr marL="0" indent="0">
              <a:buNone/>
            </a:pPr>
            <a:r>
              <a:rPr lang="en-US" sz="1100" b="1">
                <a:solidFill>
                  <a:srgbClr val="6B6B6B"/>
                </a:solidFill>
                <a:latin typeface="Calibri" pitchFamily="34" charset="0"/>
                <a:ea typeface="Calibri" pitchFamily="34" charset="-122"/>
                <a:cs typeface="Calibri" pitchFamily="34" charset="-120"/>
              </a:rPr>
              <a:t>Target SC waste per country</a:t>
            </a:r>
            <a:endParaRPr lang="en-US" sz="1100"/>
          </a:p>
          <a:p>
            <a:pPr marL="0" indent="0">
              <a:buNone/>
            </a:pPr>
            <a:r>
              <a:rPr lang="en-US" sz="2000" b="1">
                <a:solidFill>
                  <a:srgbClr val="B85042"/>
                </a:solidFill>
                <a:latin typeface="Calibri" pitchFamily="34" charset="0"/>
                <a:ea typeface="Calibri" pitchFamily="34" charset="-122"/>
                <a:cs typeface="Calibri" pitchFamily="34" charset="-120"/>
              </a:rPr>
              <a:t>448,466 tonnes</a:t>
            </a:r>
            <a:endParaRPr lang="en-US" sz="1100"/>
          </a:p>
          <a:p>
            <a:pPr marL="0" indent="0">
              <a:buNone/>
            </a:pPr>
            <a:r>
              <a:rPr lang="en-US" sz="600">
                <a:solidFill>
                  <a:srgbClr val="000000"/>
                </a:solidFill>
                <a:latin typeface="Calibri" pitchFamily="34" charset="0"/>
                <a:ea typeface="Calibri" pitchFamily="34" charset="-122"/>
                <a:cs typeface="Calibri" pitchFamily="34" charset="-120"/>
              </a:rPr>
              <a:t> </a:t>
            </a:r>
            <a:endParaRPr lang="en-US" sz="1100"/>
          </a:p>
          <a:p>
            <a:pPr marL="0" indent="0">
              <a:buNone/>
            </a:pPr>
            <a:r>
              <a:rPr lang="en-US" sz="1100" b="1">
                <a:solidFill>
                  <a:srgbClr val="6B6B6B"/>
                </a:solidFill>
                <a:latin typeface="Calibri" pitchFamily="34" charset="0"/>
                <a:ea typeface="Calibri" pitchFamily="34" charset="-122"/>
                <a:cs typeface="Calibri" pitchFamily="34" charset="-120"/>
              </a:rPr>
              <a:t>Target waste per capita</a:t>
            </a:r>
            <a:endParaRPr lang="en-US" sz="1100"/>
          </a:p>
          <a:p>
            <a:pPr marL="0" indent="0">
              <a:buNone/>
            </a:pPr>
            <a:r>
              <a:rPr lang="en-US" sz="2000" b="1">
                <a:solidFill>
                  <a:srgbClr val="B85042"/>
                </a:solidFill>
                <a:latin typeface="Calibri" pitchFamily="34" charset="0"/>
                <a:ea typeface="Calibri" pitchFamily="34" charset="-122"/>
                <a:cs typeface="Calibri" pitchFamily="34" charset="-120"/>
              </a:rPr>
              <a:t>0.00610 tonnes</a:t>
            </a:r>
            <a:endParaRPr lang="en-US" sz="1100"/>
          </a:p>
        </p:txBody>
      </p:sp>
      <p:sp>
        <p:nvSpPr>
          <p:cNvPr id="15" name="Text 13"/>
          <p:cNvSpPr/>
          <p:nvPr/>
        </p:nvSpPr>
        <p:spPr>
          <a:xfrm>
            <a:off x="457200" y="4389120"/>
            <a:ext cx="8229600" cy="365760"/>
          </a:xfrm>
          <a:prstGeom prst="rect">
            <a:avLst/>
          </a:prstGeom>
          <a:noFill/>
          <a:ln/>
        </p:spPr>
        <p:txBody>
          <a:bodyPr wrap="square" lIns="0" tIns="0" rIns="0" bIns="0" rtlCol="0" anchor="ctr"/>
          <a:lstStyle/>
          <a:p>
            <a:pPr marL="0" indent="0" algn="ctr">
              <a:buNone/>
            </a:pPr>
            <a:r>
              <a:rPr lang="en-US" sz="1200" i="1">
                <a:solidFill>
                  <a:srgbClr val="2B2B2B"/>
                </a:solidFill>
                <a:latin typeface="Calibri" pitchFamily="34" charset="0"/>
                <a:ea typeface="Calibri" pitchFamily="34" charset="-122"/>
                <a:cs typeface="Calibri" pitchFamily="34" charset="-120"/>
              </a:rPr>
              <a:t>Goal: a 10% reduction in both absolute tonnage and per capita waste across all 5 continents.</a:t>
            </a:r>
            <a:endParaRPr lang="en-US" sz="1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marL="0" indent="0">
              <a:buNone/>
            </a:pPr>
            <a:r>
              <a:rPr lang="en-US" sz="1000" b="1" kern="0" spc="400">
                <a:solidFill>
                  <a:srgbClr val="B85042"/>
                </a:solidFill>
                <a:latin typeface="Calibri" pitchFamily="34" charset="0"/>
                <a:ea typeface="Calibri" pitchFamily="34" charset="-122"/>
                <a:cs typeface="Calibri" pitchFamily="34" charset="-120"/>
              </a:rPr>
              <a:t>STEP 2 — MEASURE</a:t>
            </a:r>
            <a:endParaRPr lang="en-US" sz="1000"/>
          </a:p>
        </p:txBody>
      </p:sp>
      <p:sp>
        <p:nvSpPr>
          <p:cNvPr id="3" name="Text 1"/>
          <p:cNvSpPr/>
          <p:nvPr/>
        </p:nvSpPr>
        <p:spPr>
          <a:xfrm>
            <a:off x="457200" y="502920"/>
            <a:ext cx="8229600" cy="502920"/>
          </a:xfrm>
          <a:prstGeom prst="rect">
            <a:avLst/>
          </a:prstGeom>
          <a:noFill/>
          <a:ln/>
        </p:spPr>
        <p:txBody>
          <a:bodyPr wrap="square" lIns="0" tIns="0" rIns="0" bIns="0" rtlCol="0" anchor="ctr"/>
          <a:lstStyle/>
          <a:p>
            <a:pPr marL="0" indent="0">
              <a:buNone/>
            </a:pPr>
            <a:r>
              <a:rPr lang="en-US" sz="2800" b="1">
                <a:solidFill>
                  <a:srgbClr val="2B2B2B"/>
                </a:solidFill>
                <a:latin typeface="Georgia" pitchFamily="34" charset="0"/>
                <a:ea typeface="Georgia" pitchFamily="34" charset="-122"/>
                <a:cs typeface="Georgia" pitchFamily="34" charset="-120"/>
              </a:rPr>
              <a:t>Methodology</a:t>
            </a:r>
            <a:endParaRPr lang="en-US" sz="2800"/>
          </a:p>
        </p:txBody>
      </p:sp>
      <p:sp>
        <p:nvSpPr>
          <p:cNvPr id="4" name="Shape 2"/>
          <p:cNvSpPr/>
          <p:nvPr/>
        </p:nvSpPr>
        <p:spPr>
          <a:xfrm>
            <a:off x="457200" y="1051560"/>
            <a:ext cx="457200" cy="36576"/>
          </a:xfrm>
          <a:prstGeom prst="rect">
            <a:avLst/>
          </a:prstGeom>
          <a:solidFill>
            <a:srgbClr val="B85042"/>
          </a:solidFill>
          <a:ln w="12700">
            <a:solidFill>
              <a:srgbClr val="B85042"/>
            </a:solidFill>
            <a:prstDash val="solid"/>
          </a:ln>
        </p:spPr>
        <p:txBody>
          <a:bodyPr/>
          <a:lstStyle/>
          <a:p>
            <a:endParaRPr lang="en-US"/>
          </a:p>
        </p:txBody>
      </p:sp>
      <p:sp>
        <p:nvSpPr>
          <p:cNvPr id="5" name="Text 3"/>
          <p:cNvSpPr/>
          <p:nvPr/>
        </p:nvSpPr>
        <p:spPr>
          <a:xfrm>
            <a:off x="457200" y="1188720"/>
            <a:ext cx="8229600" cy="457200"/>
          </a:xfrm>
          <a:prstGeom prst="rect">
            <a:avLst/>
          </a:prstGeom>
          <a:noFill/>
          <a:ln/>
        </p:spPr>
        <p:txBody>
          <a:bodyPr wrap="square" lIns="0" tIns="0" rIns="0" bIns="0" rtlCol="0" anchor="ctr"/>
          <a:lstStyle/>
          <a:p>
            <a:pPr marL="0" indent="0">
              <a:buNone/>
            </a:pPr>
            <a:r>
              <a:rPr lang="en-US" sz="1200" i="1">
                <a:solidFill>
                  <a:srgbClr val="6B6B6B"/>
                </a:solidFill>
                <a:latin typeface="Calibri" pitchFamily="34" charset="0"/>
                <a:ea typeface="Calibri" pitchFamily="34" charset="-122"/>
                <a:cs typeface="Calibri" pitchFamily="34" charset="-120"/>
              </a:rPr>
              <a:t>Seven variables drawn from the FAO 2019 dataset are each analyzed using two methods: descriptive statistics (to characterize each column’s distribution) and continent-level pivot tables (to isolate where waste is concentrated).</a:t>
            </a:r>
            <a:endParaRPr lang="en-US" sz="120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8229600" cy="3048000"/>
        </p:xfrm>
        <a:graphic>
          <a:graphicData uri="http://schemas.openxmlformats.org/drawingml/2006/table">
            <a:tbl>
              <a:tblPr/>
              <a:tblGrid>
                <a:gridCol w="13716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tblGrid>
              <a:tr h="240000">
                <a:tc>
                  <a:txBody>
                    <a:bodyPr/>
                    <a:lstStyle/>
                    <a:p>
                      <a:pPr marL="0" indent="0" algn="ctr">
                        <a:buNone/>
                      </a:pPr>
                      <a:r>
                        <a:rPr lang="en-US" sz="1000" b="1">
                          <a:solidFill>
                            <a:srgbClr val="FFFFFF"/>
                          </a:solidFill>
                          <a:latin typeface="Calibri" pitchFamily="34" charset="0"/>
                          <a:ea typeface="Calibri" pitchFamily="34" charset="-122"/>
                          <a:cs typeface="Calibri" pitchFamily="34" charset="-120"/>
                        </a:rPr>
                        <a:t>VARIABLE</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tc>
                  <a:txBody>
                    <a:bodyPr/>
                    <a:lstStyle/>
                    <a:p>
                      <a:pPr marL="0" indent="0">
                        <a:buNone/>
                      </a:pPr>
                      <a:r>
                        <a:rPr lang="en-US" sz="1000" b="1">
                          <a:solidFill>
                            <a:srgbClr val="FFFFFF"/>
                          </a:solidFill>
                          <a:latin typeface="Calibri" pitchFamily="34" charset="0"/>
                          <a:ea typeface="Calibri" pitchFamily="34" charset="-122"/>
                          <a:cs typeface="Calibri" pitchFamily="34" charset="-120"/>
                        </a:rPr>
                        <a:t>DESCRIPTIVE STATISTICS</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tc>
                  <a:txBody>
                    <a:bodyPr/>
                    <a:lstStyle/>
                    <a:p>
                      <a:pPr marL="0" indent="0">
                        <a:buNone/>
                      </a:pPr>
                      <a:r>
                        <a:rPr lang="en-US" sz="1000" b="1">
                          <a:solidFill>
                            <a:srgbClr val="FFFFFF"/>
                          </a:solidFill>
                          <a:latin typeface="Calibri" pitchFamily="34" charset="0"/>
                          <a:ea typeface="Calibri" pitchFamily="34" charset="-122"/>
                          <a:cs typeface="Calibri" pitchFamily="34" charset="-120"/>
                        </a:rPr>
                        <a:t>PIVOT TABLE METHOD</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extLst>
                  <a:ext uri="{0D108BD9-81ED-4DB2-BD59-A6C34878D82A}">
                    <a16:rowId xmlns:a16="http://schemas.microsoft.com/office/drawing/2014/main" val="10000"/>
                  </a:ext>
                </a:extLst>
              </a:tr>
              <a:tr h="240000">
                <a:tc>
                  <a:txBody>
                    <a:bodyPr/>
                    <a:lstStyle/>
                    <a:p>
                      <a:pPr marL="0" indent="0" algn="ctr">
                        <a:buNone/>
                      </a:pPr>
                      <a:r>
                        <a:rPr lang="en-US" sz="1100" b="1">
                          <a:solidFill>
                            <a:srgbClr val="B85042"/>
                          </a:solidFill>
                          <a:latin typeface="Calibri" pitchFamily="34" charset="0"/>
                          <a:ea typeface="Calibri" pitchFamily="34" charset="-122"/>
                          <a:cs typeface="Calibri" pitchFamily="34" charset="-120"/>
                        </a:rPr>
                        <a:t>Population</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buNone/>
                      </a:pPr>
                      <a:r>
                        <a:rPr lang="en-US" sz="1000" b="1">
                          <a:solidFill>
                            <a:srgbClr val="2B2B2B"/>
                          </a:solidFill>
                          <a:latin typeface="Calibri" pitchFamily="34" charset="0"/>
                          <a:ea typeface="Calibri" pitchFamily="34" charset="-122"/>
                          <a:cs typeface="Calibri" pitchFamily="34" charset="-120"/>
                        </a:rPr>
                        <a:t>Mean, median, SD, min, max, skewness (n=122).</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buNone/>
                      </a:pPr>
                      <a:r>
                        <a:rPr lang="en-US" sz="1000">
                          <a:solidFill>
                            <a:srgbClr val="2B2B2B"/>
                          </a:solidFill>
                          <a:latin typeface="Calibri" pitchFamily="34" charset="0"/>
                          <a:ea typeface="Calibri" pitchFamily="34" charset="-122"/>
                          <a:cs typeface="Calibri" pitchFamily="34" charset="-120"/>
                        </a:rPr>
                        <a:t>Pivot: population vs. SC waste by continent; total tonnes, % of global.</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0000">
                <a:tc>
                  <a:txBody>
                    <a:bodyPr/>
                    <a:lstStyle/>
                    <a:p>
                      <a:pPr marL="0" indent="0" algn="ctr">
                        <a:buNone/>
                      </a:pPr>
                      <a:r>
                        <a:rPr lang="en-US" sz="1100" b="1">
                          <a:solidFill>
                            <a:srgbClr val="B85042"/>
                          </a:solidFill>
                          <a:latin typeface="Calibri" pitchFamily="34" charset="0"/>
                          <a:ea typeface="Calibri" pitchFamily="34" charset="-122"/>
                          <a:cs typeface="Calibri" pitchFamily="34" charset="-120"/>
                        </a:rPr>
                        <a:t>Production (t)</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buNone/>
                      </a:pPr>
                      <a:r>
                        <a:rPr lang="en-US" sz="1000" b="1">
                          <a:solidFill>
                            <a:srgbClr val="2B2B2B"/>
                          </a:solidFill>
                          <a:latin typeface="Calibri" pitchFamily="34" charset="0"/>
                          <a:ea typeface="Calibri" pitchFamily="34" charset="-122"/>
                          <a:cs typeface="Calibri" pitchFamily="34" charset="-120"/>
                        </a:rPr>
                        <a:t>Mean, median, SD, min, max, skewness (n=122).</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buNone/>
                      </a:pPr>
                      <a:r>
                        <a:rPr lang="en-US" sz="1000">
                          <a:solidFill>
                            <a:srgbClr val="2B2B2B"/>
                          </a:solidFill>
                          <a:latin typeface="Calibri" pitchFamily="34" charset="0"/>
                          <a:ea typeface="Calibri" pitchFamily="34" charset="-122"/>
                          <a:cs typeface="Calibri" pitchFamily="34" charset="-120"/>
                        </a:rPr>
                        <a:t>Pivot: production vs. SC waste by continent; waste rate as % of production.</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extLst>
                  <a:ext uri="{0D108BD9-81ED-4DB2-BD59-A6C34878D82A}">
                    <a16:rowId xmlns:a16="http://schemas.microsoft.com/office/drawing/2014/main" val="10002"/>
                  </a:ext>
                </a:extLst>
              </a:tr>
              <a:tr h="240000">
                <a:tc>
                  <a:txBody>
                    <a:bodyPr/>
                    <a:lstStyle/>
                    <a:p>
                      <a:pPr marL="0" indent="0" algn="ctr">
                        <a:buNone/>
                      </a:pPr>
                      <a:r>
                        <a:rPr lang="en-US" sz="1100" b="1">
                          <a:solidFill>
                            <a:srgbClr val="B85042"/>
                          </a:solidFill>
                          <a:latin typeface="Calibri" pitchFamily="34" charset="0"/>
                          <a:ea typeface="Calibri" pitchFamily="34" charset="-122"/>
                          <a:cs typeface="Calibri" pitchFamily="34" charset="-120"/>
                        </a:rPr>
                        <a:t>Domestic Supply (t)</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buNone/>
                      </a:pPr>
                      <a:r>
                        <a:rPr lang="en-US" sz="1000" b="1">
                          <a:solidFill>
                            <a:srgbClr val="2B2B2B"/>
                          </a:solidFill>
                          <a:latin typeface="Calibri" pitchFamily="34" charset="0"/>
                          <a:ea typeface="Calibri" pitchFamily="34" charset="-122"/>
                          <a:cs typeface="Calibri" pitchFamily="34" charset="-120"/>
                        </a:rPr>
                        <a:t>Mean, median, SD, min, max, skewness (n=122).</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buNone/>
                      </a:pPr>
                      <a:r>
                        <a:rPr lang="en-US" sz="1000">
                          <a:solidFill>
                            <a:srgbClr val="2B2B2B"/>
                          </a:solidFill>
                          <a:latin typeface="Calibri" pitchFamily="34" charset="0"/>
                          <a:ea typeface="Calibri" pitchFamily="34" charset="-122"/>
                          <a:cs typeface="Calibri" pitchFamily="34" charset="-120"/>
                        </a:rPr>
                        <a:t>Pivot: domestic supply vs. SC waste by continent; loss rate as % of supply.</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0000">
                <a:tc>
                  <a:txBody>
                    <a:bodyPr/>
                    <a:lstStyle/>
                    <a:p>
                      <a:pPr marL="0" indent="0" algn="ctr">
                        <a:buNone/>
                      </a:pPr>
                      <a:r>
                        <a:rPr lang="en-US" sz="1100" b="1">
                          <a:solidFill>
                            <a:srgbClr val="B85042"/>
                          </a:solidFill>
                          <a:latin typeface="Calibri" pitchFamily="34" charset="0"/>
                          <a:ea typeface="Calibri" pitchFamily="34" charset="-122"/>
                          <a:cs typeface="Calibri" pitchFamily="34" charset="-120"/>
                        </a:rPr>
                        <a:t>Food (t)</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buNone/>
                      </a:pPr>
                      <a:r>
                        <a:rPr lang="en-US" sz="1000" b="1">
                          <a:solidFill>
                            <a:srgbClr val="2B2B2B"/>
                          </a:solidFill>
                          <a:latin typeface="Calibri" pitchFamily="34" charset="0"/>
                          <a:ea typeface="Calibri" pitchFamily="34" charset="-122"/>
                          <a:cs typeface="Calibri" pitchFamily="34" charset="-120"/>
                        </a:rPr>
                        <a:t>Mean, median, SD, min, max, skewness (n=122).</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buNone/>
                      </a:pPr>
                      <a:r>
                        <a:rPr lang="en-US" sz="1000">
                          <a:solidFill>
                            <a:srgbClr val="2B2B2B"/>
                          </a:solidFill>
                          <a:latin typeface="Calibri" pitchFamily="34" charset="0"/>
                          <a:ea typeface="Calibri" pitchFamily="34" charset="-122"/>
                          <a:cs typeface="Calibri" pitchFamily="34" charset="-120"/>
                        </a:rPr>
                        <a:t>Pivot: food for consumption vs. SC waste; waste-to-food ratio by continent.</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extLst>
                  <a:ext uri="{0D108BD9-81ED-4DB2-BD59-A6C34878D82A}">
                    <a16:rowId xmlns:a16="http://schemas.microsoft.com/office/drawing/2014/main" val="10004"/>
                  </a:ext>
                </a:extLst>
              </a:tr>
              <a:tr h="240000">
                <a:tc>
                  <a:txBody>
                    <a:bodyPr/>
                    <a:lstStyle/>
                    <a:p>
                      <a:pPr marL="0" indent="0" algn="ctr">
                        <a:buNone/>
                      </a:pPr>
                      <a:r>
                        <a:rPr lang="en-US" sz="1100" b="1">
                          <a:solidFill>
                            <a:srgbClr val="B85042"/>
                          </a:solidFill>
                          <a:latin typeface="Calibri" pitchFamily="34" charset="0"/>
                          <a:ea typeface="Calibri" pitchFamily="34" charset="-122"/>
                          <a:cs typeface="Calibri" pitchFamily="34" charset="-120"/>
                        </a:rPr>
                        <a:t>SC Waste (t)</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buNone/>
                      </a:pPr>
                      <a:r>
                        <a:rPr lang="en-US" sz="1000" b="1">
                          <a:solidFill>
                            <a:srgbClr val="2B2B2B"/>
                          </a:solidFill>
                          <a:latin typeface="Calibri" pitchFamily="34" charset="0"/>
                          <a:ea typeface="Calibri" pitchFamily="34" charset="-122"/>
                          <a:cs typeface="Calibri" pitchFamily="34" charset="-120"/>
                        </a:rPr>
                        <a:t>Mean, median, SD, min, max, skewness (n=122).</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buNone/>
                      </a:pPr>
                      <a:r>
                        <a:rPr lang="en-US" sz="1000">
                          <a:solidFill>
                            <a:srgbClr val="2B2B2B"/>
                          </a:solidFill>
                          <a:latin typeface="Calibri" pitchFamily="34" charset="0"/>
                          <a:ea typeface="Calibri" pitchFamily="34" charset="-122"/>
                          <a:cs typeface="Calibri" pitchFamily="34" charset="-120"/>
                        </a:rPr>
                        <a:t>Pivot: SC waste aggregated by continent; % of global total; top country drivers.</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40000">
                <a:tc>
                  <a:txBody>
                    <a:bodyPr/>
                    <a:lstStyle/>
                    <a:p>
                      <a:pPr marL="0" indent="0" algn="ctr">
                        <a:buNone/>
                      </a:pPr>
                      <a:r>
                        <a:rPr lang="en-US" sz="1100" b="1">
                          <a:solidFill>
                            <a:srgbClr val="B85042"/>
                          </a:solidFill>
                          <a:latin typeface="Calibri" pitchFamily="34" charset="0"/>
                          <a:ea typeface="Calibri" pitchFamily="34" charset="-122"/>
                          <a:cs typeface="Calibri" pitchFamily="34" charset="-120"/>
                        </a:rPr>
                        <a:t>Waste per Capita (t)</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buNone/>
                      </a:pPr>
                      <a:r>
                        <a:rPr lang="en-US" sz="1000" b="1">
                          <a:solidFill>
                            <a:srgbClr val="2B2B2B"/>
                          </a:solidFill>
                          <a:latin typeface="Calibri" pitchFamily="34" charset="0"/>
                          <a:ea typeface="Calibri" pitchFamily="34" charset="-122"/>
                          <a:cs typeface="Calibri" pitchFamily="34" charset="-120"/>
                        </a:rPr>
                        <a:t>Mean, median, SD, min, max, skewness (n=122).</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buNone/>
                      </a:pPr>
                      <a:r>
                        <a:rPr lang="en-US" sz="1000">
                          <a:solidFill>
                            <a:srgbClr val="2B2B2B"/>
                          </a:solidFill>
                          <a:latin typeface="Calibri" pitchFamily="34" charset="0"/>
                          <a:ea typeface="Calibri" pitchFamily="34" charset="-122"/>
                          <a:cs typeface="Calibri" pitchFamily="34" charset="-120"/>
                        </a:rPr>
                        <a:t>Pivot: waste per capita vs. food supply per capita by continent.</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extLst>
                  <a:ext uri="{0D108BD9-81ED-4DB2-BD59-A6C34878D82A}">
                    <a16:rowId xmlns:a16="http://schemas.microsoft.com/office/drawing/2014/main" val="10006"/>
                  </a:ext>
                </a:extLst>
              </a:tr>
              <a:tr h="240000">
                <a:tc>
                  <a:txBody>
                    <a:bodyPr/>
                    <a:lstStyle/>
                    <a:p>
                      <a:pPr marL="0" indent="0" algn="ctr">
                        <a:buNone/>
                      </a:pPr>
                      <a:r>
                        <a:rPr lang="en-US" sz="1100" b="1">
                          <a:solidFill>
                            <a:srgbClr val="B85042"/>
                          </a:solidFill>
                          <a:latin typeface="Calibri" pitchFamily="34" charset="0"/>
                          <a:ea typeface="Calibri" pitchFamily="34" charset="-122"/>
                          <a:cs typeface="Calibri" pitchFamily="34" charset="-120"/>
                        </a:rPr>
                        <a:t>Food Supply (kg/cap/yr)</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buNone/>
                      </a:pPr>
                      <a:r>
                        <a:rPr lang="en-US" sz="1000" b="1">
                          <a:solidFill>
                            <a:srgbClr val="2B2B2B"/>
                          </a:solidFill>
                          <a:latin typeface="Calibri" pitchFamily="34" charset="0"/>
                          <a:ea typeface="Calibri" pitchFamily="34" charset="-122"/>
                          <a:cs typeface="Calibri" pitchFamily="34" charset="-120"/>
                        </a:rPr>
                        <a:t>Mean, median, SD, min, max, skewness (n=122).</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buNone/>
                      </a:pPr>
                      <a:r>
                        <a:rPr lang="en-US" sz="1000">
                          <a:solidFill>
                            <a:srgbClr val="2B2B2B"/>
                          </a:solidFill>
                          <a:latin typeface="Calibri" pitchFamily="34" charset="0"/>
                          <a:ea typeface="Calibri" pitchFamily="34" charset="-122"/>
                          <a:cs typeface="Calibri" pitchFamily="34" charset="-120"/>
                        </a:rPr>
                        <a:t>Pivot: food supply per capita vs. waste per capita by continent.</a:t>
                      </a:r>
                      <a:endParaRPr lang="en-US" sz="10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STEP 3 — ANALYZE</a:t>
            </a:r>
            <a:endParaRPr lang="en-US" sz="10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marL="0" indent="0">
              <a:buNone/>
            </a:pPr>
            <a:r>
              <a:rPr lang="en-US" sz="2800" b="1" dirty="0">
                <a:solidFill>
                  <a:srgbClr val="2B2B2B"/>
                </a:solidFill>
                <a:latin typeface="Georgia" pitchFamily="34" charset="0"/>
                <a:ea typeface="Georgia" pitchFamily="34" charset="-122"/>
                <a:cs typeface="Georgia" pitchFamily="34" charset="-120"/>
              </a:rPr>
              <a:t>Descriptive Statistics</a:t>
            </a:r>
            <a:endParaRPr lang="en-US" sz="2800" dirty="0"/>
          </a:p>
        </p:txBody>
      </p:sp>
      <p:sp>
        <p:nvSpPr>
          <p:cNvPr id="4" name="Shape 2"/>
          <p:cNvSpPr/>
          <p:nvPr/>
        </p:nvSpPr>
        <p:spPr>
          <a:xfrm>
            <a:off x="457200" y="1024128"/>
            <a:ext cx="548640" cy="36576"/>
          </a:xfrm>
          <a:prstGeom prst="rect">
            <a:avLst/>
          </a:prstGeom>
          <a:solidFill>
            <a:srgbClr val="B85042"/>
          </a:solidFill>
          <a:ln w="12700">
            <a:solidFill>
              <a:srgbClr val="B85042"/>
            </a:solidFill>
            <a:prstDash val="solid"/>
          </a:ln>
        </p:spPr>
        <p:txBody>
          <a:bodyPr/>
          <a:lstStyle/>
          <a:p>
            <a:endParaRPr lang="en-US"/>
          </a:p>
        </p:txBody>
      </p:sp>
      <p:graphicFrame>
        <p:nvGraphicFramePr>
          <p:cNvPr id="5" name="Table 0"/>
          <p:cNvGraphicFramePr>
            <a:graphicFrameLocks noGrp="1"/>
          </p:cNvGraphicFramePr>
          <p:nvPr/>
        </p:nvGraphicFramePr>
        <p:xfrm>
          <a:off x="457200" y="1188720"/>
          <a:ext cx="8229600" cy="2991104"/>
        </p:xfrm>
        <a:graphic>
          <a:graphicData uri="http://schemas.openxmlformats.org/drawingml/2006/table">
            <a:tbl>
              <a:tblPr/>
              <a:tblGrid>
                <a:gridCol w="155448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gridCol w="868680">
                  <a:extLst>
                    <a:ext uri="{9D8B030D-6E8A-4147-A177-3AD203B41FA5}">
                      <a16:colId xmlns:a16="http://schemas.microsoft.com/office/drawing/2014/main" val="20006"/>
                    </a:ext>
                  </a:extLst>
                </a:gridCol>
                <a:gridCol w="502920">
                  <a:extLst>
                    <a:ext uri="{9D8B030D-6E8A-4147-A177-3AD203B41FA5}">
                      <a16:colId xmlns:a16="http://schemas.microsoft.com/office/drawing/2014/main" val="20007"/>
                    </a:ext>
                  </a:extLst>
                </a:gridCol>
              </a:tblGrid>
              <a:tr h="373888">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Variable</a:t>
                      </a:r>
                      <a:endParaRPr lang="en-US" sz="900" dirty="0">
                        <a:latin typeface="Calibri" charset="0"/>
                        <a:ea typeface="Calibri" charset="0"/>
                        <a:cs typeface="Calibri" charset="0"/>
                      </a:endParaRPr>
                    </a:p>
                  </a:txBody>
                  <a:tcPr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solidFill>
                      <a:srgbClr val="B85042"/>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Mean</a:t>
                      </a:r>
                      <a:endParaRPr lang="en-US" sz="900" dirty="0">
                        <a:latin typeface="Calibri" charset="0"/>
                        <a:ea typeface="Calibri" charset="0"/>
                        <a:cs typeface="Calibri" charset="0"/>
                      </a:endParaRPr>
                    </a:p>
                  </a:txBody>
                  <a:tcPr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solidFill>
                      <a:srgbClr val="B85042"/>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Median</a:t>
                      </a:r>
                      <a:endParaRPr lang="en-US" sz="900" dirty="0">
                        <a:latin typeface="Calibri" charset="0"/>
                        <a:ea typeface="Calibri" charset="0"/>
                        <a:cs typeface="Calibri" charset="0"/>
                      </a:endParaRPr>
                    </a:p>
                  </a:txBody>
                  <a:tcPr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solidFill>
                      <a:srgbClr val="B85042"/>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Std Dev</a:t>
                      </a:r>
                      <a:endParaRPr lang="en-US" sz="900" dirty="0">
                        <a:latin typeface="Calibri" charset="0"/>
                        <a:ea typeface="Calibri" charset="0"/>
                        <a:cs typeface="Calibri" charset="0"/>
                      </a:endParaRPr>
                    </a:p>
                  </a:txBody>
                  <a:tcPr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solidFill>
                      <a:srgbClr val="B85042"/>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Min</a:t>
                      </a:r>
                      <a:endParaRPr lang="en-US" sz="900" dirty="0">
                        <a:latin typeface="Calibri" charset="0"/>
                        <a:ea typeface="Calibri" charset="0"/>
                        <a:cs typeface="Calibri" charset="0"/>
                      </a:endParaRPr>
                    </a:p>
                  </a:txBody>
                  <a:tcPr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solidFill>
                      <a:srgbClr val="B85042"/>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Max</a:t>
                      </a:r>
                      <a:endParaRPr lang="en-US" sz="900" dirty="0">
                        <a:latin typeface="Calibri" charset="0"/>
                        <a:ea typeface="Calibri" charset="0"/>
                        <a:cs typeface="Calibri" charset="0"/>
                      </a:endParaRPr>
                    </a:p>
                  </a:txBody>
                  <a:tcPr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solidFill>
                      <a:srgbClr val="B85042"/>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Skewness</a:t>
                      </a:r>
                      <a:endParaRPr lang="en-US" sz="900" dirty="0">
                        <a:latin typeface="Calibri" charset="0"/>
                        <a:ea typeface="Calibri" charset="0"/>
                        <a:cs typeface="Calibri" charset="0"/>
                      </a:endParaRPr>
                    </a:p>
                  </a:txBody>
                  <a:tcPr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solidFill>
                      <a:srgbClr val="B85042"/>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a:t>
                      </a:r>
                      <a:endParaRPr lang="en-US" sz="900" dirty="0">
                        <a:latin typeface="Calibri" charset="0"/>
                        <a:ea typeface="Calibri" charset="0"/>
                        <a:cs typeface="Calibri" charset="0"/>
                      </a:endParaRPr>
                    </a:p>
                  </a:txBody>
                  <a:tcPr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solidFill>
                      <a:srgbClr val="B85042"/>
                    </a:solidFill>
                  </a:tcPr>
                </a:tc>
                <a:extLst>
                  <a:ext uri="{0D108BD9-81ED-4DB2-BD59-A6C34878D82A}">
                    <a16:rowId xmlns:a16="http://schemas.microsoft.com/office/drawing/2014/main" val="10000"/>
                  </a:ext>
                </a:extLst>
              </a:tr>
              <a:tr h="373888">
                <a:tc>
                  <a:txBody>
                    <a:bodyPr/>
                    <a:lstStyle/>
                    <a:p>
                      <a:pPr marL="0" indent="0" algn="l">
                        <a:buNone/>
                      </a:pPr>
                      <a:r>
                        <a:rPr lang="en-US" sz="900" b="1" dirty="0">
                          <a:solidFill>
                            <a:srgbClr val="2B2B2B"/>
                          </a:solidFill>
                          <a:latin typeface="Calibri" pitchFamily="34" charset="0"/>
                          <a:ea typeface="Calibri" pitchFamily="34" charset="-122"/>
                          <a:cs typeface="Calibri" pitchFamily="34" charset="-120"/>
                        </a:rPr>
                        <a:t>Population</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60,525,986</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18,206,231</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182,068,686</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2,078,654</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1,433,783,800</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6.75</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122</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tcPr>
                </a:tc>
                <a:extLst>
                  <a:ext uri="{0D108BD9-81ED-4DB2-BD59-A6C34878D82A}">
                    <a16:rowId xmlns:a16="http://schemas.microsoft.com/office/drawing/2014/main" val="10001"/>
                  </a:ext>
                </a:extLst>
              </a:tr>
              <a:tr h="373888">
                <a:tc>
                  <a:txBody>
                    <a:bodyPr/>
                    <a:lstStyle/>
                    <a:p>
                      <a:pPr marL="0" indent="0" algn="l">
                        <a:buNone/>
                      </a:pPr>
                      <a:r>
                        <a:rPr lang="en-US" sz="900" b="1" dirty="0">
                          <a:solidFill>
                            <a:srgbClr val="2B2B2B"/>
                          </a:solidFill>
                          <a:latin typeface="Calibri" pitchFamily="34" charset="0"/>
                          <a:ea typeface="Calibri" pitchFamily="34" charset="-122"/>
                          <a:cs typeface="Calibri" pitchFamily="34" charset="-120"/>
                        </a:rPr>
                        <a:t>Production (t)</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solidFill>
                      <a:srgbClr val="FAF6F1"/>
                    </a:solidFill>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9,231,787</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solidFill>
                      <a:srgbClr val="FAF6F1"/>
                    </a:solidFill>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895,489</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solidFill>
                      <a:srgbClr val="FAF6F1"/>
                    </a:solidFill>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40,239,969</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solidFill>
                      <a:srgbClr val="FAF6F1"/>
                    </a:solidFill>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166</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solidFill>
                      <a:srgbClr val="FAF6F1"/>
                    </a:solidFill>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345,962,112</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solidFill>
                      <a:srgbClr val="FAF6F1"/>
                    </a:solidFill>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7.09</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solidFill>
                      <a:srgbClr val="FAF6F1"/>
                    </a:solidFill>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122</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solidFill>
                      <a:srgbClr val="FAF6F1"/>
                    </a:solidFill>
                  </a:tcPr>
                </a:tc>
                <a:extLst>
                  <a:ext uri="{0D108BD9-81ED-4DB2-BD59-A6C34878D82A}">
                    <a16:rowId xmlns:a16="http://schemas.microsoft.com/office/drawing/2014/main" val="10002"/>
                  </a:ext>
                </a:extLst>
              </a:tr>
              <a:tr h="373888">
                <a:tc>
                  <a:txBody>
                    <a:bodyPr/>
                    <a:lstStyle/>
                    <a:p>
                      <a:pPr marL="0" indent="0" algn="l">
                        <a:buNone/>
                      </a:pPr>
                      <a:r>
                        <a:rPr lang="en-US" sz="900" b="1" dirty="0">
                          <a:solidFill>
                            <a:srgbClr val="2B2B2B"/>
                          </a:solidFill>
                          <a:latin typeface="Calibri" pitchFamily="34" charset="0"/>
                          <a:ea typeface="Calibri" pitchFamily="34" charset="-122"/>
                          <a:cs typeface="Calibri" pitchFamily="34" charset="-120"/>
                        </a:rPr>
                        <a:t>Domestic Supply (t)</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9,246,385</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1,577,500</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37,920,265</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22,000</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314,076,000</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7.25</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122</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tcPr>
                </a:tc>
                <a:extLst>
                  <a:ext uri="{0D108BD9-81ED-4DB2-BD59-A6C34878D82A}">
                    <a16:rowId xmlns:a16="http://schemas.microsoft.com/office/drawing/2014/main" val="10003"/>
                  </a:ext>
                </a:extLst>
              </a:tr>
              <a:tr h="373888">
                <a:tc>
                  <a:txBody>
                    <a:bodyPr/>
                    <a:lstStyle/>
                    <a:p>
                      <a:pPr marL="0" indent="0" algn="l">
                        <a:buNone/>
                      </a:pPr>
                      <a:r>
                        <a:rPr lang="en-US" sz="900" b="1" dirty="0">
                          <a:solidFill>
                            <a:srgbClr val="2B2B2B"/>
                          </a:solidFill>
                          <a:latin typeface="Calibri" pitchFamily="34" charset="0"/>
                          <a:ea typeface="Calibri" pitchFamily="34" charset="-122"/>
                          <a:cs typeface="Calibri" pitchFamily="34" charset="-120"/>
                        </a:rPr>
                        <a:t>Food (t)</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solidFill>
                      <a:srgbClr val="FAF6F1"/>
                    </a:solidFill>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1,185,279</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solidFill>
                      <a:srgbClr val="FAF6F1"/>
                    </a:solidFill>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265,000</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solidFill>
                      <a:srgbClr val="FAF6F1"/>
                    </a:solidFill>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2,276,506</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solidFill>
                      <a:srgbClr val="FAF6F1"/>
                    </a:solidFill>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2,000</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solidFill>
                      <a:srgbClr val="FAF6F1"/>
                    </a:solidFill>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15,357,000</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solidFill>
                      <a:srgbClr val="FAF6F1"/>
                    </a:solidFill>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3.55</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solidFill>
                      <a:srgbClr val="FAF6F1"/>
                    </a:solidFill>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122</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solidFill>
                      <a:srgbClr val="FAF6F1"/>
                    </a:solidFill>
                  </a:tcPr>
                </a:tc>
                <a:extLst>
                  <a:ext uri="{0D108BD9-81ED-4DB2-BD59-A6C34878D82A}">
                    <a16:rowId xmlns:a16="http://schemas.microsoft.com/office/drawing/2014/main" val="10004"/>
                  </a:ext>
                </a:extLst>
              </a:tr>
              <a:tr h="373888">
                <a:tc>
                  <a:txBody>
                    <a:bodyPr/>
                    <a:lstStyle/>
                    <a:p>
                      <a:pPr marL="0" indent="0" algn="l">
                        <a:buNone/>
                      </a:pPr>
                      <a:r>
                        <a:rPr lang="en-US" sz="900" b="1" dirty="0">
                          <a:solidFill>
                            <a:srgbClr val="2B2B2B"/>
                          </a:solidFill>
                          <a:latin typeface="Calibri" pitchFamily="34" charset="0"/>
                          <a:ea typeface="Calibri" pitchFamily="34" charset="-122"/>
                          <a:cs typeface="Calibri" pitchFamily="34" charset="-120"/>
                        </a:rPr>
                        <a:t>SC Waste (t)</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498,295</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58,000</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2,036,857</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1,000</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15,797,000</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6.06</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122</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tcPr>
                </a:tc>
                <a:extLst>
                  <a:ext uri="{0D108BD9-81ED-4DB2-BD59-A6C34878D82A}">
                    <a16:rowId xmlns:a16="http://schemas.microsoft.com/office/drawing/2014/main" val="10005"/>
                  </a:ext>
                </a:extLst>
              </a:tr>
              <a:tr h="373888">
                <a:tc>
                  <a:txBody>
                    <a:bodyPr/>
                    <a:lstStyle/>
                    <a:p>
                      <a:pPr marL="0" indent="0" algn="l">
                        <a:buNone/>
                      </a:pPr>
                      <a:r>
                        <a:rPr lang="en-US" sz="900" b="1" dirty="0">
                          <a:solidFill>
                            <a:srgbClr val="2B2B2B"/>
                          </a:solidFill>
                          <a:latin typeface="Calibri" pitchFamily="34" charset="0"/>
                          <a:ea typeface="Calibri" pitchFamily="34" charset="-122"/>
                          <a:cs typeface="Calibri" pitchFamily="34" charset="-120"/>
                        </a:rPr>
                        <a:t>Waste / Cap (t)</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solidFill>
                      <a:srgbClr val="FAF6F1"/>
                    </a:solidFill>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0.00678</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solidFill>
                      <a:srgbClr val="FAF6F1"/>
                    </a:solidFill>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0.00290</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solidFill>
                      <a:srgbClr val="FAF6F1"/>
                    </a:solidFill>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0.01018</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solidFill>
                      <a:srgbClr val="FAF6F1"/>
                    </a:solidFill>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0.00003</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solidFill>
                      <a:srgbClr val="FAF6F1"/>
                    </a:solidFill>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0.05244</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solidFill>
                      <a:srgbClr val="FAF6F1"/>
                    </a:solidFill>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2.70</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solidFill>
                      <a:srgbClr val="FAF6F1"/>
                    </a:solidFill>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122</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solidFill>
                      <a:srgbClr val="FAF6F1"/>
                    </a:solidFill>
                  </a:tcPr>
                </a:tc>
                <a:extLst>
                  <a:ext uri="{0D108BD9-81ED-4DB2-BD59-A6C34878D82A}">
                    <a16:rowId xmlns:a16="http://schemas.microsoft.com/office/drawing/2014/main" val="10006"/>
                  </a:ext>
                </a:extLst>
              </a:tr>
              <a:tr h="373888">
                <a:tc>
                  <a:txBody>
                    <a:bodyPr/>
                    <a:lstStyle/>
                    <a:p>
                      <a:pPr marL="0" indent="0" algn="l">
                        <a:buNone/>
                      </a:pPr>
                      <a:r>
                        <a:rPr lang="en-US" sz="900" b="1" dirty="0">
                          <a:solidFill>
                            <a:srgbClr val="2B2B2B"/>
                          </a:solidFill>
                          <a:latin typeface="Calibri" pitchFamily="34" charset="0"/>
                          <a:ea typeface="Calibri" pitchFamily="34" charset="-122"/>
                          <a:cs typeface="Calibri" pitchFamily="34" charset="-120"/>
                        </a:rPr>
                        <a:t>Food Supply (kg/cap/yr)</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28.74</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19.26</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29.69</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0.45</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131.37</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1.59</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tcPr>
                </a:tc>
                <a:tc>
                  <a:txBody>
                    <a:bodyPr/>
                    <a:lstStyle/>
                    <a:p>
                      <a:pPr marL="0" indent="0" algn="r">
                        <a:buNone/>
                      </a:pPr>
                      <a:r>
                        <a:rPr lang="en-US" sz="900" dirty="0">
                          <a:solidFill>
                            <a:srgbClr val="2B2B2B"/>
                          </a:solidFill>
                          <a:latin typeface="Calibri" pitchFamily="34" charset="0"/>
                          <a:ea typeface="Calibri" pitchFamily="34" charset="-122"/>
                          <a:cs typeface="Calibri" pitchFamily="34" charset="-120"/>
                        </a:rPr>
                        <a:t>122</a:t>
                      </a:r>
                      <a:endParaRPr lang="en-US" sz="900" dirty="0">
                        <a:latin typeface="Calibri" charset="0"/>
                        <a:ea typeface="Calibri" charset="0"/>
                        <a:cs typeface="Calibri" charset="0"/>
                      </a:endParaRPr>
                    </a:p>
                  </a:txBody>
                  <a:tcPr marL="50800" marR="50800" marT="50800" marB="50800" anchor="ctr">
                    <a:lnL w="6350" cap="flat" cmpd="sng" algn="ctr">
                      <a:solidFill>
                        <a:srgbClr val="EAEAEA"/>
                      </a:solidFill>
                      <a:prstDash val="solid"/>
                      <a:round/>
                      <a:headEnd type="none" w="med" len="med"/>
                      <a:tailEnd type="none" w="med" len="med"/>
                    </a:lnL>
                    <a:lnR w="6350" cap="flat" cmpd="sng" algn="ctr">
                      <a:solidFill>
                        <a:srgbClr val="EAEAEA"/>
                      </a:solidFill>
                      <a:prstDash val="solid"/>
                      <a:round/>
                      <a:headEnd type="none" w="med" len="med"/>
                      <a:tailEnd type="none" w="med" len="med"/>
                    </a:lnR>
                    <a:lnT w="6350" cap="flat" cmpd="sng" algn="ctr">
                      <a:solidFill>
                        <a:srgbClr val="EAEAEA"/>
                      </a:solidFill>
                      <a:prstDash val="solid"/>
                      <a:round/>
                      <a:headEnd type="none" w="med" len="med"/>
                      <a:tailEnd type="none" w="med" len="med"/>
                    </a:lnT>
                    <a:lnB w="6350" cap="flat" cmpd="sng" algn="ctr">
                      <a:solidFill>
                        <a:srgbClr val="EAEAEA"/>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marL="0" indent="0">
              <a:buNone/>
            </a:pPr>
            <a:r>
              <a:rPr lang="en-US" sz="1000" b="1" kern="0" spc="400">
                <a:solidFill>
                  <a:srgbClr val="B85042"/>
                </a:solidFill>
                <a:latin typeface="Calibri" pitchFamily="34" charset="0"/>
                <a:ea typeface="Calibri" pitchFamily="34" charset="-122"/>
                <a:cs typeface="Calibri" pitchFamily="34" charset="-120"/>
              </a:rPr>
              <a:t>STEP 3 — ANALYZE</a:t>
            </a:r>
            <a:endParaRPr lang="en-US" sz="1000"/>
          </a:p>
        </p:txBody>
      </p:sp>
      <p:sp>
        <p:nvSpPr>
          <p:cNvPr id="3" name="Text 1"/>
          <p:cNvSpPr/>
          <p:nvPr/>
        </p:nvSpPr>
        <p:spPr>
          <a:xfrm>
            <a:off x="457200" y="502920"/>
            <a:ext cx="8229600" cy="502920"/>
          </a:xfrm>
          <a:prstGeom prst="rect">
            <a:avLst/>
          </a:prstGeom>
          <a:noFill/>
          <a:ln/>
        </p:spPr>
        <p:txBody>
          <a:bodyPr wrap="square" lIns="0" tIns="0" rIns="0" bIns="0" rtlCol="0" anchor="ctr"/>
          <a:lstStyle/>
          <a:p>
            <a:pPr marL="0" indent="0">
              <a:buNone/>
            </a:pPr>
            <a:r>
              <a:rPr lang="en-US" sz="2400" b="1">
                <a:solidFill>
                  <a:srgbClr val="2B2B2B"/>
                </a:solidFill>
                <a:latin typeface="Georgia" pitchFamily="34" charset="0"/>
                <a:ea typeface="Georgia" pitchFamily="34" charset="-122"/>
                <a:cs typeface="Georgia" pitchFamily="34" charset="-120"/>
              </a:rPr>
              <a:t>Variable 1 of 7 — Population vs. Supply Chain Waste</a:t>
            </a:r>
            <a:endParaRPr lang="en-US" sz="2400"/>
          </a:p>
        </p:txBody>
      </p:sp>
      <p:sp>
        <p:nvSpPr>
          <p:cNvPr id="4" name="Shape 2"/>
          <p:cNvSpPr/>
          <p:nvPr/>
        </p:nvSpPr>
        <p:spPr>
          <a:xfrm>
            <a:off x="457200" y="1051560"/>
            <a:ext cx="457200" cy="36576"/>
          </a:xfrm>
          <a:prstGeom prst="rect">
            <a:avLst/>
          </a:prstGeom>
          <a:solidFill>
            <a:srgbClr val="B85042"/>
          </a:solidFill>
          <a:ln w="12700">
            <a:solidFill>
              <a:srgbClr val="B85042"/>
            </a:solidFill>
            <a:prstDash val="solid"/>
          </a:ln>
        </p:spPr>
        <p:txBody>
          <a:bodyPr/>
          <a:lstStyle/>
          <a:p>
            <a:endParaRPr lang="en-US"/>
          </a:p>
        </p:txBody>
      </p:sp>
      <p:sp>
        <p:nvSpPr>
          <p:cNvPr id="5" name="Text 3"/>
          <p:cNvSpPr/>
          <p:nvPr/>
        </p:nvSpPr>
        <p:spPr>
          <a:xfrm>
            <a:off x="457200" y="1188720"/>
            <a:ext cx="8229600" cy="365760"/>
          </a:xfrm>
          <a:prstGeom prst="rect">
            <a:avLst/>
          </a:prstGeom>
          <a:noFill/>
          <a:ln/>
        </p:spPr>
        <p:txBody>
          <a:bodyPr wrap="square" lIns="0" tIns="0" rIns="0" bIns="0" rtlCol="0" anchor="ctr"/>
          <a:lstStyle/>
          <a:p>
            <a:pPr marL="0" indent="0">
              <a:buNone/>
            </a:pPr>
            <a:r>
              <a:rPr lang="en-US" sz="1200" i="1">
                <a:solidFill>
                  <a:srgbClr val="6B6B6B"/>
                </a:solidFill>
                <a:latin typeface="Calibri" pitchFamily="34" charset="0"/>
                <a:ea typeface="Calibri" pitchFamily="34" charset="-122"/>
                <a:cs typeface="Calibri" pitchFamily="34" charset="-120"/>
              </a:rPr>
              <a:t>Pivot 1 of 7 — Variable: Population | Mean: 60,525,986 | Median: 18,206,231 | Std Dev: 182,068,686 | Min: 2,078,654 | Max: 1,433,783,800 | Skewness: 6.58 (n=122)</a:t>
            </a:r>
            <a:endParaRPr lang="en-US" sz="1200"/>
          </a:p>
        </p:txBody>
      </p:sp>
      <p:graphicFrame>
        <p:nvGraphicFramePr>
          <p:cNvPr id="10" name="Table 0"/>
          <p:cNvGraphicFramePr>
            <a:graphicFrameLocks noGrp="1"/>
          </p:cNvGraphicFramePr>
          <p:nvPr>
            <p:extLst>
              <p:ext uri="{D42A27DB-BD31-4B8C-83A1-F6EECF244321}">
                <p14:modId xmlns:p14="http://schemas.microsoft.com/office/powerpoint/2010/main" val="1183247978"/>
              </p:ext>
            </p:extLst>
          </p:nvPr>
        </p:nvGraphicFramePr>
        <p:xfrm>
          <a:off x="457200" y="1645920"/>
          <a:ext cx="8229600" cy="2240280"/>
        </p:xfrm>
        <a:graphic>
          <a:graphicData uri="http://schemas.openxmlformats.org/drawingml/2006/table">
            <a:tbl>
              <a:tblPr/>
              <a:tblGrid>
                <a:gridCol w="32004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tblGrid>
              <a:tr h="320040">
                <a:tc>
                  <a:txBody>
                    <a:bodyPr/>
                    <a:lstStyle/>
                    <a:p>
                      <a:pPr marL="0" indent="0" algn="l">
                        <a:buNone/>
                      </a:pPr>
                      <a:r>
                        <a:rPr lang="en-US" sz="1100" b="1">
                          <a:solidFill>
                            <a:srgbClr val="FFFFFF"/>
                          </a:solidFill>
                          <a:latin typeface="Calibri" pitchFamily="34" charset="0"/>
                          <a:ea typeface="Calibri" pitchFamily="34" charset="-122"/>
                          <a:cs typeface="Calibri" pitchFamily="34" charset="-120"/>
                        </a:rPr>
                        <a:t>Country</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Population</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SC Waste (t)</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extLst>
                  <a:ext uri="{0D108BD9-81ED-4DB2-BD59-A6C34878D82A}">
                    <a16:rowId xmlns:a16="http://schemas.microsoft.com/office/drawing/2014/main" val="10000"/>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China</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1,433,783,800</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11,936,000</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India</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1,366,417,800</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1,262,000</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extLst>
                  <a:ext uri="{0D108BD9-81ED-4DB2-BD59-A6C34878D82A}">
                    <a16:rowId xmlns:a16="http://schemas.microsoft.com/office/drawing/2014/main" val="10002"/>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United States</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329,064,900</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15,797,000</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Indonesia</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270,625,570</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1,400,000</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extLst>
                  <a:ext uri="{0D108BD9-81ED-4DB2-BD59-A6C34878D82A}">
                    <a16:rowId xmlns:a16="http://schemas.microsoft.com/office/drawing/2014/main" val="10004"/>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Pakistan</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216,565,310</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282,000</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Brazil</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211,049,520</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10,260,000</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marL="0" indent="0">
              <a:buNone/>
            </a:pPr>
            <a:r>
              <a:rPr lang="en-US" sz="1000" b="1" kern="0" spc="400">
                <a:solidFill>
                  <a:srgbClr val="B85042"/>
                </a:solidFill>
                <a:latin typeface="Calibri" pitchFamily="34" charset="0"/>
                <a:ea typeface="Calibri" pitchFamily="34" charset="-122"/>
                <a:cs typeface="Calibri" pitchFamily="34" charset="-120"/>
              </a:rPr>
              <a:t>STEP 3 — ANALYZE</a:t>
            </a:r>
            <a:endParaRPr lang="en-US" sz="1000"/>
          </a:p>
        </p:txBody>
      </p:sp>
      <p:sp>
        <p:nvSpPr>
          <p:cNvPr id="3" name="Text 1"/>
          <p:cNvSpPr/>
          <p:nvPr/>
        </p:nvSpPr>
        <p:spPr>
          <a:xfrm>
            <a:off x="457200" y="502920"/>
            <a:ext cx="8229600" cy="502920"/>
          </a:xfrm>
          <a:prstGeom prst="rect">
            <a:avLst/>
          </a:prstGeom>
          <a:noFill/>
          <a:ln/>
        </p:spPr>
        <p:txBody>
          <a:bodyPr wrap="square" lIns="0" tIns="0" rIns="0" bIns="0" rtlCol="0" anchor="ctr"/>
          <a:lstStyle/>
          <a:p>
            <a:pPr marL="0" indent="0">
              <a:buNone/>
            </a:pPr>
            <a:r>
              <a:rPr lang="en-US" sz="2200" b="1">
                <a:solidFill>
                  <a:srgbClr val="2B2B2B"/>
                </a:solidFill>
                <a:latin typeface="Georgia" pitchFamily="34" charset="0"/>
                <a:ea typeface="Georgia" pitchFamily="34" charset="-122"/>
                <a:cs typeface="Georgia" pitchFamily="34" charset="-120"/>
              </a:rPr>
              <a:t>Variable 2 of 7 — Production (t) vs. Supply Chain Waste</a:t>
            </a:r>
            <a:endParaRPr lang="en-US" sz="2200"/>
          </a:p>
        </p:txBody>
      </p:sp>
      <p:sp>
        <p:nvSpPr>
          <p:cNvPr id="4" name="Shape 2"/>
          <p:cNvSpPr/>
          <p:nvPr/>
        </p:nvSpPr>
        <p:spPr>
          <a:xfrm>
            <a:off x="457200" y="1051560"/>
            <a:ext cx="457200" cy="36576"/>
          </a:xfrm>
          <a:prstGeom prst="rect">
            <a:avLst/>
          </a:prstGeom>
          <a:solidFill>
            <a:srgbClr val="B85042"/>
          </a:solidFill>
          <a:ln w="12700">
            <a:solidFill>
              <a:srgbClr val="B85042"/>
            </a:solidFill>
            <a:prstDash val="solid"/>
          </a:ln>
        </p:spPr>
        <p:txBody>
          <a:bodyPr/>
          <a:lstStyle/>
          <a:p>
            <a:endParaRPr lang="en-US"/>
          </a:p>
        </p:txBody>
      </p:sp>
      <p:sp>
        <p:nvSpPr>
          <p:cNvPr id="5" name="Text 3"/>
          <p:cNvSpPr/>
          <p:nvPr/>
        </p:nvSpPr>
        <p:spPr>
          <a:xfrm>
            <a:off x="457200" y="1188720"/>
            <a:ext cx="8229600" cy="365760"/>
          </a:xfrm>
          <a:prstGeom prst="rect">
            <a:avLst/>
          </a:prstGeom>
          <a:noFill/>
          <a:ln/>
        </p:spPr>
        <p:txBody>
          <a:bodyPr wrap="square" lIns="0" tIns="0" rIns="0" bIns="0" rtlCol="0" anchor="ctr"/>
          <a:lstStyle/>
          <a:p>
            <a:pPr marL="0" indent="0">
              <a:buNone/>
            </a:pPr>
            <a:r>
              <a:rPr lang="en-US" sz="1200" i="1">
                <a:solidFill>
                  <a:srgbClr val="6B6B6B"/>
                </a:solidFill>
                <a:latin typeface="Calibri" pitchFamily="34" charset="0"/>
                <a:ea typeface="Calibri" pitchFamily="34" charset="-122"/>
                <a:cs typeface="Calibri" pitchFamily="34" charset="-120"/>
              </a:rPr>
              <a:t>Pivot 2 of 7 — Variable: Production (t) | Mean: 9,231,787 | Median: 895,489 | Std Dev: 40,239,969 | Min: 166 | Max: 345,962,112 | Skewness: 6.91 (n=122)</a:t>
            </a:r>
            <a:endParaRPr lang="en-US" sz="1200"/>
          </a:p>
        </p:txBody>
      </p:sp>
      <p:graphicFrame>
        <p:nvGraphicFramePr>
          <p:cNvPr id="11" name="Table 0"/>
          <p:cNvGraphicFramePr>
            <a:graphicFrameLocks noGrp="1"/>
          </p:cNvGraphicFramePr>
          <p:nvPr>
            <p:extLst>
              <p:ext uri="{D42A27DB-BD31-4B8C-83A1-F6EECF244321}">
                <p14:modId xmlns:p14="http://schemas.microsoft.com/office/powerpoint/2010/main" val="969861349"/>
              </p:ext>
            </p:extLst>
          </p:nvPr>
        </p:nvGraphicFramePr>
        <p:xfrm>
          <a:off x="457200" y="1645920"/>
          <a:ext cx="8229600" cy="2240280"/>
        </p:xfrm>
        <a:graphic>
          <a:graphicData uri="http://schemas.openxmlformats.org/drawingml/2006/table">
            <a:tbl>
              <a:tblPr/>
              <a:tblGrid>
                <a:gridCol w="32004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tblGrid>
              <a:tr h="320040">
                <a:tc>
                  <a:txBody>
                    <a:bodyPr/>
                    <a:lstStyle/>
                    <a:p>
                      <a:pPr marL="0" indent="0" algn="l">
                        <a:buNone/>
                      </a:pPr>
                      <a:r>
                        <a:rPr lang="en-US" sz="1100" b="1">
                          <a:solidFill>
                            <a:srgbClr val="FFFFFF"/>
                          </a:solidFill>
                          <a:latin typeface="Calibri" pitchFamily="34" charset="0"/>
                          <a:ea typeface="Calibri" pitchFamily="34" charset="-122"/>
                          <a:cs typeface="Calibri" pitchFamily="34" charset="-120"/>
                        </a:rPr>
                        <a:t>Country</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Production (M t)</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SC Waste (M t)</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extLst>
                  <a:ext uri="{0D108BD9-81ED-4DB2-BD59-A6C34878D82A}">
                    <a16:rowId xmlns:a16="http://schemas.microsoft.com/office/drawing/2014/main" val="10000"/>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United States</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345.96</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15.80</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China</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260.78</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11.94</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extLst>
                  <a:ext uri="{0D108BD9-81ED-4DB2-BD59-A6C34878D82A}">
                    <a16:rowId xmlns:a16="http://schemas.microsoft.com/office/drawing/2014/main" val="10002"/>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Brazil</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101.13</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10.26</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Argentina</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56.86</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0.83</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extLst>
                  <a:ext uri="{0D108BD9-81ED-4DB2-BD59-A6C34878D82A}">
                    <a16:rowId xmlns:a16="http://schemas.microsoft.com/office/drawing/2014/main" val="10004"/>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Ukraine</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35.88</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0.64</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India</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27.72</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1.26</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marL="0" indent="0">
              <a:buNone/>
            </a:pPr>
            <a:r>
              <a:rPr lang="en-US" sz="1000" b="1" kern="0" spc="400">
                <a:solidFill>
                  <a:srgbClr val="B85042"/>
                </a:solidFill>
                <a:latin typeface="Calibri" pitchFamily="34" charset="0"/>
                <a:ea typeface="Calibri" pitchFamily="34" charset="-122"/>
                <a:cs typeface="Calibri" pitchFamily="34" charset="-120"/>
              </a:rPr>
              <a:t>STEP 3 — ANALYZE</a:t>
            </a:r>
            <a:endParaRPr lang="en-US" sz="1000"/>
          </a:p>
        </p:txBody>
      </p:sp>
      <p:sp>
        <p:nvSpPr>
          <p:cNvPr id="3" name="Text 1"/>
          <p:cNvSpPr/>
          <p:nvPr/>
        </p:nvSpPr>
        <p:spPr>
          <a:xfrm>
            <a:off x="457200" y="502920"/>
            <a:ext cx="8229600" cy="502920"/>
          </a:xfrm>
          <a:prstGeom prst="rect">
            <a:avLst/>
          </a:prstGeom>
          <a:noFill/>
          <a:ln/>
        </p:spPr>
        <p:txBody>
          <a:bodyPr wrap="square" lIns="0" tIns="0" rIns="0" bIns="0" rtlCol="0" anchor="ctr"/>
          <a:lstStyle/>
          <a:p>
            <a:pPr marL="0" indent="0">
              <a:buNone/>
            </a:pPr>
            <a:r>
              <a:rPr lang="en-US" sz="2000" b="1">
                <a:solidFill>
                  <a:srgbClr val="2B2B2B"/>
                </a:solidFill>
                <a:latin typeface="Georgia" pitchFamily="34" charset="0"/>
                <a:ea typeface="Georgia" pitchFamily="34" charset="-122"/>
                <a:cs typeface="Georgia" pitchFamily="34" charset="-120"/>
              </a:rPr>
              <a:t>Variable 3 of 7 — Domestic Supply (t) vs. Supply Chain Waste</a:t>
            </a:r>
            <a:endParaRPr lang="en-US" sz="2000"/>
          </a:p>
        </p:txBody>
      </p:sp>
      <p:sp>
        <p:nvSpPr>
          <p:cNvPr id="4" name="Shape 2"/>
          <p:cNvSpPr/>
          <p:nvPr/>
        </p:nvSpPr>
        <p:spPr>
          <a:xfrm>
            <a:off x="457200" y="1051560"/>
            <a:ext cx="457200" cy="36576"/>
          </a:xfrm>
          <a:prstGeom prst="rect">
            <a:avLst/>
          </a:prstGeom>
          <a:solidFill>
            <a:srgbClr val="B85042"/>
          </a:solidFill>
          <a:ln w="12700">
            <a:solidFill>
              <a:srgbClr val="B85042"/>
            </a:solidFill>
            <a:prstDash val="solid"/>
          </a:ln>
        </p:spPr>
        <p:txBody>
          <a:bodyPr/>
          <a:lstStyle/>
          <a:p>
            <a:endParaRPr lang="en-US"/>
          </a:p>
        </p:txBody>
      </p:sp>
      <p:sp>
        <p:nvSpPr>
          <p:cNvPr id="5" name="Text 3"/>
          <p:cNvSpPr/>
          <p:nvPr/>
        </p:nvSpPr>
        <p:spPr>
          <a:xfrm>
            <a:off x="457200" y="1188720"/>
            <a:ext cx="8229600" cy="365760"/>
          </a:xfrm>
          <a:prstGeom prst="rect">
            <a:avLst/>
          </a:prstGeom>
          <a:noFill/>
          <a:ln/>
        </p:spPr>
        <p:txBody>
          <a:bodyPr wrap="square" lIns="0" tIns="0" rIns="0" bIns="0" rtlCol="0" anchor="ctr"/>
          <a:lstStyle/>
          <a:p>
            <a:pPr marL="0" indent="0">
              <a:buNone/>
            </a:pPr>
            <a:r>
              <a:rPr lang="en-US" sz="1200" i="1">
                <a:solidFill>
                  <a:srgbClr val="6B6B6B"/>
                </a:solidFill>
                <a:latin typeface="Calibri" pitchFamily="34" charset="0"/>
                <a:ea typeface="Calibri" pitchFamily="34" charset="-122"/>
                <a:cs typeface="Calibri" pitchFamily="34" charset="-120"/>
              </a:rPr>
              <a:t>Pivot 3 of 7 — Variable: Domestic Supply (t) | Mean: 9,246,385 | Median: 1,577,500 | Std Dev: 37,920,265 | Min: 22,000 | Max: 314,098,000 | Skewness: 7.08 (n=122)</a:t>
            </a:r>
            <a:endParaRPr lang="en-US" sz="1200"/>
          </a:p>
        </p:txBody>
      </p:sp>
      <p:graphicFrame>
        <p:nvGraphicFramePr>
          <p:cNvPr id="12" name="Table 0"/>
          <p:cNvGraphicFramePr>
            <a:graphicFrameLocks noGrp="1"/>
          </p:cNvGraphicFramePr>
          <p:nvPr/>
        </p:nvGraphicFramePr>
        <p:xfrm>
          <a:off x="457200" y="1645920"/>
          <a:ext cx="8229600" cy="224028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20040">
                <a:tc>
                  <a:txBody>
                    <a:bodyPr/>
                    <a:lstStyle/>
                    <a:p>
                      <a:pPr marL="0" indent="0" algn="l">
                        <a:buNone/>
                      </a:pPr>
                      <a:r>
                        <a:rPr lang="en-US" sz="1100" b="1">
                          <a:solidFill>
                            <a:srgbClr val="FFFFFF"/>
                          </a:solidFill>
                          <a:latin typeface="Calibri" pitchFamily="34" charset="0"/>
                          <a:ea typeface="Calibri" pitchFamily="34" charset="-122"/>
                          <a:cs typeface="Calibri" pitchFamily="34" charset="-120"/>
                        </a:rPr>
                        <a:t>Country</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Dom. Supply (M t)</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SC Waste (M t)</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Loss Rate</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extLst>
                  <a:ext uri="{0D108BD9-81ED-4DB2-BD59-A6C34878D82A}">
                    <a16:rowId xmlns:a16="http://schemas.microsoft.com/office/drawing/2014/main" val="10000"/>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United States</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314.10</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15.80</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5.03%</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China</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274.07</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11.94</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4.35%</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extLst>
                  <a:ext uri="{0D108BD9-81ED-4DB2-BD59-A6C34878D82A}">
                    <a16:rowId xmlns:a16="http://schemas.microsoft.com/office/drawing/2014/main" val="10002"/>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Brazil</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63.64</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10.26</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16.12%</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Mexico</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42.45</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5.01</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11.81%</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extLst>
                  <a:ext uri="{0D108BD9-81ED-4DB2-BD59-A6C34878D82A}">
                    <a16:rowId xmlns:a16="http://schemas.microsoft.com/office/drawing/2014/main" val="10004"/>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Indonesia</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31.04</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1.40</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4.51%</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India</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23.06</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1.26</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5.47%</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marL="0" indent="0">
              <a:buNone/>
            </a:pPr>
            <a:r>
              <a:rPr lang="en-US" sz="1000" b="1" kern="0" spc="400">
                <a:solidFill>
                  <a:srgbClr val="B85042"/>
                </a:solidFill>
                <a:latin typeface="Calibri" pitchFamily="34" charset="0"/>
                <a:ea typeface="Calibri" pitchFamily="34" charset="-122"/>
                <a:cs typeface="Calibri" pitchFamily="34" charset="-120"/>
              </a:rPr>
              <a:t>STEP 3 — ANALYZE</a:t>
            </a:r>
            <a:endParaRPr lang="en-US" sz="1000"/>
          </a:p>
        </p:txBody>
      </p:sp>
      <p:sp>
        <p:nvSpPr>
          <p:cNvPr id="3" name="Text 1"/>
          <p:cNvSpPr/>
          <p:nvPr/>
        </p:nvSpPr>
        <p:spPr>
          <a:xfrm>
            <a:off x="457200" y="502920"/>
            <a:ext cx="8229600" cy="502920"/>
          </a:xfrm>
          <a:prstGeom prst="rect">
            <a:avLst/>
          </a:prstGeom>
          <a:noFill/>
          <a:ln/>
        </p:spPr>
        <p:txBody>
          <a:bodyPr wrap="square" lIns="0" tIns="0" rIns="0" bIns="0" rtlCol="0" anchor="ctr"/>
          <a:lstStyle/>
          <a:p>
            <a:pPr marL="0" indent="0">
              <a:buNone/>
            </a:pPr>
            <a:r>
              <a:rPr lang="en-US" sz="2400" b="1">
                <a:solidFill>
                  <a:srgbClr val="2B2B2B"/>
                </a:solidFill>
                <a:latin typeface="Georgia" pitchFamily="34" charset="0"/>
                <a:ea typeface="Georgia" pitchFamily="34" charset="-122"/>
                <a:cs typeface="Georgia" pitchFamily="34" charset="-120"/>
              </a:rPr>
              <a:t>Variable 4 of 7 — Food (t) vs. Supply Chain Waste</a:t>
            </a:r>
            <a:endParaRPr lang="en-US" sz="2400"/>
          </a:p>
        </p:txBody>
      </p:sp>
      <p:sp>
        <p:nvSpPr>
          <p:cNvPr id="4" name="Shape 2"/>
          <p:cNvSpPr/>
          <p:nvPr/>
        </p:nvSpPr>
        <p:spPr>
          <a:xfrm>
            <a:off x="457200" y="1051560"/>
            <a:ext cx="457200" cy="36576"/>
          </a:xfrm>
          <a:prstGeom prst="rect">
            <a:avLst/>
          </a:prstGeom>
          <a:solidFill>
            <a:srgbClr val="B85042"/>
          </a:solidFill>
          <a:ln w="12700">
            <a:solidFill>
              <a:srgbClr val="B85042"/>
            </a:solidFill>
            <a:prstDash val="solid"/>
          </a:ln>
        </p:spPr>
        <p:txBody>
          <a:bodyPr/>
          <a:lstStyle/>
          <a:p>
            <a:endParaRPr lang="en-US"/>
          </a:p>
        </p:txBody>
      </p:sp>
      <p:sp>
        <p:nvSpPr>
          <p:cNvPr id="5" name="Text 3"/>
          <p:cNvSpPr/>
          <p:nvPr/>
        </p:nvSpPr>
        <p:spPr>
          <a:xfrm>
            <a:off x="457200" y="1188720"/>
            <a:ext cx="8229600" cy="365760"/>
          </a:xfrm>
          <a:prstGeom prst="rect">
            <a:avLst/>
          </a:prstGeom>
          <a:noFill/>
          <a:ln/>
        </p:spPr>
        <p:txBody>
          <a:bodyPr wrap="square" lIns="0" tIns="0" rIns="0" bIns="0" rtlCol="0" anchor="ctr"/>
          <a:lstStyle/>
          <a:p>
            <a:pPr marL="0" indent="0">
              <a:buNone/>
            </a:pPr>
            <a:r>
              <a:rPr lang="en-US" sz="1200" i="1">
                <a:solidFill>
                  <a:srgbClr val="6B6B6B"/>
                </a:solidFill>
                <a:latin typeface="Calibri" pitchFamily="34" charset="0"/>
                <a:ea typeface="Calibri" pitchFamily="34" charset="-122"/>
                <a:cs typeface="Calibri" pitchFamily="34" charset="-120"/>
              </a:rPr>
              <a:t>Pivot 4 of 7 — Variable: Food (t) | Mean: 1,185,279 | Median: 265,000 | Std Dev: 2,276,506 | Min: 2,000 | Max: 15,359,000 | Skewness: 3.46 (n=122)</a:t>
            </a:r>
            <a:endParaRPr lang="en-US" sz="1200"/>
          </a:p>
        </p:txBody>
      </p:sp>
      <p:graphicFrame>
        <p:nvGraphicFramePr>
          <p:cNvPr id="13" name="Table 0"/>
          <p:cNvGraphicFramePr>
            <a:graphicFrameLocks noGrp="1"/>
          </p:cNvGraphicFramePr>
          <p:nvPr/>
        </p:nvGraphicFramePr>
        <p:xfrm>
          <a:off x="457200" y="1645920"/>
          <a:ext cx="8229600" cy="2240280"/>
        </p:xfrm>
        <a:graphic>
          <a:graphicData uri="http://schemas.openxmlformats.org/drawingml/2006/table">
            <a:tbl>
              <a:tblPr/>
              <a:tblGrid>
                <a:gridCol w="32004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tblGrid>
              <a:tr h="320040">
                <a:tc>
                  <a:txBody>
                    <a:bodyPr/>
                    <a:lstStyle/>
                    <a:p>
                      <a:pPr marL="0" indent="0" algn="l">
                        <a:buNone/>
                      </a:pPr>
                      <a:r>
                        <a:rPr lang="en-US" sz="1100" b="1">
                          <a:solidFill>
                            <a:srgbClr val="FFFFFF"/>
                          </a:solidFill>
                          <a:latin typeface="Calibri" pitchFamily="34" charset="0"/>
                          <a:ea typeface="Calibri" pitchFamily="34" charset="-122"/>
                          <a:cs typeface="Calibri" pitchFamily="34" charset="-120"/>
                        </a:rPr>
                        <a:t>Country</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Food (M t)</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SC Waste (M t)</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extLst>
                  <a:ext uri="{0D108BD9-81ED-4DB2-BD59-A6C34878D82A}">
                    <a16:rowId xmlns:a16="http://schemas.microsoft.com/office/drawing/2014/main" val="10000"/>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Mexico</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15.36</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5.01</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India</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10.43</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1.26</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extLst>
                  <a:ext uri="{0D108BD9-81ED-4DB2-BD59-A6C34878D82A}">
                    <a16:rowId xmlns:a16="http://schemas.microsoft.com/office/drawing/2014/main" val="10002"/>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China</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8.90</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11.94</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Indonesia</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8.20</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1.40</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extLst>
                  <a:ext uri="{0D108BD9-81ED-4DB2-BD59-A6C34878D82A}">
                    <a16:rowId xmlns:a16="http://schemas.microsoft.com/office/drawing/2014/main" val="10004"/>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Nigeria</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6.53</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0.50</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Egypt</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5.98</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1.16</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marL="0" indent="0">
              <a:buNone/>
            </a:pPr>
            <a:r>
              <a:rPr lang="en-US" sz="1000" b="1" kern="0" spc="400">
                <a:solidFill>
                  <a:srgbClr val="B85042"/>
                </a:solidFill>
                <a:latin typeface="Calibri" pitchFamily="34" charset="0"/>
                <a:ea typeface="Calibri" pitchFamily="34" charset="-122"/>
                <a:cs typeface="Calibri" pitchFamily="34" charset="-120"/>
              </a:rPr>
              <a:t>STEP 3 — ANALYZE</a:t>
            </a:r>
            <a:endParaRPr lang="en-US" sz="1000"/>
          </a:p>
        </p:txBody>
      </p:sp>
      <p:sp>
        <p:nvSpPr>
          <p:cNvPr id="3" name="Text 1"/>
          <p:cNvSpPr/>
          <p:nvPr/>
        </p:nvSpPr>
        <p:spPr>
          <a:xfrm>
            <a:off x="457200" y="502920"/>
            <a:ext cx="8229600" cy="502920"/>
          </a:xfrm>
          <a:prstGeom prst="rect">
            <a:avLst/>
          </a:prstGeom>
          <a:noFill/>
          <a:ln/>
        </p:spPr>
        <p:txBody>
          <a:bodyPr wrap="square" lIns="0" tIns="0" rIns="0" bIns="0" rtlCol="0" anchor="ctr"/>
          <a:lstStyle/>
          <a:p>
            <a:pPr marL="0" indent="0">
              <a:buNone/>
            </a:pPr>
            <a:r>
              <a:rPr lang="en-US" sz="2400" b="1">
                <a:solidFill>
                  <a:srgbClr val="2B2B2B"/>
                </a:solidFill>
                <a:latin typeface="Georgia" pitchFamily="34" charset="0"/>
                <a:ea typeface="Georgia" pitchFamily="34" charset="-122"/>
                <a:cs typeface="Georgia" pitchFamily="34" charset="-120"/>
              </a:rPr>
              <a:t>Variable 5 of 7 — Supply Chain Waste (t) by Country</a:t>
            </a:r>
            <a:endParaRPr lang="en-US" sz="2400"/>
          </a:p>
        </p:txBody>
      </p:sp>
      <p:sp>
        <p:nvSpPr>
          <p:cNvPr id="4" name="Shape 2"/>
          <p:cNvSpPr/>
          <p:nvPr/>
        </p:nvSpPr>
        <p:spPr>
          <a:xfrm>
            <a:off x="457200" y="1051560"/>
            <a:ext cx="457200" cy="36576"/>
          </a:xfrm>
          <a:prstGeom prst="rect">
            <a:avLst/>
          </a:prstGeom>
          <a:solidFill>
            <a:srgbClr val="B85042"/>
          </a:solidFill>
          <a:ln w="12700">
            <a:solidFill>
              <a:srgbClr val="B85042"/>
            </a:solidFill>
            <a:prstDash val="solid"/>
          </a:ln>
        </p:spPr>
        <p:txBody>
          <a:bodyPr/>
          <a:lstStyle/>
          <a:p>
            <a:endParaRPr lang="en-US"/>
          </a:p>
        </p:txBody>
      </p:sp>
      <p:sp>
        <p:nvSpPr>
          <p:cNvPr id="5" name="Text 3"/>
          <p:cNvSpPr/>
          <p:nvPr/>
        </p:nvSpPr>
        <p:spPr>
          <a:xfrm>
            <a:off x="457200" y="1188720"/>
            <a:ext cx="8229600" cy="365760"/>
          </a:xfrm>
          <a:prstGeom prst="rect">
            <a:avLst/>
          </a:prstGeom>
          <a:noFill/>
          <a:ln/>
        </p:spPr>
        <p:txBody>
          <a:bodyPr wrap="square" lIns="0" tIns="0" rIns="0" bIns="0" rtlCol="0" anchor="ctr"/>
          <a:lstStyle/>
          <a:p>
            <a:pPr marL="0" indent="0">
              <a:buNone/>
            </a:pPr>
            <a:r>
              <a:rPr lang="en-US" sz="1200" i="1">
                <a:solidFill>
                  <a:srgbClr val="6B6B6B"/>
                </a:solidFill>
                <a:latin typeface="Calibri" pitchFamily="34" charset="0"/>
                <a:ea typeface="Calibri" pitchFamily="34" charset="-122"/>
                <a:cs typeface="Calibri" pitchFamily="34" charset="-120"/>
              </a:rPr>
              <a:t>Pivot 5 of 7 — Variable: Supply Chain Waste (t) | Mean: 498,295 | Median: 58,000 | Std Dev: 2,036,857 | Min: 1,000 | Max: 15,797,000 | Skewness: 5.91 (n=122)</a:t>
            </a:r>
            <a:endParaRPr lang="en-US" sz="1200"/>
          </a:p>
        </p:txBody>
      </p:sp>
      <p:graphicFrame>
        <p:nvGraphicFramePr>
          <p:cNvPr id="14" name="Table 0"/>
          <p:cNvGraphicFramePr>
            <a:graphicFrameLocks noGrp="1"/>
          </p:cNvGraphicFramePr>
          <p:nvPr/>
        </p:nvGraphicFramePr>
        <p:xfrm>
          <a:off x="457200" y="1645920"/>
          <a:ext cx="8229600" cy="2240280"/>
        </p:xfrm>
        <a:graphic>
          <a:graphicData uri="http://schemas.openxmlformats.org/drawingml/2006/table">
            <a:tbl>
              <a:tblPr/>
              <a:tblGrid>
                <a:gridCol w="21031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20040">
                <a:tc>
                  <a:txBody>
                    <a:bodyPr/>
                    <a:lstStyle/>
                    <a:p>
                      <a:pPr marL="0" indent="0" algn="l">
                        <a:buNone/>
                      </a:pPr>
                      <a:r>
                        <a:rPr lang="en-US" sz="1100" b="1">
                          <a:solidFill>
                            <a:srgbClr val="FFFFFF"/>
                          </a:solidFill>
                          <a:latin typeface="Calibri" pitchFamily="34" charset="0"/>
                          <a:ea typeface="Calibri" pitchFamily="34" charset="-122"/>
                          <a:cs typeface="Calibri" pitchFamily="34" charset="-120"/>
                        </a:rPr>
                        <a:t>Country</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Production (M t)</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SC Waste (M t)</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Waste Rate</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extLst>
                  <a:ext uri="{0D108BD9-81ED-4DB2-BD59-A6C34878D82A}">
                    <a16:rowId xmlns:a16="http://schemas.microsoft.com/office/drawing/2014/main" val="10000"/>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United States</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345.96</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15.80</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4.6%</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China</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260.78</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11.94</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4.6%</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extLst>
                  <a:ext uri="{0D108BD9-81ED-4DB2-BD59-A6C34878D82A}">
                    <a16:rowId xmlns:a16="http://schemas.microsoft.com/office/drawing/2014/main" val="10002"/>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Brazil</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101.13</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10.26</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10.1%</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Mexico</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27.23</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5.01</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18.4%</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extLst>
                  <a:ext uri="{0D108BD9-81ED-4DB2-BD59-A6C34878D82A}">
                    <a16:rowId xmlns:a16="http://schemas.microsoft.com/office/drawing/2014/main" val="10004"/>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Indonesia</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22.59</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1.40</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6.2%</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India</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27.72</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1.26</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4.6%</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marL="0" indent="0">
              <a:buNone/>
            </a:pPr>
            <a:r>
              <a:rPr lang="en-US" sz="1000" b="1" kern="0" spc="400">
                <a:solidFill>
                  <a:srgbClr val="B85042"/>
                </a:solidFill>
                <a:latin typeface="Calibri" pitchFamily="34" charset="0"/>
                <a:ea typeface="Calibri" pitchFamily="34" charset="-122"/>
                <a:cs typeface="Calibri" pitchFamily="34" charset="-120"/>
              </a:rPr>
              <a:t>STEP 3 — ANALYZE</a:t>
            </a:r>
            <a:endParaRPr lang="en-US" sz="1000"/>
          </a:p>
        </p:txBody>
      </p:sp>
      <p:sp>
        <p:nvSpPr>
          <p:cNvPr id="3" name="Text 1"/>
          <p:cNvSpPr/>
          <p:nvPr/>
        </p:nvSpPr>
        <p:spPr>
          <a:xfrm>
            <a:off x="457200" y="502920"/>
            <a:ext cx="8229600" cy="502920"/>
          </a:xfrm>
          <a:prstGeom prst="rect">
            <a:avLst/>
          </a:prstGeom>
          <a:noFill/>
          <a:ln/>
        </p:spPr>
        <p:txBody>
          <a:bodyPr wrap="square" lIns="0" tIns="0" rIns="0" bIns="0" rtlCol="0" anchor="ctr"/>
          <a:lstStyle/>
          <a:p>
            <a:pPr marL="0" indent="0">
              <a:buNone/>
            </a:pPr>
            <a:r>
              <a:rPr lang="en-US" sz="2400" b="1">
                <a:solidFill>
                  <a:srgbClr val="2B2B2B"/>
                </a:solidFill>
                <a:latin typeface="Georgia" pitchFamily="34" charset="0"/>
                <a:ea typeface="Georgia" pitchFamily="34" charset="-122"/>
                <a:cs typeface="Georgia" pitchFamily="34" charset="-120"/>
              </a:rPr>
              <a:t>Variable 6 of 7 — Waste per Capita (t) vs. Population</a:t>
            </a:r>
            <a:endParaRPr lang="en-US" sz="2400"/>
          </a:p>
        </p:txBody>
      </p:sp>
      <p:sp>
        <p:nvSpPr>
          <p:cNvPr id="4" name="Shape 2"/>
          <p:cNvSpPr/>
          <p:nvPr/>
        </p:nvSpPr>
        <p:spPr>
          <a:xfrm>
            <a:off x="457200" y="1051560"/>
            <a:ext cx="457200" cy="36576"/>
          </a:xfrm>
          <a:prstGeom prst="rect">
            <a:avLst/>
          </a:prstGeom>
          <a:solidFill>
            <a:srgbClr val="B85042"/>
          </a:solidFill>
          <a:ln w="12700">
            <a:solidFill>
              <a:srgbClr val="B85042"/>
            </a:solidFill>
            <a:prstDash val="solid"/>
          </a:ln>
        </p:spPr>
        <p:txBody>
          <a:bodyPr/>
          <a:lstStyle/>
          <a:p>
            <a:endParaRPr lang="en-US"/>
          </a:p>
        </p:txBody>
      </p:sp>
      <p:sp>
        <p:nvSpPr>
          <p:cNvPr id="5" name="Text 3"/>
          <p:cNvSpPr/>
          <p:nvPr/>
        </p:nvSpPr>
        <p:spPr>
          <a:xfrm>
            <a:off x="457200" y="1188720"/>
            <a:ext cx="8229600" cy="365760"/>
          </a:xfrm>
          <a:prstGeom prst="rect">
            <a:avLst/>
          </a:prstGeom>
          <a:noFill/>
          <a:ln/>
        </p:spPr>
        <p:txBody>
          <a:bodyPr wrap="square" lIns="0" tIns="0" rIns="0" bIns="0" rtlCol="0" anchor="ctr"/>
          <a:lstStyle/>
          <a:p>
            <a:pPr marL="0" indent="0">
              <a:buNone/>
            </a:pPr>
            <a:r>
              <a:rPr lang="en-US" sz="1200" i="1">
                <a:solidFill>
                  <a:srgbClr val="6B6B6B"/>
                </a:solidFill>
                <a:latin typeface="Calibri" pitchFamily="34" charset="0"/>
                <a:ea typeface="Calibri" pitchFamily="34" charset="-122"/>
                <a:cs typeface="Calibri" pitchFamily="34" charset="-120"/>
              </a:rPr>
              <a:t>Pivot 6 of 7 — Variable: Waste per Capita (t) | Mean: 0.00678 | Median: 0.00290 | Std Dev: 0.01018 | Min: 0.00003 | Max: 0.05244 | Skewness: 2.63 (n=122)</a:t>
            </a:r>
            <a:endParaRPr lang="en-US" sz="1200"/>
          </a:p>
        </p:txBody>
      </p:sp>
      <p:graphicFrame>
        <p:nvGraphicFramePr>
          <p:cNvPr id="15" name="Table 0"/>
          <p:cNvGraphicFramePr>
            <a:graphicFrameLocks noGrp="1"/>
          </p:cNvGraphicFramePr>
          <p:nvPr/>
        </p:nvGraphicFramePr>
        <p:xfrm>
          <a:off x="457200" y="1645920"/>
          <a:ext cx="8229600" cy="2240280"/>
        </p:xfrm>
        <a:graphic>
          <a:graphicData uri="http://schemas.openxmlformats.org/drawingml/2006/table">
            <a:tbl>
              <a:tblPr/>
              <a:tblGrid>
                <a:gridCol w="21031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320040">
                <a:tc>
                  <a:txBody>
                    <a:bodyPr/>
                    <a:lstStyle/>
                    <a:p>
                      <a:pPr marL="0" indent="0" algn="l">
                        <a:buNone/>
                      </a:pPr>
                      <a:r>
                        <a:rPr lang="en-US" sz="1100" b="1">
                          <a:solidFill>
                            <a:srgbClr val="FFFFFF"/>
                          </a:solidFill>
                          <a:latin typeface="Calibri" pitchFamily="34" charset="0"/>
                          <a:ea typeface="Calibri" pitchFamily="34" charset="-122"/>
                          <a:cs typeface="Calibri" pitchFamily="34" charset="-120"/>
                        </a:rPr>
                        <a:t>Country</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Population</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SC Waste (M t)</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Waste/Cap (t)</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extLst>
                  <a:ext uri="{0D108BD9-81ED-4DB2-BD59-A6C34878D82A}">
                    <a16:rowId xmlns:a16="http://schemas.microsoft.com/office/drawing/2014/main" val="10000"/>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Slovenia</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2,078,654</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0.11</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0.05244</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Brazil</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211,049,520</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10.26</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0.04861</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extLst>
                  <a:ext uri="{0D108BD9-81ED-4DB2-BD59-A6C34878D82A}">
                    <a16:rowId xmlns:a16="http://schemas.microsoft.com/office/drawing/2014/main" val="10002"/>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United States</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329,064,900</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15.80</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0.04801</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Mexico</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127,575,530</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5.01</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0.03929</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extLst>
                  <a:ext uri="{0D108BD9-81ED-4DB2-BD59-A6C34878D82A}">
                    <a16:rowId xmlns:a16="http://schemas.microsoft.com/office/drawing/2014/main" val="10004"/>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Paraguay</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7,044,639</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0.25</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0.03606</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Malawi</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18,628,748</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0.60</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0.03194</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marL="0" indent="0">
              <a:buNone/>
            </a:pPr>
            <a:r>
              <a:rPr lang="en-US" sz="1000" b="1" kern="0" spc="400">
                <a:solidFill>
                  <a:srgbClr val="B85042"/>
                </a:solidFill>
                <a:latin typeface="Calibri" pitchFamily="34" charset="0"/>
                <a:ea typeface="Calibri" pitchFamily="34" charset="-122"/>
                <a:cs typeface="Calibri" pitchFamily="34" charset="-120"/>
              </a:rPr>
              <a:t>STEP 3 — ANALYZE</a:t>
            </a:r>
            <a:endParaRPr lang="en-US" sz="1000"/>
          </a:p>
        </p:txBody>
      </p:sp>
      <p:sp>
        <p:nvSpPr>
          <p:cNvPr id="3" name="Text 1"/>
          <p:cNvSpPr/>
          <p:nvPr/>
        </p:nvSpPr>
        <p:spPr>
          <a:xfrm>
            <a:off x="457200" y="502920"/>
            <a:ext cx="8229600" cy="502920"/>
          </a:xfrm>
          <a:prstGeom prst="rect">
            <a:avLst/>
          </a:prstGeom>
          <a:noFill/>
          <a:ln/>
        </p:spPr>
        <p:txBody>
          <a:bodyPr wrap="square" lIns="0" tIns="0" rIns="0" bIns="0" rtlCol="0" anchor="ctr"/>
          <a:lstStyle/>
          <a:p>
            <a:pPr marL="0" indent="0">
              <a:buNone/>
            </a:pPr>
            <a:r>
              <a:rPr lang="en-US" b="1">
                <a:solidFill>
                  <a:srgbClr val="2B2B2B"/>
                </a:solidFill>
                <a:latin typeface="Georgia" pitchFamily="34" charset="0"/>
                <a:ea typeface="Georgia" pitchFamily="34" charset="-122"/>
                <a:cs typeface="Georgia" pitchFamily="34" charset="-120"/>
              </a:rPr>
              <a:t>Variable 7 of 7 — Food Supply per Capita (kg/yr) vs. Waste per Capita</a:t>
            </a:r>
            <a:endParaRPr lang="en-US"/>
          </a:p>
        </p:txBody>
      </p:sp>
      <p:sp>
        <p:nvSpPr>
          <p:cNvPr id="4" name="Shape 2"/>
          <p:cNvSpPr/>
          <p:nvPr/>
        </p:nvSpPr>
        <p:spPr>
          <a:xfrm>
            <a:off x="457200" y="1051560"/>
            <a:ext cx="457200" cy="36576"/>
          </a:xfrm>
          <a:prstGeom prst="rect">
            <a:avLst/>
          </a:prstGeom>
          <a:solidFill>
            <a:srgbClr val="B85042"/>
          </a:solidFill>
          <a:ln w="12700">
            <a:solidFill>
              <a:srgbClr val="B85042"/>
            </a:solidFill>
            <a:prstDash val="solid"/>
          </a:ln>
        </p:spPr>
        <p:txBody>
          <a:bodyPr/>
          <a:lstStyle/>
          <a:p>
            <a:endParaRPr lang="en-US"/>
          </a:p>
        </p:txBody>
      </p:sp>
      <p:sp>
        <p:nvSpPr>
          <p:cNvPr id="5" name="Text 3"/>
          <p:cNvSpPr/>
          <p:nvPr/>
        </p:nvSpPr>
        <p:spPr>
          <a:xfrm>
            <a:off x="457200" y="1188720"/>
            <a:ext cx="8229600" cy="365760"/>
          </a:xfrm>
          <a:prstGeom prst="rect">
            <a:avLst/>
          </a:prstGeom>
          <a:noFill/>
          <a:ln/>
        </p:spPr>
        <p:txBody>
          <a:bodyPr wrap="square" lIns="0" tIns="0" rIns="0" bIns="0" rtlCol="0" anchor="ctr"/>
          <a:lstStyle/>
          <a:p>
            <a:pPr marL="0" indent="0">
              <a:buNone/>
            </a:pPr>
            <a:r>
              <a:rPr lang="en-US" sz="1200" i="1">
                <a:solidFill>
                  <a:srgbClr val="6B6B6B"/>
                </a:solidFill>
                <a:latin typeface="Calibri" pitchFamily="34" charset="0"/>
                <a:ea typeface="Calibri" pitchFamily="34" charset="-122"/>
                <a:cs typeface="Calibri" pitchFamily="34" charset="-120"/>
              </a:rPr>
              <a:t>Pivot 7 of 7 — Variable: Food Supply per Capita (kg/yr) | Mean: 28.74 | Median: 19.26 | Std Dev: 29.69 | Min: 0.45 | Max: 131.37 | Skewness: 1.55 (n=122)</a:t>
            </a:r>
            <a:endParaRPr lang="en-US" sz="1200"/>
          </a:p>
        </p:txBody>
      </p:sp>
      <p:graphicFrame>
        <p:nvGraphicFramePr>
          <p:cNvPr id="16" name="Table 0"/>
          <p:cNvGraphicFramePr>
            <a:graphicFrameLocks noGrp="1"/>
          </p:cNvGraphicFramePr>
          <p:nvPr/>
        </p:nvGraphicFramePr>
        <p:xfrm>
          <a:off x="457200" y="1645920"/>
          <a:ext cx="8229600" cy="2240280"/>
        </p:xfrm>
        <a:graphic>
          <a:graphicData uri="http://schemas.openxmlformats.org/drawingml/2006/table">
            <a:tbl>
              <a:tblPr/>
              <a:tblGrid>
                <a:gridCol w="32004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tblGrid>
              <a:tr h="320040">
                <a:tc>
                  <a:txBody>
                    <a:bodyPr/>
                    <a:lstStyle/>
                    <a:p>
                      <a:pPr marL="0" indent="0" algn="l">
                        <a:buNone/>
                      </a:pPr>
                      <a:r>
                        <a:rPr lang="en-US" sz="1100" b="1">
                          <a:solidFill>
                            <a:srgbClr val="FFFFFF"/>
                          </a:solidFill>
                          <a:latin typeface="Calibri" pitchFamily="34" charset="0"/>
                          <a:ea typeface="Calibri" pitchFamily="34" charset="-122"/>
                          <a:cs typeface="Calibri" pitchFamily="34" charset="-120"/>
                        </a:rPr>
                        <a:t>Country</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Food Supply (kg/cap/yr)</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Waste/Cap (t)</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extLst>
                  <a:ext uri="{0D108BD9-81ED-4DB2-BD59-A6C34878D82A}">
                    <a16:rowId xmlns:a16="http://schemas.microsoft.com/office/drawing/2014/main" val="10000"/>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Malawi</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131.37</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0.03194</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Zambia</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129.46</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0.00336</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extLst>
                  <a:ext uri="{0D108BD9-81ED-4DB2-BD59-A6C34878D82A}">
                    <a16:rowId xmlns:a16="http://schemas.microsoft.com/office/drawing/2014/main" val="10002"/>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Lesotho</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124.45</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0.00047</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Mexico</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120.39</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0.03929</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extLst>
                  <a:ext uri="{0D108BD9-81ED-4DB2-BD59-A6C34878D82A}">
                    <a16:rowId xmlns:a16="http://schemas.microsoft.com/office/drawing/2014/main" val="10004"/>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South Africa</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95.94</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0.00876</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0040">
                <a:tc>
                  <a:txBody>
                    <a:bodyPr/>
                    <a:lstStyle/>
                    <a:p>
                      <a:pPr marL="0" indent="0" algn="l">
                        <a:buNone/>
                      </a:pPr>
                      <a:r>
                        <a:rPr lang="en-US" sz="1100" b="1">
                          <a:solidFill>
                            <a:srgbClr val="2B2B2B"/>
                          </a:solidFill>
                          <a:latin typeface="Calibri" pitchFamily="34" charset="0"/>
                          <a:ea typeface="Calibri" pitchFamily="34" charset="-122"/>
                          <a:cs typeface="Calibri" pitchFamily="34" charset="-120"/>
                        </a:rPr>
                        <a:t>Guatemala</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89.94</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marL="0" indent="0" algn="ctr">
                        <a:buNone/>
                      </a:pPr>
                      <a:r>
                        <a:rPr lang="en-US" sz="1100">
                          <a:solidFill>
                            <a:srgbClr val="2B2B2B"/>
                          </a:solidFill>
                          <a:latin typeface="Calibri" pitchFamily="34" charset="0"/>
                          <a:ea typeface="Calibri" pitchFamily="34" charset="-122"/>
                          <a:cs typeface="Calibri" pitchFamily="34" charset="-120"/>
                        </a:rPr>
                        <a:t>0.00364</a:t>
                      </a:r>
                      <a:endParaRPr lang="en-US" sz="1100">
                        <a:latin typeface="Calibri" charset="0"/>
                        <a:ea typeface="Calibri" charset="0"/>
                        <a:cs typeface="Calibri" charset="0"/>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extLst>
                  <a:ext uri="{0D108BD9-81ED-4DB2-BD59-A6C34878D82A}">
                    <a16:rowId xmlns:a16="http://schemas.microsoft.com/office/drawing/2014/main" val="10006"/>
                  </a:ext>
                </a:extLst>
              </a:tr>
            </a:tbl>
          </a:graphicData>
        </a:graphic>
      </p:graphicFrame>
      <p:sp>
        <p:nvSpPr>
          <p:cNvPr id="9" name="Text 6"/>
          <p:cNvSpPr/>
          <p:nvPr/>
        </p:nvSpPr>
        <p:spPr>
          <a:xfrm>
            <a:off x="685800" y="3977640"/>
            <a:ext cx="7863840" cy="822960"/>
          </a:xfrm>
          <a:prstGeom prst="rect">
            <a:avLst/>
          </a:prstGeom>
          <a:noFill/>
          <a:ln/>
        </p:spPr>
        <p:txBody>
          <a:bodyPr wrap="square" lIns="0" tIns="0" rIns="0" bIns="0" rtlCol="0" anchor="ctr"/>
          <a:lstStyle/>
          <a:p>
            <a:pPr marL="0" indent="0">
              <a:buNone/>
            </a:pP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marL="0" indent="0">
              <a:buNone/>
            </a:pPr>
            <a:r>
              <a:rPr lang="en-US" sz="1000" b="1" kern="0" spc="400">
                <a:solidFill>
                  <a:srgbClr val="B85042"/>
                </a:solidFill>
                <a:latin typeface="Calibri" pitchFamily="34" charset="0"/>
                <a:ea typeface="Calibri" pitchFamily="34" charset="-122"/>
                <a:cs typeface="Calibri" pitchFamily="34" charset="-120"/>
              </a:rPr>
              <a:t>LEARNINGS</a:t>
            </a:r>
            <a:endParaRPr lang="en-US" sz="1000"/>
          </a:p>
        </p:txBody>
      </p:sp>
      <p:sp>
        <p:nvSpPr>
          <p:cNvPr id="3" name="Text 1"/>
          <p:cNvSpPr/>
          <p:nvPr/>
        </p:nvSpPr>
        <p:spPr>
          <a:xfrm>
            <a:off x="457200" y="502920"/>
            <a:ext cx="8229600" cy="502920"/>
          </a:xfrm>
          <a:prstGeom prst="rect">
            <a:avLst/>
          </a:prstGeom>
          <a:noFill/>
          <a:ln/>
        </p:spPr>
        <p:txBody>
          <a:bodyPr wrap="square" lIns="0" tIns="0" rIns="0" bIns="0" rtlCol="0" anchor="ctr"/>
          <a:lstStyle/>
          <a:p>
            <a:pPr marL="0" indent="0">
              <a:buNone/>
            </a:pPr>
            <a:r>
              <a:rPr lang="en-US" sz="2800" b="1">
                <a:solidFill>
                  <a:srgbClr val="2B2B2B"/>
                </a:solidFill>
                <a:latin typeface="Georgia" pitchFamily="34" charset="0"/>
                <a:ea typeface="Georgia" pitchFamily="34" charset="-122"/>
                <a:cs typeface="Georgia" pitchFamily="34" charset="-120"/>
              </a:rPr>
              <a:t>DMAIC Process Takeaways</a:t>
            </a:r>
            <a:endParaRPr lang="en-US" sz="2800"/>
          </a:p>
        </p:txBody>
      </p:sp>
      <p:sp>
        <p:nvSpPr>
          <p:cNvPr id="4" name="Shape 2"/>
          <p:cNvSpPr/>
          <p:nvPr/>
        </p:nvSpPr>
        <p:spPr>
          <a:xfrm>
            <a:off x="457200" y="1051560"/>
            <a:ext cx="457200" cy="36576"/>
          </a:xfrm>
          <a:prstGeom prst="rect">
            <a:avLst/>
          </a:prstGeom>
          <a:solidFill>
            <a:srgbClr val="B85042"/>
          </a:solidFill>
          <a:ln w="12700">
            <a:solidFill>
              <a:srgbClr val="B85042"/>
            </a:solidFill>
            <a:prstDash val="solid"/>
          </a:ln>
        </p:spPr>
        <p:txBody>
          <a:bodyPr/>
          <a:lstStyle/>
          <a:p>
            <a:endParaRPr lang="en-US"/>
          </a:p>
        </p:txBody>
      </p:sp>
      <p:sp>
        <p:nvSpPr>
          <p:cNvPr id="5" name="Shape 3"/>
          <p:cNvSpPr/>
          <p:nvPr/>
        </p:nvSpPr>
        <p:spPr>
          <a:xfrm>
            <a:off x="457200" y="1371600"/>
            <a:ext cx="1554480" cy="777240"/>
          </a:xfrm>
          <a:prstGeom prst="rect">
            <a:avLst/>
          </a:prstGeom>
          <a:solidFill>
            <a:srgbClr val="B85042"/>
          </a:solidFill>
          <a:ln w="12700">
            <a:solidFill>
              <a:srgbClr val="B85042"/>
            </a:solidFill>
            <a:prstDash val="solid"/>
          </a:ln>
        </p:spPr>
        <p:txBody>
          <a:bodyPr/>
          <a:lstStyle/>
          <a:p>
            <a:endParaRPr lang="en-US"/>
          </a:p>
        </p:txBody>
      </p:sp>
      <p:sp>
        <p:nvSpPr>
          <p:cNvPr id="6" name="Text 4"/>
          <p:cNvSpPr/>
          <p:nvPr/>
        </p:nvSpPr>
        <p:spPr>
          <a:xfrm>
            <a:off x="457200" y="1371600"/>
            <a:ext cx="1554480" cy="777240"/>
          </a:xfrm>
          <a:prstGeom prst="rect">
            <a:avLst/>
          </a:prstGeom>
          <a:noFill/>
          <a:ln/>
        </p:spPr>
        <p:txBody>
          <a:bodyPr wrap="square" lIns="0" tIns="0" rIns="0" bIns="0" rtlCol="0" anchor="ctr"/>
          <a:lstStyle/>
          <a:p>
            <a:pPr marL="0" indent="0" algn="ctr">
              <a:buNone/>
            </a:pPr>
            <a:r>
              <a:rPr lang="en-US" sz="1400" b="1">
                <a:solidFill>
                  <a:srgbClr val="FFFFFF"/>
                </a:solidFill>
                <a:latin typeface="Georgia" pitchFamily="34" charset="0"/>
                <a:ea typeface="Georgia" pitchFamily="34" charset="-122"/>
                <a:cs typeface="Georgia" pitchFamily="34" charset="-120"/>
              </a:rPr>
              <a:t>Define</a:t>
            </a:r>
            <a:endParaRPr lang="en-US" sz="1400"/>
          </a:p>
        </p:txBody>
      </p:sp>
      <p:sp>
        <p:nvSpPr>
          <p:cNvPr id="7" name="Text 5"/>
          <p:cNvSpPr/>
          <p:nvPr/>
        </p:nvSpPr>
        <p:spPr>
          <a:xfrm>
            <a:off x="2103120" y="1417320"/>
            <a:ext cx="6583680" cy="685800"/>
          </a:xfrm>
          <a:prstGeom prst="rect">
            <a:avLst/>
          </a:prstGeom>
          <a:noFill/>
          <a:ln/>
        </p:spPr>
        <p:txBody>
          <a:bodyPr wrap="square" lIns="0" tIns="0" rIns="0" bIns="0" rtlCol="0" anchor="ctr"/>
          <a:lstStyle/>
          <a:p>
            <a:r>
              <a:rPr lang="en-US" sz="1400" b="1">
                <a:solidFill>
                  <a:srgbClr val="000000"/>
                </a:solidFill>
                <a:latin typeface="Calibri"/>
                <a:ea typeface="Calibri"/>
                <a:cs typeface="Calibri"/>
              </a:rPr>
              <a:t>Clarity Drives Better Decisions</a:t>
            </a:r>
            <a:endParaRPr lang="en-US" sz="1400">
              <a:ea typeface="Calibri"/>
              <a:cs typeface="Calibri"/>
            </a:endParaRPr>
          </a:p>
          <a:p>
            <a:r>
              <a:rPr lang="en-US" sz="1200">
                <a:solidFill>
                  <a:srgbClr val="000000"/>
                </a:solidFill>
                <a:latin typeface="Calibri"/>
                <a:ea typeface="Calibri"/>
                <a:cs typeface="Calibri"/>
              </a:rPr>
              <a:t>We learned that having a clearly defined problem statement helped guide every decision, especially when narrowing the dataset and selecting relevant variables.</a:t>
            </a:r>
          </a:p>
          <a:p>
            <a:pPr marL="0" indent="0">
              <a:buNone/>
            </a:pPr>
            <a:endParaRPr lang="en-US" sz="1100">
              <a:solidFill>
                <a:srgbClr val="2B2B2B"/>
              </a:solidFill>
              <a:ea typeface="Calibri"/>
              <a:cs typeface="Calibri"/>
            </a:endParaRPr>
          </a:p>
        </p:txBody>
      </p:sp>
      <p:sp>
        <p:nvSpPr>
          <p:cNvPr id="8" name="Shape 6"/>
          <p:cNvSpPr/>
          <p:nvPr/>
        </p:nvSpPr>
        <p:spPr>
          <a:xfrm>
            <a:off x="457200" y="2240280"/>
            <a:ext cx="1554480" cy="777240"/>
          </a:xfrm>
          <a:prstGeom prst="rect">
            <a:avLst/>
          </a:prstGeom>
          <a:solidFill>
            <a:srgbClr val="B85042"/>
          </a:solidFill>
          <a:ln w="12700">
            <a:solidFill>
              <a:srgbClr val="B85042"/>
            </a:solidFill>
            <a:prstDash val="solid"/>
          </a:ln>
        </p:spPr>
        <p:txBody>
          <a:bodyPr/>
          <a:lstStyle/>
          <a:p>
            <a:endParaRPr lang="en-US"/>
          </a:p>
        </p:txBody>
      </p:sp>
      <p:sp>
        <p:nvSpPr>
          <p:cNvPr id="9" name="Text 7"/>
          <p:cNvSpPr/>
          <p:nvPr/>
        </p:nvSpPr>
        <p:spPr>
          <a:xfrm>
            <a:off x="457200" y="2240280"/>
            <a:ext cx="1554480" cy="777240"/>
          </a:xfrm>
          <a:prstGeom prst="rect">
            <a:avLst/>
          </a:prstGeom>
          <a:noFill/>
          <a:ln/>
        </p:spPr>
        <p:txBody>
          <a:bodyPr wrap="square" lIns="0" tIns="0" rIns="0" bIns="0" rtlCol="0" anchor="ctr"/>
          <a:lstStyle/>
          <a:p>
            <a:pPr marL="0" indent="0" algn="ctr">
              <a:buNone/>
            </a:pPr>
            <a:r>
              <a:rPr lang="en-US" sz="1400" b="1">
                <a:solidFill>
                  <a:srgbClr val="FFFFFF"/>
                </a:solidFill>
                <a:latin typeface="Georgia" pitchFamily="34" charset="0"/>
                <a:ea typeface="Georgia" pitchFamily="34" charset="-122"/>
                <a:cs typeface="Georgia" pitchFamily="34" charset="-120"/>
              </a:rPr>
              <a:t>Measure</a:t>
            </a:r>
            <a:endParaRPr lang="en-US" sz="1400"/>
          </a:p>
        </p:txBody>
      </p:sp>
      <p:sp>
        <p:nvSpPr>
          <p:cNvPr id="10" name="Text 8"/>
          <p:cNvSpPr/>
          <p:nvPr/>
        </p:nvSpPr>
        <p:spPr>
          <a:xfrm>
            <a:off x="2103120" y="2286000"/>
            <a:ext cx="6583680" cy="685800"/>
          </a:xfrm>
          <a:prstGeom prst="rect">
            <a:avLst/>
          </a:prstGeom>
          <a:noFill/>
          <a:ln/>
        </p:spPr>
        <p:txBody>
          <a:bodyPr wrap="square" lIns="0" tIns="0" rIns="0" bIns="0" rtlCol="0" anchor="ctr"/>
          <a:lstStyle/>
          <a:p>
            <a:r>
              <a:rPr lang="en-US" sz="1400" b="1">
                <a:solidFill>
                  <a:srgbClr val="2B2B2B"/>
                </a:solidFill>
                <a:latin typeface="Calibri"/>
                <a:ea typeface="Calibri"/>
                <a:cs typeface="Calibri"/>
              </a:rPr>
              <a:t>Data Prep Matters Most</a:t>
            </a:r>
            <a:endParaRPr lang="en-US" sz="1400" b="1">
              <a:latin typeface="Calibri"/>
              <a:ea typeface="Calibri"/>
              <a:cs typeface="Calibri"/>
            </a:endParaRPr>
          </a:p>
          <a:p>
            <a:r>
              <a:rPr lang="en-US" sz="1200">
                <a:solidFill>
                  <a:srgbClr val="000000"/>
                </a:solidFill>
                <a:latin typeface="Calibri"/>
                <a:ea typeface="Calibri"/>
                <a:cs typeface="Calibri"/>
              </a:rPr>
              <a:t>We learned that most of our effort went into the measure phase. Cleaning and validating the dataset was critical to ensuring the analysis was reliable.</a:t>
            </a:r>
            <a:endParaRPr lang="en-US" sz="1200">
              <a:ea typeface="Calibri"/>
              <a:cs typeface="Calibri"/>
            </a:endParaRPr>
          </a:p>
          <a:p>
            <a:pPr marL="0" indent="0">
              <a:buNone/>
            </a:pPr>
            <a:endParaRPr lang="en-US" sz="1100">
              <a:solidFill>
                <a:srgbClr val="2B2B2B"/>
              </a:solidFill>
              <a:ea typeface="Calibri"/>
              <a:cs typeface="Calibri"/>
            </a:endParaRPr>
          </a:p>
        </p:txBody>
      </p:sp>
      <p:sp>
        <p:nvSpPr>
          <p:cNvPr id="11" name="Shape 9"/>
          <p:cNvSpPr/>
          <p:nvPr/>
        </p:nvSpPr>
        <p:spPr>
          <a:xfrm>
            <a:off x="457200" y="3108960"/>
            <a:ext cx="1554480" cy="777240"/>
          </a:xfrm>
          <a:prstGeom prst="rect">
            <a:avLst/>
          </a:prstGeom>
          <a:solidFill>
            <a:srgbClr val="B85042"/>
          </a:solidFill>
          <a:ln w="12700">
            <a:solidFill>
              <a:srgbClr val="B85042"/>
            </a:solidFill>
            <a:prstDash val="solid"/>
          </a:ln>
        </p:spPr>
        <p:txBody>
          <a:bodyPr/>
          <a:lstStyle/>
          <a:p>
            <a:endParaRPr lang="en-US"/>
          </a:p>
        </p:txBody>
      </p:sp>
      <p:sp>
        <p:nvSpPr>
          <p:cNvPr id="12" name="Text 10"/>
          <p:cNvSpPr/>
          <p:nvPr/>
        </p:nvSpPr>
        <p:spPr>
          <a:xfrm>
            <a:off x="457200" y="3108960"/>
            <a:ext cx="1554480" cy="777240"/>
          </a:xfrm>
          <a:prstGeom prst="rect">
            <a:avLst/>
          </a:prstGeom>
          <a:noFill/>
          <a:ln/>
        </p:spPr>
        <p:txBody>
          <a:bodyPr wrap="square" lIns="0" tIns="0" rIns="0" bIns="0" rtlCol="0" anchor="ctr"/>
          <a:lstStyle/>
          <a:p>
            <a:pPr marL="0" indent="0" algn="ctr">
              <a:buNone/>
            </a:pPr>
            <a:r>
              <a:rPr lang="en-US" sz="1400" b="1">
                <a:solidFill>
                  <a:srgbClr val="FFFFFF"/>
                </a:solidFill>
                <a:latin typeface="Georgia" pitchFamily="34" charset="0"/>
                <a:ea typeface="Georgia" pitchFamily="34" charset="-122"/>
                <a:cs typeface="Georgia" pitchFamily="34" charset="-120"/>
              </a:rPr>
              <a:t>Analyze</a:t>
            </a:r>
            <a:endParaRPr lang="en-US" sz="1400"/>
          </a:p>
        </p:txBody>
      </p:sp>
      <p:sp>
        <p:nvSpPr>
          <p:cNvPr id="13" name="Text 11"/>
          <p:cNvSpPr/>
          <p:nvPr/>
        </p:nvSpPr>
        <p:spPr>
          <a:xfrm>
            <a:off x="2103120" y="3154680"/>
            <a:ext cx="6583680" cy="685800"/>
          </a:xfrm>
          <a:prstGeom prst="rect">
            <a:avLst/>
          </a:prstGeom>
          <a:noFill/>
          <a:ln/>
        </p:spPr>
        <p:txBody>
          <a:bodyPr wrap="square" lIns="0" tIns="0" rIns="0" bIns="0" rtlCol="0" anchor="ctr"/>
          <a:lstStyle/>
          <a:p>
            <a:r>
              <a:rPr lang="en-US" sz="1400" b="1">
                <a:solidFill>
                  <a:srgbClr val="2B2B2B"/>
                </a:solidFill>
                <a:latin typeface="Calibri"/>
                <a:ea typeface="Calibri"/>
                <a:cs typeface="Calibri"/>
              </a:rPr>
              <a:t>Let Data Drive Insights</a:t>
            </a:r>
            <a:endParaRPr lang="en-US" sz="1400">
              <a:ea typeface="Calibri"/>
              <a:cs typeface="Calibri"/>
            </a:endParaRPr>
          </a:p>
          <a:p>
            <a:r>
              <a:rPr lang="en-US" sz="1200">
                <a:solidFill>
                  <a:srgbClr val="000000"/>
                </a:solidFill>
                <a:latin typeface="Calibri"/>
                <a:ea typeface="Calibri"/>
                <a:cs typeface="Calibri"/>
              </a:rPr>
              <a:t>We learned the importance of relying on descriptive statistics and pivot tables when analyzing. It also helped us find real patterns rather than assumptions.</a:t>
            </a:r>
          </a:p>
          <a:p>
            <a:pPr marL="0" indent="0">
              <a:buNone/>
            </a:pPr>
            <a:endParaRPr lang="en-US" sz="1100">
              <a:solidFill>
                <a:srgbClr val="2B2B2B"/>
              </a:solidFill>
              <a:ea typeface="Calibri"/>
              <a:cs typeface="Calibri"/>
            </a:endParaRPr>
          </a:p>
        </p:txBody>
      </p:sp>
      <p:sp>
        <p:nvSpPr>
          <p:cNvPr id="14" name="Shape 12"/>
          <p:cNvSpPr/>
          <p:nvPr/>
        </p:nvSpPr>
        <p:spPr>
          <a:xfrm>
            <a:off x="457200" y="3977640"/>
            <a:ext cx="1554480" cy="777240"/>
          </a:xfrm>
          <a:prstGeom prst="rect">
            <a:avLst/>
          </a:prstGeom>
          <a:solidFill>
            <a:srgbClr val="B85042"/>
          </a:solidFill>
          <a:ln w="12700">
            <a:solidFill>
              <a:srgbClr val="B85042"/>
            </a:solidFill>
            <a:prstDash val="solid"/>
          </a:ln>
        </p:spPr>
        <p:txBody>
          <a:bodyPr/>
          <a:lstStyle/>
          <a:p>
            <a:endParaRPr lang="en-US"/>
          </a:p>
        </p:txBody>
      </p:sp>
      <p:sp>
        <p:nvSpPr>
          <p:cNvPr id="15" name="Text 13"/>
          <p:cNvSpPr/>
          <p:nvPr/>
        </p:nvSpPr>
        <p:spPr>
          <a:xfrm>
            <a:off x="457200" y="3977640"/>
            <a:ext cx="1554480" cy="777240"/>
          </a:xfrm>
          <a:prstGeom prst="rect">
            <a:avLst/>
          </a:prstGeom>
          <a:noFill/>
          <a:ln/>
        </p:spPr>
        <p:txBody>
          <a:bodyPr wrap="square" lIns="0" tIns="0" rIns="0" bIns="0" rtlCol="0" anchor="ctr"/>
          <a:lstStyle/>
          <a:p>
            <a:pPr marL="0" indent="0" algn="ctr">
              <a:buNone/>
            </a:pPr>
            <a:r>
              <a:rPr lang="en-US" sz="1400" b="1">
                <a:solidFill>
                  <a:srgbClr val="FFFFFF"/>
                </a:solidFill>
                <a:latin typeface="Georgia" pitchFamily="34" charset="0"/>
                <a:ea typeface="Georgia" pitchFamily="34" charset="-122"/>
                <a:cs typeface="Georgia" pitchFamily="34" charset="-120"/>
              </a:rPr>
              <a:t>Improve / Control</a:t>
            </a:r>
            <a:endParaRPr lang="en-US" sz="1400"/>
          </a:p>
        </p:txBody>
      </p:sp>
      <p:sp>
        <p:nvSpPr>
          <p:cNvPr id="16" name="Text 14"/>
          <p:cNvSpPr/>
          <p:nvPr/>
        </p:nvSpPr>
        <p:spPr>
          <a:xfrm>
            <a:off x="2103120" y="4023360"/>
            <a:ext cx="6583680" cy="685800"/>
          </a:xfrm>
          <a:prstGeom prst="rect">
            <a:avLst/>
          </a:prstGeom>
          <a:noFill/>
          <a:ln/>
        </p:spPr>
        <p:txBody>
          <a:bodyPr wrap="square" lIns="0" tIns="0" rIns="0" bIns="0" rtlCol="0" anchor="ctr"/>
          <a:lstStyle/>
          <a:p>
            <a:r>
              <a:rPr lang="en-US" sz="1400" b="1">
                <a:solidFill>
                  <a:srgbClr val="2B2B2B"/>
                </a:solidFill>
                <a:latin typeface="Calibri"/>
                <a:ea typeface="Calibri"/>
                <a:cs typeface="Calibri"/>
              </a:rPr>
              <a:t>Timing is Important</a:t>
            </a:r>
            <a:endParaRPr lang="en-US" sz="1400">
              <a:ea typeface="Calibri"/>
              <a:cs typeface="Calibri"/>
            </a:endParaRPr>
          </a:p>
          <a:p>
            <a:r>
              <a:rPr lang="en-US" sz="1200">
                <a:solidFill>
                  <a:srgbClr val="000000"/>
                </a:solidFill>
                <a:latin typeface="Calibri"/>
                <a:ea typeface="Calibri"/>
                <a:cs typeface="Calibri"/>
              </a:rPr>
              <a:t>We learned not to jump to solutions before verifying our analysis. Following the DMAIC structure ensured that any future recommendations were based on true evidence.</a:t>
            </a:r>
          </a:p>
          <a:p>
            <a:pPr marL="0" indent="0">
              <a:buNone/>
            </a:pPr>
            <a:endParaRPr lang="en-US" sz="1100">
              <a:solidFill>
                <a:srgbClr val="2B2B2B"/>
              </a:solidFill>
              <a:ea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marL="0" indent="0">
              <a:buNone/>
            </a:pPr>
            <a:r>
              <a:rPr lang="en-US" sz="1000" b="1" kern="0" spc="400">
                <a:solidFill>
                  <a:srgbClr val="B85042"/>
                </a:solidFill>
                <a:latin typeface="Calibri" pitchFamily="34" charset="0"/>
                <a:ea typeface="Calibri" pitchFamily="34" charset="-122"/>
                <a:cs typeface="Calibri" pitchFamily="34" charset="-120"/>
              </a:rPr>
              <a:t>LEARNINGS</a:t>
            </a:r>
            <a:endParaRPr lang="en-US" sz="1000"/>
          </a:p>
        </p:txBody>
      </p:sp>
      <p:sp>
        <p:nvSpPr>
          <p:cNvPr id="3" name="Text 1"/>
          <p:cNvSpPr/>
          <p:nvPr/>
        </p:nvSpPr>
        <p:spPr>
          <a:xfrm>
            <a:off x="457200" y="502920"/>
            <a:ext cx="8229600" cy="502920"/>
          </a:xfrm>
          <a:prstGeom prst="rect">
            <a:avLst/>
          </a:prstGeom>
          <a:noFill/>
          <a:ln/>
        </p:spPr>
        <p:txBody>
          <a:bodyPr wrap="square" lIns="0" tIns="0" rIns="0" bIns="0" rtlCol="0" anchor="ctr"/>
          <a:lstStyle/>
          <a:p>
            <a:pPr marL="0" indent="0">
              <a:buNone/>
            </a:pPr>
            <a:r>
              <a:rPr lang="en-US" sz="2800" b="1">
                <a:solidFill>
                  <a:srgbClr val="2B2B2B"/>
                </a:solidFill>
                <a:latin typeface="Georgia" pitchFamily="34" charset="0"/>
                <a:ea typeface="Georgia" pitchFamily="34" charset="-122"/>
                <a:cs typeface="Georgia" pitchFamily="34" charset="-120"/>
              </a:rPr>
              <a:t>Connections to Course Content</a:t>
            </a:r>
            <a:endParaRPr lang="en-US" sz="2800"/>
          </a:p>
        </p:txBody>
      </p:sp>
      <p:sp>
        <p:nvSpPr>
          <p:cNvPr id="4" name="Shape 2"/>
          <p:cNvSpPr/>
          <p:nvPr/>
        </p:nvSpPr>
        <p:spPr>
          <a:xfrm>
            <a:off x="457200" y="1051560"/>
            <a:ext cx="457200" cy="36576"/>
          </a:xfrm>
          <a:prstGeom prst="rect">
            <a:avLst/>
          </a:prstGeom>
          <a:solidFill>
            <a:srgbClr val="B85042"/>
          </a:solidFill>
          <a:ln w="12700">
            <a:solidFill>
              <a:srgbClr val="B85042"/>
            </a:solidFill>
            <a:prstDash val="solid"/>
          </a:ln>
        </p:spPr>
        <p:txBody>
          <a:bodyPr/>
          <a:lstStyle/>
          <a:p>
            <a:endParaRPr lang="en-US"/>
          </a:p>
        </p:txBody>
      </p:sp>
      <p:sp>
        <p:nvSpPr>
          <p:cNvPr id="5" name="Text 3"/>
          <p:cNvSpPr/>
          <p:nvPr/>
        </p:nvSpPr>
        <p:spPr>
          <a:xfrm>
            <a:off x="457200" y="1371600"/>
            <a:ext cx="8229600" cy="777240"/>
          </a:xfrm>
          <a:prstGeom prst="rect">
            <a:avLst/>
          </a:prstGeom>
          <a:noFill/>
          <a:ln/>
        </p:spPr>
        <p:txBody>
          <a:bodyPr wrap="square" lIns="0" tIns="0" rIns="0" bIns="0" rtlCol="0" anchor="t"/>
          <a:lstStyle/>
          <a:p>
            <a:r>
              <a:rPr lang="en-US" sz="1400" b="1">
                <a:solidFill>
                  <a:srgbClr val="B85042"/>
                </a:solidFill>
                <a:latin typeface="Calibri"/>
                <a:ea typeface="Calibri"/>
                <a:cs typeface="Calibri"/>
              </a:rPr>
              <a:t>Supply Chains Solve Problems (Not Just Moving Goods)</a:t>
            </a:r>
            <a:endParaRPr lang="en-US" sz="1400">
              <a:ea typeface="Calibri"/>
              <a:cs typeface="Calibri"/>
            </a:endParaRPr>
          </a:p>
          <a:p>
            <a:r>
              <a:rPr lang="en-US" sz="1200">
                <a:solidFill>
                  <a:srgbClr val="2B2B2B"/>
                </a:solidFill>
                <a:latin typeface="Calibri"/>
                <a:ea typeface="Calibri"/>
                <a:cs typeface="Calibri"/>
              </a:rPr>
              <a:t>A key concept from class is that supply chains exist to solve problems. Our project shows that food waste is not a production issue, but a supply chain problem where inefficiencies prevent food from reaching consumers.</a:t>
            </a:r>
            <a:endParaRPr lang="en-US" sz="1200">
              <a:latin typeface="Calibri"/>
              <a:ea typeface="Calibri"/>
              <a:cs typeface="Calibri"/>
            </a:endParaRPr>
          </a:p>
          <a:p>
            <a:pPr marL="0" indent="0">
              <a:buNone/>
            </a:pPr>
            <a:endParaRPr lang="en-US" sz="1300" b="1">
              <a:solidFill>
                <a:srgbClr val="B85042"/>
              </a:solidFill>
              <a:ea typeface="Calibri"/>
              <a:cs typeface="Calibri"/>
            </a:endParaRPr>
          </a:p>
        </p:txBody>
      </p:sp>
      <p:sp>
        <p:nvSpPr>
          <p:cNvPr id="6" name="Text 4"/>
          <p:cNvSpPr/>
          <p:nvPr/>
        </p:nvSpPr>
        <p:spPr>
          <a:xfrm>
            <a:off x="457200" y="2240280"/>
            <a:ext cx="8229600" cy="777240"/>
          </a:xfrm>
          <a:prstGeom prst="rect">
            <a:avLst/>
          </a:prstGeom>
          <a:noFill/>
          <a:ln/>
        </p:spPr>
        <p:txBody>
          <a:bodyPr wrap="square" lIns="0" tIns="0" rIns="0" bIns="0" rtlCol="0" anchor="t"/>
          <a:lstStyle/>
          <a:p>
            <a:r>
              <a:rPr lang="en-US" sz="1400" b="1">
                <a:solidFill>
                  <a:srgbClr val="B85042"/>
                </a:solidFill>
                <a:latin typeface="Calibri"/>
                <a:ea typeface="Calibri"/>
                <a:cs typeface="Calibri"/>
              </a:rPr>
              <a:t>End-to-End System Thinking</a:t>
            </a:r>
            <a:endParaRPr lang="en-US" sz="1400">
              <a:ea typeface="Calibri"/>
              <a:cs typeface="Calibri"/>
            </a:endParaRPr>
          </a:p>
          <a:p>
            <a:r>
              <a:rPr lang="en-US" sz="1200">
                <a:solidFill>
                  <a:srgbClr val="000000"/>
                </a:solidFill>
                <a:latin typeface="Calibri"/>
                <a:ea typeface="Calibri"/>
                <a:cs typeface="Calibri"/>
              </a:rPr>
              <a:t>Our analysis reflects the importance of designing supply chains as integrated systems. By examining production, domestic supply, and consumption together, we identified where breakdowns occur across the full supply chain rather than in isolated stages.</a:t>
            </a:r>
          </a:p>
          <a:p>
            <a:pPr marL="0" indent="0">
              <a:buNone/>
            </a:pPr>
            <a:endParaRPr lang="en-US" sz="1300" b="1">
              <a:solidFill>
                <a:srgbClr val="B85042"/>
              </a:solidFill>
              <a:ea typeface="Calibri"/>
              <a:cs typeface="Calibri"/>
            </a:endParaRPr>
          </a:p>
        </p:txBody>
      </p:sp>
      <p:sp>
        <p:nvSpPr>
          <p:cNvPr id="7" name="Text 5"/>
          <p:cNvSpPr/>
          <p:nvPr/>
        </p:nvSpPr>
        <p:spPr>
          <a:xfrm>
            <a:off x="457200" y="3108960"/>
            <a:ext cx="8229600" cy="777240"/>
          </a:xfrm>
          <a:prstGeom prst="rect">
            <a:avLst/>
          </a:prstGeom>
          <a:noFill/>
          <a:ln/>
        </p:spPr>
        <p:txBody>
          <a:bodyPr wrap="square" lIns="0" tIns="0" rIns="0" bIns="0" rtlCol="0" anchor="t"/>
          <a:lstStyle/>
          <a:p>
            <a:r>
              <a:rPr lang="en-US" sz="1400" b="1">
                <a:solidFill>
                  <a:srgbClr val="B85042"/>
                </a:solidFill>
                <a:latin typeface="Calibri"/>
                <a:ea typeface="Calibri"/>
                <a:cs typeface="Calibri"/>
              </a:rPr>
              <a:t>Six Pillars (Emphasis on Deliver and Sustain)</a:t>
            </a:r>
            <a:endParaRPr lang="en-US" sz="1400"/>
          </a:p>
          <a:p>
            <a:r>
              <a:rPr lang="en-US" sz="1200">
                <a:solidFill>
                  <a:srgbClr val="000000"/>
                </a:solidFill>
                <a:latin typeface="Calibri"/>
                <a:ea typeface="Calibri"/>
                <a:cs typeface="Calibri"/>
              </a:rPr>
              <a:t>This project directly connects to the Deliver and Sustain pillars. High waste levels indicate inefficiencies in logistics, distribution, and waste management, showing where the system fails before reaching the end consumer.</a:t>
            </a:r>
          </a:p>
          <a:p>
            <a:pPr marL="0" indent="0">
              <a:buNone/>
            </a:pPr>
            <a:endParaRPr lang="en-US" sz="1300" b="1">
              <a:solidFill>
                <a:srgbClr val="B85042"/>
              </a:solidFill>
              <a:ea typeface="Calibri"/>
              <a:cs typeface="Calibri"/>
            </a:endParaRPr>
          </a:p>
        </p:txBody>
      </p:sp>
      <p:sp>
        <p:nvSpPr>
          <p:cNvPr id="8" name="Text 6"/>
          <p:cNvSpPr/>
          <p:nvPr/>
        </p:nvSpPr>
        <p:spPr>
          <a:xfrm>
            <a:off x="457200" y="3977640"/>
            <a:ext cx="8229600" cy="777240"/>
          </a:xfrm>
          <a:prstGeom prst="rect">
            <a:avLst/>
          </a:prstGeom>
          <a:noFill/>
          <a:ln/>
        </p:spPr>
        <p:txBody>
          <a:bodyPr wrap="square" lIns="0" tIns="0" rIns="0" bIns="0" rtlCol="0" anchor="t"/>
          <a:lstStyle/>
          <a:p>
            <a:r>
              <a:rPr lang="en-US" sz="1400" b="1">
                <a:solidFill>
                  <a:srgbClr val="B85042"/>
                </a:solidFill>
                <a:latin typeface="Calibri"/>
                <a:ea typeface="Calibri"/>
                <a:cs typeface="Calibri"/>
              </a:rPr>
              <a:t>Data-Driven and Structured Problem Solving</a:t>
            </a:r>
            <a:endParaRPr lang="en-US" sz="1400"/>
          </a:p>
          <a:p>
            <a:pPr>
              <a:buNone/>
            </a:pPr>
            <a:r>
              <a:rPr lang="en-US" sz="1200">
                <a:solidFill>
                  <a:srgbClr val="000000"/>
                </a:solidFill>
                <a:latin typeface="Calibri"/>
                <a:ea typeface="Calibri"/>
                <a:cs typeface="Calibri"/>
              </a:rPr>
              <a:t>Supply chain management relies on accurate data and structured analysis. By cleaning the dataset and using pivot tables, we applied the same disciplined approach emphasized in class to identify meaningful patterns in global food waste.</a:t>
            </a:r>
          </a:p>
          <a:p>
            <a:pPr marL="0" indent="0">
              <a:buNone/>
            </a:pPr>
            <a:endParaRPr lang="en-US" sz="1300" b="1">
              <a:solidFill>
                <a:srgbClr val="B85042"/>
              </a:solidFill>
              <a:ea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marL="0" indent="0">
              <a:buNone/>
            </a:pPr>
            <a:r>
              <a:rPr lang="en-US" sz="1000" b="1" kern="0" spc="400">
                <a:solidFill>
                  <a:srgbClr val="B85042"/>
                </a:solidFill>
                <a:latin typeface="Calibri" pitchFamily="34" charset="0"/>
                <a:ea typeface="Calibri" pitchFamily="34" charset="-122"/>
                <a:cs typeface="Calibri" pitchFamily="34" charset="-120"/>
              </a:rPr>
              <a:t>NEXT STEPS</a:t>
            </a:r>
            <a:endParaRPr lang="en-US" sz="1000"/>
          </a:p>
        </p:txBody>
      </p:sp>
      <p:sp>
        <p:nvSpPr>
          <p:cNvPr id="3" name="Text 1"/>
          <p:cNvSpPr/>
          <p:nvPr/>
        </p:nvSpPr>
        <p:spPr>
          <a:xfrm>
            <a:off x="457200" y="502920"/>
            <a:ext cx="8229600" cy="502920"/>
          </a:xfrm>
          <a:prstGeom prst="rect">
            <a:avLst/>
          </a:prstGeom>
          <a:noFill/>
          <a:ln/>
        </p:spPr>
        <p:txBody>
          <a:bodyPr wrap="square" lIns="0" tIns="0" rIns="0" bIns="0" rtlCol="0" anchor="ctr"/>
          <a:lstStyle/>
          <a:p>
            <a:pPr marL="0" indent="0">
              <a:buNone/>
            </a:pPr>
            <a:r>
              <a:rPr lang="en-US" sz="2800" b="1">
                <a:solidFill>
                  <a:srgbClr val="2B2B2B"/>
                </a:solidFill>
                <a:latin typeface="Georgia" pitchFamily="34" charset="0"/>
                <a:ea typeface="Georgia" pitchFamily="34" charset="-122"/>
                <a:cs typeface="Georgia" pitchFamily="34" charset="-120"/>
              </a:rPr>
              <a:t>Week-by-Week Plan Through Week 9</a:t>
            </a:r>
            <a:endParaRPr lang="en-US" sz="2800"/>
          </a:p>
        </p:txBody>
      </p:sp>
      <p:sp>
        <p:nvSpPr>
          <p:cNvPr id="4" name="Shape 2"/>
          <p:cNvSpPr/>
          <p:nvPr/>
        </p:nvSpPr>
        <p:spPr>
          <a:xfrm>
            <a:off x="457200" y="1051560"/>
            <a:ext cx="457200" cy="36576"/>
          </a:xfrm>
          <a:prstGeom prst="rect">
            <a:avLst/>
          </a:prstGeom>
          <a:solidFill>
            <a:srgbClr val="B85042"/>
          </a:solidFill>
          <a:ln w="12700">
            <a:solidFill>
              <a:srgbClr val="B85042"/>
            </a:solidFill>
            <a:prstDash val="solid"/>
          </a:ln>
        </p:spPr>
        <p:txBody>
          <a:bodyPr/>
          <a:lstStyle/>
          <a:p>
            <a:endParaRPr lang="en-US"/>
          </a:p>
        </p:txBody>
      </p:sp>
      <p:graphicFrame>
        <p:nvGraphicFramePr>
          <p:cNvPr id="20" name="Table 0"/>
          <p:cNvGraphicFramePr>
            <a:graphicFrameLocks noGrp="1"/>
          </p:cNvGraphicFramePr>
          <p:nvPr>
            <p:extLst>
              <p:ext uri="{D42A27DB-BD31-4B8C-83A1-F6EECF244321}">
                <p14:modId xmlns:p14="http://schemas.microsoft.com/office/powerpoint/2010/main" val="689194660"/>
              </p:ext>
            </p:extLst>
          </p:nvPr>
        </p:nvGraphicFramePr>
        <p:xfrm>
          <a:off x="457200" y="1371600"/>
          <a:ext cx="8053784" cy="3429000"/>
        </p:xfrm>
        <a:graphic>
          <a:graphicData uri="http://schemas.openxmlformats.org/drawingml/2006/table">
            <a:tbl>
              <a:tblPr/>
              <a:tblGrid>
                <a:gridCol w="2176698">
                  <a:extLst>
                    <a:ext uri="{9D8B030D-6E8A-4147-A177-3AD203B41FA5}">
                      <a16:colId xmlns:a16="http://schemas.microsoft.com/office/drawing/2014/main" val="20000"/>
                    </a:ext>
                  </a:extLst>
                </a:gridCol>
                <a:gridCol w="5877086">
                  <a:extLst>
                    <a:ext uri="{9D8B030D-6E8A-4147-A177-3AD203B41FA5}">
                      <a16:colId xmlns:a16="http://schemas.microsoft.com/office/drawing/2014/main" val="20001"/>
                    </a:ext>
                  </a:extLst>
                </a:gridCol>
              </a:tblGrid>
              <a:tr h="685800">
                <a:tc>
                  <a:txBody>
                    <a:bodyPr/>
                    <a:lstStyle/>
                    <a:p>
                      <a:pPr marL="0" indent="0" algn="ctr">
                        <a:buNone/>
                      </a:pPr>
                      <a:r>
                        <a:rPr lang="en-US" sz="1400" b="1">
                          <a:solidFill>
                            <a:srgbClr val="FFFFFF"/>
                          </a:solidFill>
                          <a:latin typeface="Calibri"/>
                          <a:ea typeface="Calibri"/>
                          <a:cs typeface="Calibri"/>
                        </a:rPr>
                        <a:t>WEEK</a:t>
                      </a:r>
                      <a:endParaRPr lang="en-US" sz="1400">
                        <a:latin typeface="Calibri"/>
                        <a:ea typeface="Calibri"/>
                        <a:cs typeface="Calibri"/>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tc>
                  <a:txBody>
                    <a:bodyPr/>
                    <a:lstStyle/>
                    <a:p>
                      <a:pPr marL="0" lvl="0" indent="0">
                        <a:buNone/>
                      </a:pPr>
                      <a:r>
                        <a:rPr lang="en-US" sz="1400" b="1">
                          <a:solidFill>
                            <a:srgbClr val="FFFFFF"/>
                          </a:solidFill>
                          <a:latin typeface="Calibri"/>
                          <a:ea typeface="Calibri"/>
                          <a:cs typeface="Calibri"/>
                        </a:rPr>
                        <a:t>FOCUS</a:t>
                      </a:r>
                      <a:endParaRPr lang="en-US" sz="1400"/>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B85042"/>
                    </a:solidFill>
                  </a:tcPr>
                </a:tc>
                <a:extLst>
                  <a:ext uri="{0D108BD9-81ED-4DB2-BD59-A6C34878D82A}">
                    <a16:rowId xmlns:a16="http://schemas.microsoft.com/office/drawing/2014/main" val="10000"/>
                  </a:ext>
                </a:extLst>
              </a:tr>
              <a:tr h="685800">
                <a:tc>
                  <a:txBody>
                    <a:bodyPr/>
                    <a:lstStyle/>
                    <a:p>
                      <a:pPr marL="0" indent="0" algn="ctr">
                        <a:buNone/>
                      </a:pPr>
                      <a:r>
                        <a:rPr lang="en-US" sz="1400" b="1">
                          <a:solidFill>
                            <a:srgbClr val="B85042"/>
                          </a:solidFill>
                          <a:latin typeface="Calibri"/>
                          <a:ea typeface="Calibri"/>
                          <a:cs typeface="Calibri"/>
                        </a:rPr>
                        <a:t>Week 6</a:t>
                      </a:r>
                      <a:endParaRPr lang="en-US" sz="1400">
                        <a:latin typeface="Calibri"/>
                        <a:ea typeface="Calibri"/>
                        <a:cs typeface="Calibri"/>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en-US" sz="1400" b="1" i="0" u="none" strike="noStrike" noProof="0">
                          <a:solidFill>
                            <a:srgbClr val="2B2B2B"/>
                          </a:solidFill>
                          <a:latin typeface="Calibri"/>
                          <a:ea typeface="Calibri"/>
                          <a:cs typeface="Calibri"/>
                        </a:rPr>
                        <a:t>Continue analyzing data and validating relationships across pivot tables</a:t>
                      </a:r>
                      <a:endParaRPr lang="en-US" sz="1400"/>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lgn="ctr">
                        <a:buNone/>
                      </a:pPr>
                      <a:r>
                        <a:rPr lang="en-US" sz="1400" b="1">
                          <a:solidFill>
                            <a:srgbClr val="B85042"/>
                          </a:solidFill>
                          <a:latin typeface="Calibri"/>
                          <a:ea typeface="Calibri"/>
                          <a:cs typeface="Calibri"/>
                        </a:rPr>
                        <a:t>Week 7</a:t>
                      </a:r>
                      <a:endParaRPr lang="en-US" sz="1400">
                        <a:latin typeface="Calibri"/>
                        <a:ea typeface="Calibri"/>
                        <a:cs typeface="Calibri"/>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lvl="0" algn="l">
                        <a:lnSpc>
                          <a:spcPct val="100000"/>
                        </a:lnSpc>
                        <a:spcBef>
                          <a:spcPts val="0"/>
                        </a:spcBef>
                        <a:spcAft>
                          <a:spcPts val="0"/>
                        </a:spcAft>
                        <a:buNone/>
                      </a:pPr>
                      <a:r>
                        <a:rPr lang="en-US" sz="1400" b="1" i="0" u="none" strike="noStrike" noProof="0">
                          <a:solidFill>
                            <a:srgbClr val="2B2B2B"/>
                          </a:solidFill>
                          <a:latin typeface="Calibri"/>
                          <a:ea typeface="Calibri"/>
                          <a:cs typeface="Calibri"/>
                        </a:rPr>
                        <a:t>Complete analysis and find key drivers of supply chain waste</a:t>
                      </a:r>
                      <a:endParaRPr lang="en-US" sz="1400"/>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extLst>
                  <a:ext uri="{0D108BD9-81ED-4DB2-BD59-A6C34878D82A}">
                    <a16:rowId xmlns:a16="http://schemas.microsoft.com/office/drawing/2014/main" val="10002"/>
                  </a:ext>
                </a:extLst>
              </a:tr>
              <a:tr h="685800">
                <a:tc>
                  <a:txBody>
                    <a:bodyPr/>
                    <a:lstStyle/>
                    <a:p>
                      <a:pPr marL="0" indent="0" algn="ctr">
                        <a:buNone/>
                      </a:pPr>
                      <a:r>
                        <a:rPr lang="en-US" sz="1400" b="1">
                          <a:solidFill>
                            <a:srgbClr val="B85042"/>
                          </a:solidFill>
                          <a:latin typeface="Calibri"/>
                          <a:ea typeface="Calibri"/>
                          <a:cs typeface="Calibri"/>
                        </a:rPr>
                        <a:t>Week 8</a:t>
                      </a:r>
                      <a:endParaRPr lang="en-US" sz="1400">
                        <a:latin typeface="Calibri"/>
                        <a:ea typeface="Calibri"/>
                        <a:cs typeface="Calibri"/>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en-US" sz="1400" b="1" i="0" u="none" strike="noStrike" noProof="0">
                          <a:solidFill>
                            <a:srgbClr val="2B2B2B"/>
                          </a:solidFill>
                          <a:latin typeface="Calibri"/>
                          <a:ea typeface="Calibri"/>
                          <a:cs typeface="Calibri"/>
                        </a:rPr>
                        <a:t>Develop more data-driven recommendations</a:t>
                      </a:r>
                      <a:endParaRPr lang="en-US" sz="1400"/>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5800">
                <a:tc>
                  <a:txBody>
                    <a:bodyPr/>
                    <a:lstStyle/>
                    <a:p>
                      <a:pPr marL="0" indent="0" algn="ctr">
                        <a:buNone/>
                      </a:pPr>
                      <a:r>
                        <a:rPr lang="en-US" sz="1400" b="1">
                          <a:solidFill>
                            <a:srgbClr val="B85042"/>
                          </a:solidFill>
                          <a:latin typeface="Calibri"/>
                          <a:ea typeface="Calibri"/>
                          <a:cs typeface="Calibri"/>
                        </a:rPr>
                        <a:t>Week 9</a:t>
                      </a:r>
                      <a:endParaRPr lang="en-US" sz="1400">
                        <a:latin typeface="Calibri"/>
                        <a:ea typeface="Calibri"/>
                        <a:cs typeface="Calibri"/>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tc>
                  <a:txBody>
                    <a:bodyPr/>
                    <a:lstStyle/>
                    <a:p>
                      <a:pPr lvl="0" algn="l">
                        <a:lnSpc>
                          <a:spcPct val="100000"/>
                        </a:lnSpc>
                        <a:spcBef>
                          <a:spcPts val="0"/>
                        </a:spcBef>
                        <a:spcAft>
                          <a:spcPts val="0"/>
                        </a:spcAft>
                        <a:buNone/>
                      </a:pPr>
                      <a:r>
                        <a:rPr lang="en-US" sz="1400" b="1" i="0" u="none" strike="noStrike" noProof="0">
                          <a:solidFill>
                            <a:srgbClr val="2B2B2B"/>
                          </a:solidFill>
                          <a:latin typeface="Calibri"/>
                          <a:ea typeface="Calibri"/>
                          <a:cs typeface="Calibri"/>
                        </a:rPr>
                        <a:t>Finalize control plan and complete presentation</a:t>
                      </a:r>
                      <a:endParaRPr lang="en-US" sz="1400" i="0" u="none" strike="noStrike" noProof="0">
                        <a:latin typeface="Calibri"/>
                        <a:ea typeface="Calibri"/>
                        <a:cs typeface="Calibri"/>
                      </a:endParaRPr>
                    </a:p>
                  </a:txBody>
                  <a:tcPr anchor="ctr">
                    <a:lnL w="6350" cap="flat" cmpd="sng" algn="ctr">
                      <a:solidFill>
                        <a:srgbClr val="E5DFD4"/>
                      </a:solidFill>
                      <a:prstDash val="solid"/>
                      <a:round/>
                      <a:headEnd type="none" w="med" len="med"/>
                      <a:tailEnd type="none" w="med" len="med"/>
                    </a:lnL>
                    <a:lnR w="6350" cap="flat" cmpd="sng" algn="ctr">
                      <a:solidFill>
                        <a:srgbClr val="E5DFD4"/>
                      </a:solidFill>
                      <a:prstDash val="solid"/>
                      <a:round/>
                      <a:headEnd type="none" w="med" len="med"/>
                      <a:tailEnd type="none" w="med" len="med"/>
                    </a:lnR>
                    <a:lnT w="6350" cap="flat" cmpd="sng" algn="ctr">
                      <a:solidFill>
                        <a:srgbClr val="E5DFD4"/>
                      </a:solidFill>
                      <a:prstDash val="solid"/>
                      <a:round/>
                      <a:headEnd type="none" w="med" len="med"/>
                      <a:tailEnd type="none" w="med" len="med"/>
                    </a:lnT>
                    <a:lnB w="6350" cap="flat" cmpd="sng" algn="ctr">
                      <a:solidFill>
                        <a:srgbClr val="E5DFD4"/>
                      </a:solidFill>
                      <a:prstDash val="solid"/>
                      <a:round/>
                      <a:headEnd type="none" w="med" len="med"/>
                      <a:tailEnd type="none" w="med" len="med"/>
                    </a:lnB>
                    <a:solidFill>
                      <a:srgbClr val="F5F1EA"/>
                    </a:solidFill>
                  </a:tcPr>
                </a:tc>
                <a:extLst>
                  <a:ext uri="{0D108BD9-81ED-4DB2-BD59-A6C34878D82A}">
                    <a16:rowId xmlns:a16="http://schemas.microsoft.com/office/drawing/2014/main" val="10004"/>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2582</Words>
  <Application>Microsoft Macintosh PowerPoint</Application>
  <PresentationFormat>On-screen Show (16:9)</PresentationFormat>
  <Paragraphs>457</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World Food Waste — DMAIC</dc:title>
  <dc:subject>PptxGenJS Presentation</dc:subject>
  <dc:creator>PptxGenJS</dc:creator>
  <cp:lastModifiedBy>Alex Claunch</cp:lastModifiedBy>
  <cp:revision>2</cp:revision>
  <dcterms:created xsi:type="dcterms:W3CDTF">2026-04-16T21:45:01Z</dcterms:created>
  <dcterms:modified xsi:type="dcterms:W3CDTF">2026-04-28T17:22:41Z</dcterms:modified>
</cp:coreProperties>
</file>