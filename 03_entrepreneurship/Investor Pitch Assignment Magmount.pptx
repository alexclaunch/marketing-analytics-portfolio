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12"/>
  </p:notesMasterIdLst>
  <p:sldIdLst>
    <p:sldId id="256" r:id="rId2"/>
    <p:sldId id="257" r:id="rId3"/>
    <p:sldId id="258" r:id="rId4"/>
    <p:sldId id="266"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00E8DD-B045-D244-9327-D3665CC65992}" v="10" dt="2025-06-02T14:38:39.9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86408"/>
  </p:normalViewPr>
  <p:slideViewPr>
    <p:cSldViewPr snapToGrid="0" snapToObjects="1">
      <p:cViewPr varScale="1">
        <p:scale>
          <a:sx n="106" d="100"/>
          <a:sy n="106" d="100"/>
        </p:scale>
        <p:origin x="416"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Claunch" userId="d48fbc05-e3a2-4cc4-8928-a3dee7b357f5" providerId="ADAL" clId="{9100E8DD-B045-D244-9327-D3665CC65992}"/>
    <pc:docChg chg="custSel modSld">
      <pc:chgData name="Alex Claunch" userId="d48fbc05-e3a2-4cc4-8928-a3dee7b357f5" providerId="ADAL" clId="{9100E8DD-B045-D244-9327-D3665CC65992}" dt="2025-06-02T15:34:57.358" v="174" actId="20577"/>
      <pc:docMkLst>
        <pc:docMk/>
      </pc:docMkLst>
      <pc:sldChg chg="modNotesTx">
        <pc:chgData name="Alex Claunch" userId="d48fbc05-e3a2-4cc4-8928-a3dee7b357f5" providerId="ADAL" clId="{9100E8DD-B045-D244-9327-D3665CC65992}" dt="2025-06-02T04:47:38.634" v="57" actId="20577"/>
        <pc:sldMkLst>
          <pc:docMk/>
          <pc:sldMk cId="0" sldId="256"/>
        </pc:sldMkLst>
      </pc:sldChg>
      <pc:sldChg chg="modNotesTx">
        <pc:chgData name="Alex Claunch" userId="d48fbc05-e3a2-4cc4-8928-a3dee7b357f5" providerId="ADAL" clId="{9100E8DD-B045-D244-9327-D3665CC65992}" dt="2025-06-02T05:00:21.692" v="157" actId="20577"/>
        <pc:sldMkLst>
          <pc:docMk/>
          <pc:sldMk cId="0" sldId="262"/>
        </pc:sldMkLst>
      </pc:sldChg>
      <pc:sldChg chg="addSp modSp mod setBg modNotesTx">
        <pc:chgData name="Alex Claunch" userId="d48fbc05-e3a2-4cc4-8928-a3dee7b357f5" providerId="ADAL" clId="{9100E8DD-B045-D244-9327-D3665CC65992}" dt="2025-06-02T14:39:02.395" v="172" actId="20577"/>
        <pc:sldMkLst>
          <pc:docMk/>
          <pc:sldMk cId="0" sldId="263"/>
        </pc:sldMkLst>
        <pc:spChg chg="mod">
          <ac:chgData name="Alex Claunch" userId="d48fbc05-e3a2-4cc4-8928-a3dee7b357f5" providerId="ADAL" clId="{9100E8DD-B045-D244-9327-D3665CC65992}" dt="2025-06-02T00:18:20.162" v="31" actId="26606"/>
          <ac:spMkLst>
            <pc:docMk/>
            <pc:sldMk cId="0" sldId="263"/>
            <ac:spMk id="2" creationId="{00000000-0000-0000-0000-000000000000}"/>
          </ac:spMkLst>
        </pc:spChg>
        <pc:spChg chg="mod">
          <ac:chgData name="Alex Claunch" userId="d48fbc05-e3a2-4cc4-8928-a3dee7b357f5" providerId="ADAL" clId="{9100E8DD-B045-D244-9327-D3665CC65992}" dt="2025-06-02T14:23:31.359" v="161" actId="20577"/>
          <ac:spMkLst>
            <pc:docMk/>
            <pc:sldMk cId="0" sldId="263"/>
            <ac:spMk id="3" creationId="{00000000-0000-0000-0000-000000000000}"/>
          </ac:spMkLst>
        </pc:spChg>
        <pc:spChg chg="add">
          <ac:chgData name="Alex Claunch" userId="d48fbc05-e3a2-4cc4-8928-a3dee7b357f5" providerId="ADAL" clId="{9100E8DD-B045-D244-9327-D3665CC65992}" dt="2025-06-02T00:18:20.162" v="31" actId="26606"/>
          <ac:spMkLst>
            <pc:docMk/>
            <pc:sldMk cId="0" sldId="263"/>
            <ac:spMk id="10" creationId="{6515FC82-3453-4CBE-8895-4CCFF339529E}"/>
          </ac:spMkLst>
        </pc:spChg>
        <pc:spChg chg="add">
          <ac:chgData name="Alex Claunch" userId="d48fbc05-e3a2-4cc4-8928-a3dee7b357f5" providerId="ADAL" clId="{9100E8DD-B045-D244-9327-D3665CC65992}" dt="2025-06-02T00:18:20.162" v="31" actId="26606"/>
          <ac:spMkLst>
            <pc:docMk/>
            <pc:sldMk cId="0" sldId="263"/>
            <ac:spMk id="12" creationId="{C5FD847B-65C0-4027-8DFC-70CB424514F8}"/>
          </ac:spMkLst>
        </pc:spChg>
        <pc:picChg chg="add mod">
          <ac:chgData name="Alex Claunch" userId="d48fbc05-e3a2-4cc4-8928-a3dee7b357f5" providerId="ADAL" clId="{9100E8DD-B045-D244-9327-D3665CC65992}" dt="2025-06-02T00:18:20.162" v="31" actId="26606"/>
          <ac:picMkLst>
            <pc:docMk/>
            <pc:sldMk cId="0" sldId="263"/>
            <ac:picMk id="5" creationId="{97F4DC72-413A-6F0F-D9A5-703CAD0AB8E9}"/>
          </ac:picMkLst>
        </pc:picChg>
      </pc:sldChg>
      <pc:sldChg chg="modSp mod modNotesTx">
        <pc:chgData name="Alex Claunch" userId="d48fbc05-e3a2-4cc4-8928-a3dee7b357f5" providerId="ADAL" clId="{9100E8DD-B045-D244-9327-D3665CC65992}" dt="2025-06-02T04:57:01.994" v="75" actId="20577"/>
        <pc:sldMkLst>
          <pc:docMk/>
          <pc:sldMk cId="0" sldId="264"/>
        </pc:sldMkLst>
        <pc:spChg chg="mod">
          <ac:chgData name="Alex Claunch" userId="d48fbc05-e3a2-4cc4-8928-a3dee7b357f5" providerId="ADAL" clId="{9100E8DD-B045-D244-9327-D3665CC65992}" dt="2025-06-01T23:44:40.119" v="9" actId="20577"/>
          <ac:spMkLst>
            <pc:docMk/>
            <pc:sldMk cId="0" sldId="264"/>
            <ac:spMk id="3" creationId="{00000000-0000-0000-0000-000000000000}"/>
          </ac:spMkLst>
        </pc:spChg>
      </pc:sldChg>
      <pc:sldChg chg="modNotesTx">
        <pc:chgData name="Alex Claunch" userId="d48fbc05-e3a2-4cc4-8928-a3dee7b357f5" providerId="ADAL" clId="{9100E8DD-B045-D244-9327-D3665CC65992}" dt="2025-06-02T15:34:57.358" v="174" actId="20577"/>
        <pc:sldMkLst>
          <pc:docMk/>
          <pc:sldMk cId="0" sldId="265"/>
        </pc:sldMkLst>
      </pc:sldChg>
      <pc:sldChg chg="modNotesTx">
        <pc:chgData name="Alex Claunch" userId="d48fbc05-e3a2-4cc4-8928-a3dee7b357f5" providerId="ADAL" clId="{9100E8DD-B045-D244-9327-D3665CC65992}" dt="2025-06-02T04:49:21.071" v="64" actId="20577"/>
        <pc:sldMkLst>
          <pc:docMk/>
          <pc:sldMk cId="985827113"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070992-59EA-5449-8F4E-97A2148E193B}" type="datetimeFigureOut">
              <a:rPr lang="en-US" smtClean="0"/>
              <a:t>6/2/25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2CDB4A-99CE-CA4C-9C3C-25BC82DA787C}" type="slidenum">
              <a:rPr lang="en-US" smtClean="0"/>
              <a:t>‹#›</a:t>
            </a:fld>
            <a:endParaRPr lang="en-US"/>
          </a:p>
        </p:txBody>
      </p:sp>
    </p:spTree>
    <p:extLst>
      <p:ext uri="{BB962C8B-B14F-4D97-AF65-F5344CB8AC3E}">
        <p14:creationId xmlns:p14="http://schemas.microsoft.com/office/powerpoint/2010/main" val="4038436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this: </a:t>
            </a:r>
            <a:r>
              <a:rPr dirty="0"/>
              <a:t>You’ve driven up for a big ski day and just pulled your skis off the rack—but there’s nowhere safe to put them. They fall, scratch your car, or worse. That’s where MagMount comes in: an easy, secure solution to a very common ski-day headache.</a:t>
            </a:r>
          </a:p>
        </p:txBody>
      </p:sp>
      <p:sp>
        <p:nvSpPr>
          <p:cNvPr id="4" name="Slide Number Placeholder 3"/>
          <p:cNvSpPr>
            <a:spLocks noGrp="1"/>
          </p:cNvSpPr>
          <p:nvPr>
            <p:ph type="sldNum" sz="quarter" idx="5"/>
          </p:nvPr>
        </p:nvSpPr>
        <p:spPr/>
        <p:txBody>
          <a:bodyPr/>
          <a:lstStyle/>
          <a:p>
            <a:fld id="{4F2CDB4A-99CE-CA4C-9C3C-25BC82DA787C}" type="slidenum">
              <a:rPr lang="en-US" smtClean="0"/>
              <a:t>1</a:t>
            </a:fld>
            <a:endParaRPr lang="en-US"/>
          </a:p>
        </p:txBody>
      </p:sp>
    </p:spTree>
    <p:extLst>
      <p:ext uri="{BB962C8B-B14F-4D97-AF65-F5344CB8AC3E}">
        <p14:creationId xmlns:p14="http://schemas.microsoft.com/office/powerpoint/2010/main" val="4215629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the problem. Skiers don’t have a good place to rest their skis during </a:t>
            </a:r>
            <a:r>
              <a:rPr lang="en-US" dirty="0"/>
              <a:t>transitions, especially</a:t>
            </a:r>
            <a:r>
              <a:rPr dirty="0"/>
              <a:t> in icy parking lots. This leads to broken gear, scratched paint, and a frustrating start to the day. Current solutions are either way too expensive or not practical, and our survey confirmed that 45% of skiers are unhappy with this process.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Our solution is MagMount: a durable, weather-resistant, compact ski holder that magnetically attaches to your car. It’s safe for paint, quick to use, and fits in a glovebox. It’s made by skiers, for skiers—so we knew the design needed to be rugged, simple, and affordable.</a:t>
            </a:r>
          </a:p>
        </p:txBody>
      </p:sp>
      <p:sp>
        <p:nvSpPr>
          <p:cNvPr id="4" name="Slide Number Placeholder 3"/>
          <p:cNvSpPr>
            <a:spLocks noGrp="1"/>
          </p:cNvSpPr>
          <p:nvPr>
            <p:ph type="sldNum" sz="quarter" idx="5"/>
          </p:nvPr>
        </p:nvSpPr>
        <p:spPr/>
        <p:txBody>
          <a:bodyPr/>
          <a:lstStyle/>
          <a:p>
            <a:fld id="{4F2CDB4A-99CE-CA4C-9C3C-25BC82DA787C}" type="slidenum">
              <a:rPr lang="en-US" smtClean="0"/>
              <a:t>3</a:t>
            </a:fld>
            <a:endParaRPr lang="en-US"/>
          </a:p>
        </p:txBody>
      </p:sp>
    </p:spTree>
    <p:extLst>
      <p:ext uri="{BB962C8B-B14F-4D97-AF65-F5344CB8AC3E}">
        <p14:creationId xmlns:p14="http://schemas.microsoft.com/office/powerpoint/2010/main" val="1038318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We’re targeting recreational skiers, especially Gen Z and Millennials, who care about gear and convenience. These skiers are tech-savvy, socially connected, and love outdoor products that solve real problems. We’re starting with a geographic focus on Colorado and Utah</a:t>
            </a:r>
          </a:p>
          <a:p>
            <a:endParaRPr lang="en-US" dirty="0"/>
          </a:p>
        </p:txBody>
      </p:sp>
      <p:sp>
        <p:nvSpPr>
          <p:cNvPr id="4" name="Slide Number Placeholder 3"/>
          <p:cNvSpPr>
            <a:spLocks noGrp="1"/>
          </p:cNvSpPr>
          <p:nvPr>
            <p:ph type="sldNum" sz="quarter" idx="5"/>
          </p:nvPr>
        </p:nvSpPr>
        <p:spPr/>
        <p:txBody>
          <a:bodyPr/>
          <a:lstStyle/>
          <a:p>
            <a:fld id="{4F2CDB4A-99CE-CA4C-9C3C-25BC82DA787C}" type="slidenum">
              <a:rPr lang="en-US" smtClean="0"/>
              <a:t>4</a:t>
            </a:fld>
            <a:endParaRPr lang="en-US"/>
          </a:p>
        </p:txBody>
      </p:sp>
    </p:spTree>
    <p:extLst>
      <p:ext uri="{BB962C8B-B14F-4D97-AF65-F5344CB8AC3E}">
        <p14:creationId xmlns:p14="http://schemas.microsoft.com/office/powerpoint/2010/main" val="3616897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talk market size. The total global ski accessories market is worth $1.2 billion. In the U.S., we’re looking at a $180 million ski support market. Our initial obtainable market is about $2.5 million, targeting just 5% of skiers in high-traffic states like Colorado and Utah. This gives us a strong base to grow from.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validated this idea with over 30 survey responses and 20 +interviews in ski lots. 71% of respondents said they were frustrated by current gear setup processes. Our key competitor, </a:t>
            </a:r>
            <a:r>
              <a:rPr lang="en-US" dirty="0" err="1"/>
              <a:t>SnoStrip</a:t>
            </a:r>
            <a:r>
              <a:rPr lang="en-US" dirty="0"/>
              <a:t>, sells a similar idea, but it’s over $50 and hard to find. That leaves a big gap we’re ready to fill.</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marketing strategy is built around where skiers already spend time. We’ll sell online via Shopify and Amazon. Our outreach will focus on Instagram and TikTok influencers, as well as snow sports communities, such as pop-ups at ski resorts and partnerships with shops in ski towns. Loyalty programs and ambassador marketing will help us grow long-term.</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a:p>
            <a:r>
              <a:rPr lang="en-US" dirty="0"/>
              <a:t>First, MagMount is made from injection-molded ABS plastic—this material is lightweight, durable, weather-resistant, and most importantly, extremely cost-effective to manufacture at scale. This lets us keep production costs low—around $10 per unit—which supports a strong retail margin.</a:t>
            </a:r>
          </a:p>
          <a:p>
            <a:r>
              <a:rPr lang="en-US" dirty="0"/>
              <a:t>Second, the product is practical: it’s small enough to fit in your glovebox, completely weatherproof, and installs in seconds. Unlike bulky alternatives, ours is designed with the casual skier in mind—not just gearheads who obsess over equipment.</a:t>
            </a:r>
          </a:p>
          <a:p>
            <a:r>
              <a:rPr lang="en-US" dirty="0"/>
              <a:t>Lastly, the chart shows how we stack up against competitors like </a:t>
            </a:r>
            <a:r>
              <a:rPr lang="en-US" dirty="0" err="1"/>
              <a:t>SnoStrip</a:t>
            </a:r>
            <a:r>
              <a:rPr lang="en-US" dirty="0"/>
              <a:t> and </a:t>
            </a:r>
            <a:r>
              <a:rPr lang="en-US" dirty="0" err="1"/>
              <a:t>SkiClick</a:t>
            </a:r>
            <a:r>
              <a:rPr lang="en-US" dirty="0"/>
              <a:t>. While they’re priced around $55–$60 and add weight to your setup, MagMount comes in cheaper and lighter, without compromising functionality. That combination makes us stand out for everyday skiers looking for convenience and value.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b="0" i="0" kern="1200" dirty="0">
                <a:solidFill>
                  <a:schemeClr val="tx1"/>
                </a:solidFill>
                <a:effectLst/>
                <a:latin typeface="+mn-lt"/>
                <a:ea typeface="+mn-ea"/>
                <a:cs typeface="+mn-cs"/>
              </a:rPr>
              <a:t>ABS: Acrylonitrile Butadiene Styrene.</a:t>
            </a:r>
          </a:p>
          <a:p>
            <a:r>
              <a:rPr lang="en-US" sz="1200" b="0" i="0" kern="1200" dirty="0">
                <a:solidFill>
                  <a:schemeClr val="tx1"/>
                </a:solidFill>
                <a:effectLst/>
                <a:latin typeface="+mn-lt"/>
                <a:ea typeface="+mn-ea"/>
                <a:cs typeface="+mn-cs"/>
              </a:rPr>
              <a:t>It's a strong, lightweight, and heat-resistant thermoplastic polymer</a:t>
            </a:r>
          </a:p>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MagMount is built to be capital-efficient and scalable. With a production cost of about $10 and a $35 retail price, we’re operating on strong margins, which gives us room to grow and invest in quality, marketing, and customer experience. </a:t>
            </a:r>
          </a:p>
          <a:p>
            <a:endParaRPr lang="en-US" dirty="0"/>
          </a:p>
          <a:p>
            <a:r>
              <a:rPr lang="en-US" dirty="0"/>
              <a:t>Our initial startup budget is $20,000, strategically allocated: 40% to prototyping for testing and refining the design, 30% to marketing to capture early adopters, 20% toward inventory so we’re ready for launch, and 10% to legal and IP protection to secure our innovation.</a:t>
            </a:r>
          </a:p>
          <a:p>
            <a:endParaRPr lang="en-US" dirty="0"/>
          </a:p>
          <a:p>
            <a:r>
              <a:rPr lang="en-US" dirty="0"/>
              <a:t>What’s exciting is that we only need to sell 300 units to breakeven. That’s one solid ski season in Colorado or Utah. We’ve designed this with realistic, achievable milestones that set us up for sustainable scaling.”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 bring MagMount to life, we’re asking for $20,000 in seed capital. This covers the most critical pieces of our launch: prototyping, protecting our IP, marketing to build awareness, and producing our first run of inventory.</a:t>
            </a:r>
          </a:p>
          <a:p>
            <a:r>
              <a:rPr lang="en-US" dirty="0"/>
              <a:t>Based on our pricing, cost structure, and target market size, we’re forecasting a 3x return on investment in just 18 months. This isn’t just a product — it’s a smart solution to a problem millions of skiers face.</a:t>
            </a:r>
          </a:p>
          <a:p>
            <a:r>
              <a:rPr lang="en-US" dirty="0"/>
              <a:t>Our vision is simple: Let’s give every skier a smarter way to start their day. With your investment, we’re ready to hit the slopes, and the market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096393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39234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6/2/25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9074286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BCAD085-E8A6-8845-BD4E-CB4CCA059FC4}" type="datetimeFigureOut">
              <a:rPr lang="en-US" smtClean="0"/>
              <a:t>6/2/25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39265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6/2/25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49470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481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7788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5BCAD085-E8A6-8845-BD4E-CB4CCA059FC4}" type="datetimeFigureOut">
              <a:rPr lang="en-US" smtClean="0"/>
              <a:t>6/2/25</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4752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BCAD085-E8A6-8845-BD4E-CB4CCA059FC4}" type="datetimeFigureOut">
              <a:rPr lang="en-US" smtClean="0"/>
              <a:t>6/2/25</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437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761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47243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5BCAD085-E8A6-8845-BD4E-CB4CCA059FC4}" type="datetimeFigureOut">
              <a:rPr lang="en-US" smtClean="0"/>
              <a:t>6/2/25</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053231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ar with a ski and a ski rack&#10;&#10;AI-generated content may be incorrect.">
            <a:extLst>
              <a:ext uri="{FF2B5EF4-FFF2-40B4-BE49-F238E27FC236}">
                <a16:creationId xmlns:a16="http://schemas.microsoft.com/office/drawing/2014/main" id="{EBCDF493-9B39-C8ED-8BC8-4330E5DD9CE0}"/>
              </a:ext>
            </a:extLst>
          </p:cNvPr>
          <p:cNvPicPr>
            <a:picLocks noChangeAspect="1"/>
          </p:cNvPicPr>
          <p:nvPr/>
        </p:nvPicPr>
        <p:blipFill>
          <a:blip r:embed="rId3"/>
          <a:srcRect r="638"/>
          <a:stretch>
            <a:fillRect/>
          </a:stretch>
        </p:blipFill>
        <p:spPr>
          <a:xfrm>
            <a:off x="3488181" y="10"/>
            <a:ext cx="5655818" cy="6857989"/>
          </a:xfrm>
          <a:prstGeom prst="rect">
            <a:avLst/>
          </a:prstGeom>
        </p:spPr>
      </p:pic>
      <p:sp>
        <p:nvSpPr>
          <p:cNvPr id="12" name="Rectangle 11">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0" y="643467"/>
            <a:ext cx="2522980" cy="1728044"/>
          </a:xfrm>
          <a:noFill/>
          <a:ln>
            <a:solidFill>
              <a:schemeClr val="bg1"/>
            </a:solidFill>
          </a:ln>
        </p:spPr>
        <p:txBody>
          <a:bodyPr wrap="square">
            <a:normAutofit/>
          </a:bodyPr>
          <a:lstStyle/>
          <a:p>
            <a:r>
              <a:rPr lang="en-US" sz="2400" dirty="0">
                <a:solidFill>
                  <a:schemeClr val="bg1"/>
                </a:solidFill>
              </a:rPr>
              <a:t>Ski Days Shouldn’t Start with Scratches</a:t>
            </a:r>
          </a:p>
        </p:txBody>
      </p:sp>
      <p:sp>
        <p:nvSpPr>
          <p:cNvPr id="3" name="Content Placeholder 2"/>
          <p:cNvSpPr>
            <a:spLocks noGrp="1"/>
          </p:cNvSpPr>
          <p:nvPr>
            <p:ph idx="1"/>
          </p:nvPr>
        </p:nvSpPr>
        <p:spPr>
          <a:xfrm>
            <a:off x="482601" y="2638044"/>
            <a:ext cx="2522980" cy="3415622"/>
          </a:xfrm>
        </p:spPr>
        <p:txBody>
          <a:bodyPr>
            <a:normAutofit/>
          </a:bodyPr>
          <a:lstStyle/>
          <a:p>
            <a:pPr marL="0" indent="0">
              <a:buNone/>
            </a:pPr>
            <a:endParaRPr lang="en-US" dirty="0">
              <a:solidFill>
                <a:schemeClr val="bg1"/>
              </a:solidFill>
            </a:endParaRPr>
          </a:p>
          <a:p>
            <a:r>
              <a:rPr lang="en-US" dirty="0">
                <a:solidFill>
                  <a:schemeClr val="bg1"/>
                </a:solidFill>
              </a:rPr>
              <a:t>80% of skiers that drive to resorts struggle with gear transitions in icy parking lots.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Problem</a:t>
            </a:r>
          </a:p>
        </p:txBody>
      </p:sp>
      <p:sp>
        <p:nvSpPr>
          <p:cNvPr id="3" name="Content Placeholder 2"/>
          <p:cNvSpPr>
            <a:spLocks noGrp="1"/>
          </p:cNvSpPr>
          <p:nvPr>
            <p:ph idx="1"/>
          </p:nvPr>
        </p:nvSpPr>
        <p:spPr/>
        <p:txBody>
          <a:bodyPr/>
          <a:lstStyle/>
          <a:p>
            <a:r>
              <a:rPr dirty="0"/>
              <a:t> No stable place to rest skis while booting up</a:t>
            </a:r>
          </a:p>
          <a:p>
            <a:r>
              <a:rPr dirty="0"/>
              <a:t> Skis fall, scratch paint, or break</a:t>
            </a:r>
          </a:p>
          <a:p>
            <a:r>
              <a:rPr dirty="0"/>
              <a:t> Current solutions are expensive, bulky, or nonexistent</a:t>
            </a:r>
          </a:p>
          <a:p>
            <a:r>
              <a:rPr dirty="0"/>
              <a:t> 45% of surveyed skiers report frustration with gear setup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964692"/>
            <a:ext cx="4421124" cy="1188720"/>
          </a:xfrm>
        </p:spPr>
        <p:txBody>
          <a:bodyPr>
            <a:normAutofit/>
          </a:bodyPr>
          <a:lstStyle/>
          <a:p>
            <a:r>
              <a:t>The Solution – MagMount</a:t>
            </a:r>
          </a:p>
        </p:txBody>
      </p:sp>
      <p:sp>
        <p:nvSpPr>
          <p:cNvPr id="3" name="Content Placeholder 2"/>
          <p:cNvSpPr>
            <a:spLocks noGrp="1"/>
          </p:cNvSpPr>
          <p:nvPr>
            <p:ph idx="1"/>
          </p:nvPr>
        </p:nvSpPr>
        <p:spPr>
          <a:xfrm>
            <a:off x="602432" y="2638044"/>
            <a:ext cx="4472488" cy="3263206"/>
          </a:xfrm>
        </p:spPr>
        <p:txBody>
          <a:bodyPr>
            <a:normAutofit/>
          </a:bodyPr>
          <a:lstStyle/>
          <a:p>
            <a:r>
              <a:rPr dirty="0"/>
              <a:t> Compact, magnetic ski rest</a:t>
            </a:r>
          </a:p>
          <a:p>
            <a:r>
              <a:rPr dirty="0"/>
              <a:t> Non</a:t>
            </a:r>
            <a:r>
              <a:rPr lang="en-US" dirty="0"/>
              <a:t>-</a:t>
            </a:r>
            <a:r>
              <a:rPr dirty="0"/>
              <a:t>scratch rubber backing</a:t>
            </a:r>
          </a:p>
          <a:p>
            <a:r>
              <a:rPr dirty="0"/>
              <a:t> Lightweight, weatherproof, </a:t>
            </a:r>
            <a:r>
              <a:rPr lang="en-US" dirty="0"/>
              <a:t>glovebox-sized</a:t>
            </a:r>
            <a:endParaRPr dirty="0"/>
          </a:p>
          <a:p>
            <a:r>
              <a:rPr dirty="0"/>
              <a:t> Built by skiers, for skiers</a:t>
            </a:r>
          </a:p>
        </p:txBody>
      </p:sp>
      <p:sp>
        <p:nvSpPr>
          <p:cNvPr id="10" name="Rectangle 9">
            <a:extLst>
              <a:ext uri="{FF2B5EF4-FFF2-40B4-BE49-F238E27FC236}">
                <a16:creationId xmlns:a16="http://schemas.microsoft.com/office/drawing/2014/main" id="{879398A9-0D0D-4901-BDDF-B3D93CECA7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0029" y="964692"/>
            <a:ext cx="2990088"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11FEC3B-E514-4E21-B2CB-7903A7356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3473" y="1128683"/>
            <a:ext cx="2743200"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stand with white text&#10;&#10;AI-generated content may be incorrect.">
            <a:extLst>
              <a:ext uri="{FF2B5EF4-FFF2-40B4-BE49-F238E27FC236}">
                <a16:creationId xmlns:a16="http://schemas.microsoft.com/office/drawing/2014/main" id="{99A73835-B43D-6806-2669-41A836CED013}"/>
              </a:ext>
            </a:extLst>
          </p:cNvPr>
          <p:cNvPicPr>
            <a:picLocks noChangeAspect="1"/>
          </p:cNvPicPr>
          <p:nvPr/>
        </p:nvPicPr>
        <p:blipFill>
          <a:blip r:embed="rId3"/>
          <a:stretch>
            <a:fillRect/>
          </a:stretch>
        </p:blipFill>
        <p:spPr>
          <a:xfrm>
            <a:off x="5786917" y="2599827"/>
            <a:ext cx="2496312" cy="166628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71239-A838-AF67-C71B-811579AAEC07}"/>
              </a:ext>
            </a:extLst>
          </p:cNvPr>
          <p:cNvSpPr>
            <a:spLocks noGrp="1"/>
          </p:cNvSpPr>
          <p:nvPr>
            <p:ph type="title"/>
          </p:nvPr>
        </p:nvSpPr>
        <p:spPr/>
        <p:txBody>
          <a:bodyPr/>
          <a:lstStyle/>
          <a:p>
            <a:r>
              <a:rPr lang="en-US" dirty="0"/>
              <a:t>Target market</a:t>
            </a:r>
          </a:p>
        </p:txBody>
      </p:sp>
      <p:sp>
        <p:nvSpPr>
          <p:cNvPr id="3" name="Content Placeholder 2">
            <a:extLst>
              <a:ext uri="{FF2B5EF4-FFF2-40B4-BE49-F238E27FC236}">
                <a16:creationId xmlns:a16="http://schemas.microsoft.com/office/drawing/2014/main" id="{A3B97A7F-4809-3213-13D7-1935EE7BA005}"/>
              </a:ext>
            </a:extLst>
          </p:cNvPr>
          <p:cNvSpPr>
            <a:spLocks noGrp="1"/>
          </p:cNvSpPr>
          <p:nvPr>
            <p:ph idx="1"/>
          </p:nvPr>
        </p:nvSpPr>
        <p:spPr/>
        <p:txBody>
          <a:bodyPr/>
          <a:lstStyle/>
          <a:p>
            <a:r>
              <a:rPr lang="en-US" dirty="0"/>
              <a:t>Gen Z &amp; Millennials</a:t>
            </a:r>
          </a:p>
          <a:p>
            <a:r>
              <a:rPr lang="en-US" dirty="0"/>
              <a:t>Recreational skiers</a:t>
            </a:r>
          </a:p>
          <a:p>
            <a:r>
              <a:rPr lang="en-US" dirty="0"/>
              <a:t>Value gear &amp; convenience</a:t>
            </a:r>
          </a:p>
          <a:p>
            <a:r>
              <a:rPr lang="en-US" dirty="0"/>
              <a:t>Tech-savvy, social</a:t>
            </a:r>
          </a:p>
        </p:txBody>
      </p:sp>
    </p:spTree>
    <p:extLst>
      <p:ext uri="{BB962C8B-B14F-4D97-AF65-F5344CB8AC3E}">
        <p14:creationId xmlns:p14="http://schemas.microsoft.com/office/powerpoint/2010/main" val="985827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964692"/>
            <a:ext cx="2300202" cy="1188720"/>
          </a:xfrm>
        </p:spPr>
        <p:txBody>
          <a:bodyPr>
            <a:normAutofit/>
          </a:bodyPr>
          <a:lstStyle/>
          <a:p>
            <a:r>
              <a:t>Market Size</a:t>
            </a:r>
          </a:p>
        </p:txBody>
      </p:sp>
      <p:sp>
        <p:nvSpPr>
          <p:cNvPr id="3" name="Content Placeholder 2"/>
          <p:cNvSpPr>
            <a:spLocks noGrp="1"/>
          </p:cNvSpPr>
          <p:nvPr>
            <p:ph idx="1"/>
          </p:nvPr>
        </p:nvSpPr>
        <p:spPr>
          <a:xfrm>
            <a:off x="602433" y="2638044"/>
            <a:ext cx="2297823" cy="3263206"/>
          </a:xfrm>
        </p:spPr>
        <p:txBody>
          <a:bodyPr>
            <a:normAutofit/>
          </a:bodyPr>
          <a:lstStyle/>
          <a:p>
            <a:r>
              <a:rPr dirty="0"/>
              <a:t>TAM: $1.2B global ski accessories</a:t>
            </a:r>
          </a:p>
          <a:p>
            <a:r>
              <a:rPr dirty="0"/>
              <a:t>SAM: $180M U.S. ski support market</a:t>
            </a:r>
          </a:p>
          <a:p>
            <a:r>
              <a:rPr dirty="0"/>
              <a:t>SOM: $2.5M – 5% of CO/UT skiers</a:t>
            </a:r>
          </a:p>
        </p:txBody>
      </p:sp>
      <p:sp>
        <p:nvSpPr>
          <p:cNvPr id="9" name="Rectangle 8">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0636" y="964692"/>
            <a:ext cx="5164074"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3351" y="1128683"/>
            <a:ext cx="4918644"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85625A2-8F21-3482-9D12-6A2BE12F549F}"/>
              </a:ext>
            </a:extLst>
          </p:cNvPr>
          <p:cNvPicPr>
            <a:picLocks noChangeAspect="1"/>
          </p:cNvPicPr>
          <p:nvPr/>
        </p:nvPicPr>
        <p:blipFill>
          <a:blip r:embed="rId3"/>
          <a:stretch>
            <a:fillRect/>
          </a:stretch>
        </p:blipFill>
        <p:spPr>
          <a:xfrm>
            <a:off x="3617524" y="1669411"/>
            <a:ext cx="4670298" cy="35271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Market Validation</a:t>
            </a:r>
          </a:p>
        </p:txBody>
      </p:sp>
      <p:sp>
        <p:nvSpPr>
          <p:cNvPr id="3" name="Content Placeholder 2"/>
          <p:cNvSpPr>
            <a:spLocks noGrp="1"/>
          </p:cNvSpPr>
          <p:nvPr>
            <p:ph idx="1"/>
          </p:nvPr>
        </p:nvSpPr>
        <p:spPr/>
        <p:txBody>
          <a:bodyPr/>
          <a:lstStyle/>
          <a:p>
            <a:r>
              <a:rPr dirty="0"/>
              <a:t>18.5M U.S. skiers in 2023</a:t>
            </a:r>
          </a:p>
          <a:p>
            <a:r>
              <a:rPr dirty="0"/>
              <a:t>71% survey respondents dislike current gear setup</a:t>
            </a:r>
          </a:p>
          <a:p>
            <a:r>
              <a:rPr dirty="0"/>
              <a:t>20+ interviews at resorts confirm the pain point</a:t>
            </a:r>
          </a:p>
          <a:p>
            <a:r>
              <a:rPr dirty="0"/>
              <a:t>Competitor gap: </a:t>
            </a:r>
            <a:r>
              <a:rPr dirty="0" err="1"/>
              <a:t>SnoStrip</a:t>
            </a:r>
            <a:r>
              <a:rPr dirty="0"/>
              <a:t> is $50+, bulky, rare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Marketing Strategy</a:t>
            </a:r>
          </a:p>
        </p:txBody>
      </p:sp>
      <p:sp>
        <p:nvSpPr>
          <p:cNvPr id="3" name="Content Placeholder 2"/>
          <p:cNvSpPr>
            <a:spLocks noGrp="1"/>
          </p:cNvSpPr>
          <p:nvPr>
            <p:ph idx="1"/>
          </p:nvPr>
        </p:nvSpPr>
        <p:spPr/>
        <p:txBody>
          <a:bodyPr/>
          <a:lstStyle/>
          <a:p>
            <a:r>
              <a:rPr dirty="0"/>
              <a:t> D2C via Shopify and Amazon</a:t>
            </a:r>
          </a:p>
          <a:p>
            <a:r>
              <a:rPr dirty="0"/>
              <a:t> Social media: TikTok/Instagram influencers</a:t>
            </a:r>
          </a:p>
          <a:p>
            <a:r>
              <a:rPr dirty="0"/>
              <a:t> Resort popups, ski shop partnerships</a:t>
            </a:r>
          </a:p>
          <a:p>
            <a:r>
              <a:rPr dirty="0"/>
              <a:t> Loyalty: referrals, brand ambassadors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964692"/>
            <a:ext cx="2300202" cy="1188720"/>
          </a:xfrm>
        </p:spPr>
        <p:txBody>
          <a:bodyPr>
            <a:normAutofit/>
          </a:bodyPr>
          <a:lstStyle/>
          <a:p>
            <a:r>
              <a:rPr lang="en-US" sz="2000"/>
              <a:t>Competitive Advantage</a:t>
            </a:r>
          </a:p>
        </p:txBody>
      </p:sp>
      <p:sp>
        <p:nvSpPr>
          <p:cNvPr id="3" name="Content Placeholder 2"/>
          <p:cNvSpPr>
            <a:spLocks noGrp="1"/>
          </p:cNvSpPr>
          <p:nvPr>
            <p:ph idx="1"/>
          </p:nvPr>
        </p:nvSpPr>
        <p:spPr>
          <a:xfrm>
            <a:off x="602433" y="2638044"/>
            <a:ext cx="2297823" cy="3263206"/>
          </a:xfrm>
        </p:spPr>
        <p:txBody>
          <a:bodyPr>
            <a:normAutofit/>
          </a:bodyPr>
          <a:lstStyle/>
          <a:p>
            <a:pPr>
              <a:lnSpc>
                <a:spcPct val="90000"/>
              </a:lnSpc>
            </a:pPr>
            <a:r>
              <a:rPr lang="en-US" sz="1500" dirty="0"/>
              <a:t>Injection-molded ABS plastic: lightweight, durable, low-cost</a:t>
            </a:r>
          </a:p>
          <a:p>
            <a:pPr>
              <a:lnSpc>
                <a:spcPct val="90000"/>
              </a:lnSpc>
            </a:pPr>
            <a:r>
              <a:rPr lang="en-US" sz="1500" dirty="0"/>
              <a:t>Weatherproof, glovebox-sized, installs in seconds</a:t>
            </a:r>
          </a:p>
          <a:p>
            <a:pPr>
              <a:lnSpc>
                <a:spcPct val="90000"/>
              </a:lnSpc>
            </a:pPr>
            <a:r>
              <a:rPr lang="en-US" sz="1500" dirty="0"/>
              <a:t>Tailored for lifestyle skiers, not just gearheads</a:t>
            </a:r>
          </a:p>
        </p:txBody>
      </p:sp>
      <p:sp>
        <p:nvSpPr>
          <p:cNvPr id="10" name="Rectangle 9">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0636" y="964692"/>
            <a:ext cx="5164074"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3351" y="1128683"/>
            <a:ext cx="4918644"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of a bar chart&#10;&#10;AI-generated content may be incorrect.">
            <a:extLst>
              <a:ext uri="{FF2B5EF4-FFF2-40B4-BE49-F238E27FC236}">
                <a16:creationId xmlns:a16="http://schemas.microsoft.com/office/drawing/2014/main" id="{97F4DC72-413A-6F0F-D9A5-703CAD0AB8E9}"/>
              </a:ext>
            </a:extLst>
          </p:cNvPr>
          <p:cNvPicPr>
            <a:picLocks noChangeAspect="1"/>
          </p:cNvPicPr>
          <p:nvPr/>
        </p:nvPicPr>
        <p:blipFill>
          <a:blip r:embed="rId3"/>
          <a:stretch>
            <a:fillRect/>
          </a:stretch>
        </p:blipFill>
        <p:spPr>
          <a:xfrm>
            <a:off x="3617524" y="2037720"/>
            <a:ext cx="4670298" cy="27905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Business Model &amp; Financials</a:t>
            </a:r>
          </a:p>
        </p:txBody>
      </p:sp>
      <p:sp>
        <p:nvSpPr>
          <p:cNvPr id="3" name="Content Placeholder 2"/>
          <p:cNvSpPr>
            <a:spLocks noGrp="1"/>
          </p:cNvSpPr>
          <p:nvPr>
            <p:ph idx="1"/>
          </p:nvPr>
        </p:nvSpPr>
        <p:spPr/>
        <p:txBody>
          <a:bodyPr/>
          <a:lstStyle/>
          <a:p>
            <a:r>
              <a:rPr dirty="0"/>
              <a:t> Retail Price: $</a:t>
            </a:r>
            <a:r>
              <a:rPr lang="en-US" dirty="0"/>
              <a:t>35</a:t>
            </a:r>
            <a:r>
              <a:rPr dirty="0"/>
              <a:t> | COGS: ~$</a:t>
            </a:r>
            <a:r>
              <a:rPr lang="en-US" dirty="0"/>
              <a:t>10</a:t>
            </a:r>
            <a:endParaRPr dirty="0"/>
          </a:p>
          <a:p>
            <a:r>
              <a:rPr dirty="0"/>
              <a:t> Startup Budget: $</a:t>
            </a:r>
            <a:r>
              <a:rPr lang="en-US" dirty="0"/>
              <a:t>20,000</a:t>
            </a:r>
            <a:endParaRPr dirty="0"/>
          </a:p>
          <a:p>
            <a:r>
              <a:rPr dirty="0"/>
              <a:t>   • 40% prototyping</a:t>
            </a:r>
          </a:p>
          <a:p>
            <a:r>
              <a:rPr dirty="0"/>
              <a:t>   • 30% marketing</a:t>
            </a:r>
          </a:p>
          <a:p>
            <a:r>
              <a:rPr dirty="0"/>
              <a:t>   • 20% inventory</a:t>
            </a:r>
          </a:p>
          <a:p>
            <a:r>
              <a:rPr dirty="0"/>
              <a:t>   • 10% legal/IP</a:t>
            </a:r>
          </a:p>
          <a:p>
            <a:r>
              <a:rPr dirty="0"/>
              <a:t> Breakeven at 300 units sold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Closing &amp; Call to Action</a:t>
            </a:r>
          </a:p>
        </p:txBody>
      </p:sp>
      <p:sp>
        <p:nvSpPr>
          <p:cNvPr id="3" name="Content Placeholder 2"/>
          <p:cNvSpPr>
            <a:spLocks noGrp="1"/>
          </p:cNvSpPr>
          <p:nvPr>
            <p:ph idx="1"/>
          </p:nvPr>
        </p:nvSpPr>
        <p:spPr/>
        <p:txBody>
          <a:bodyPr/>
          <a:lstStyle/>
          <a:p>
            <a:r>
              <a:rPr dirty="0"/>
              <a:t>We’re asking for $20,000 in seed capital for launch, manufacturing, IP protection, and marketing.</a:t>
            </a:r>
          </a:p>
          <a:p>
            <a:endParaRPr dirty="0"/>
          </a:p>
          <a:p>
            <a:r>
              <a:rPr dirty="0"/>
              <a:t>ROI: 3x in 18 months.</a:t>
            </a:r>
          </a:p>
          <a:p>
            <a:endParaRPr dirty="0"/>
          </a:p>
          <a:p>
            <a:r>
              <a:rPr dirty="0"/>
              <a:t>“Let’s give every skier a smarter way to start their day.”</a:t>
            </a: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186</TotalTime>
  <Words>1177</Words>
  <Application>Microsoft Macintosh PowerPoint</Application>
  <PresentationFormat>On-screen Show (4:3)</PresentationFormat>
  <Paragraphs>75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Gill Sans MT</vt:lpstr>
      <vt:lpstr>Parcel</vt:lpstr>
      <vt:lpstr>Ski Days Shouldn’t Start with Scratches</vt:lpstr>
      <vt:lpstr>The Problem</vt:lpstr>
      <vt:lpstr>The Solution – MagMount</vt:lpstr>
      <vt:lpstr>Target market</vt:lpstr>
      <vt:lpstr>Market Size</vt:lpstr>
      <vt:lpstr>Market Validation</vt:lpstr>
      <vt:lpstr>Marketing Strategy</vt:lpstr>
      <vt:lpstr>Competitive Advantage</vt:lpstr>
      <vt:lpstr>Business Model &amp; Financials</vt:lpstr>
      <vt:lpstr>Closing &amp; Call to Action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Alex Claunch</cp:lastModifiedBy>
  <cp:revision>3</cp:revision>
  <dcterms:created xsi:type="dcterms:W3CDTF">2013-01-27T09:14:16Z</dcterms:created>
  <dcterms:modified xsi:type="dcterms:W3CDTF">2025-06-02T15:34:58Z</dcterms:modified>
  <cp:category/>
</cp:coreProperties>
</file>