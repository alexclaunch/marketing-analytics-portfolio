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8"/>
  </p:notesMasterIdLst>
  <p:sldIdLst>
    <p:sldId id="269" r:id="rId2"/>
    <p:sldId id="270" r:id="rId3"/>
    <p:sldId id="257" r:id="rId4"/>
    <p:sldId id="258" r:id="rId5"/>
    <p:sldId id="259" r:id="rId6"/>
    <p:sldId id="260" r:id="rId7"/>
    <p:sldId id="261" r:id="rId8"/>
    <p:sldId id="268" r:id="rId9"/>
    <p:sldId id="262" r:id="rId10"/>
    <p:sldId id="271" r:id="rId11"/>
    <p:sldId id="272" r:id="rId12"/>
    <p:sldId id="267" r:id="rId13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D8DAD6-B77C-FB15-CAC4-4A792CC5E4E7}" name="Alex Claunch" initials="AC" userId="S::alex.claunch@du.edu::d48fbc05-e3a2-4cc4-8928-a3dee7b357f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A0DA0-34B6-FB31-43A3-856785B9AD84}" v="64" dt="2026-06-03T04:23:16.168"/>
    <p1510:client id="{0AEDD473-C96C-BE03-F32F-39218F4091A8}" v="177" dt="2026-06-03T01:54:28.797"/>
    <p1510:client id="{0FDE1EDD-D600-5D24-168C-993F80A83CBE}" v="19" dt="2026-06-03T16:53:09.030"/>
    <p1510:client id="{3AE9CD9A-C80B-A1D2-68A6-D4499F91F0DF}" v="14" dt="2026-06-03T01:55:29.891"/>
    <p1510:client id="{B4A0A8B9-51C5-08ED-169B-030135F71A8D}" v="4" dt="2026-06-03T17:42:38.514"/>
    <p1510:client id="{D4C0D398-DF29-230F-2880-218F898B200B}" v="2" dt="2026-06-03T17:48:30.8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5545"/>
  </p:normalViewPr>
  <p:slideViewPr>
    <p:cSldViewPr snapToGrid="0">
      <p:cViewPr varScale="1">
        <p:scale>
          <a:sx n="109" d="100"/>
          <a:sy n="109" d="100"/>
        </p:scale>
        <p:origin x="1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Alex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January 2027, 298,000 Coloradans may lose their food assistance, </a:t>
            </a: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Alex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These cuts come from the federal One Big Beautiful Bill Act which is trimming an estimated 200B nationally; the 3,400 local figure is 2,300 Amazon plus 1,100 King Soopers Colorado workers on SNAP</a:t>
            </a: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Nadia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you know, Food Bank of the Rockies raises about $31 million philanthropically.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Only $1.5 million — under 5% — comes from workplace giving, and there is zero dedicated staff or strategy behind it.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Food Bank of the Rockies has experience with donations through Benevity, </a:t>
            </a:r>
            <a:r>
              <a:rPr lang="en-US" dirty="0" err="1"/>
              <a:t>YourCause</a:t>
            </a:r>
            <a:r>
              <a:rPr lang="en-US" dirty="0"/>
              <a:t>, Bonterra, and 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Deed, as well as through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ColoradoGives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platform.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Across all these channels, $1.5M arrives passively — with no one driving it. The gap is activation, not enrollment.</a:t>
            </a:r>
            <a:br>
              <a:rPr lang="en-US" dirty="0"/>
            </a:br>
            <a:endParaRPr lang="en-US" dirty="0"/>
          </a:p>
        </p:txBody>
      </p:sp>
      <p:sp>
        <p:nvSpPr>
          <p:cNvPr id="50" name="Google Shape;5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dirty="0"/>
              <a:t>Lucia</a:t>
            </a:r>
          </a:p>
          <a:p>
            <a:endParaRPr lang="en-US" dirty="0"/>
          </a:p>
          <a:p>
            <a:r>
              <a:rPr lang="en-US" dirty="0"/>
              <a:t>First of all, we do NOT ask volunteers for their own money.</a:t>
            </a:r>
          </a:p>
          <a:p>
            <a:endParaRPr lang="en-US" dirty="0"/>
          </a:p>
          <a:p>
            <a:r>
              <a:rPr lang="en-US" dirty="0"/>
              <a:t>Food Bank of the Rockies has 24,000 volunteers a year — about 140,000 hours, the equivalent of 68 full-time staff. They're already in the building.</a:t>
            </a:r>
          </a:p>
          <a:p>
            <a:endParaRPr lang="en-US" dirty="0"/>
          </a:p>
          <a:p>
            <a:r>
              <a:rPr lang="en-US" dirty="0"/>
              <a:t>The lever is volunteer grants, or "</a:t>
            </a:r>
            <a:r>
              <a:rPr lang="en-US" b="1" dirty="0"/>
              <a:t>Dollars for Doers</a:t>
            </a:r>
            <a:r>
              <a:rPr lang="en-US" dirty="0"/>
              <a:t>": employers donate a set amount per hour their employee volunteers — commonly $8–15/hour. The volunteer pays nothing; the employer pays because they showed up.</a:t>
            </a:r>
          </a:p>
          <a:p>
            <a:endParaRPr lang="en-US" dirty="0"/>
          </a:p>
          <a:p>
            <a:r>
              <a:rPr lang="en-US" dirty="0"/>
              <a:t>Conservatively, even 1 in 4 of those hours at $10/hour is $350,000+ a year in employer money — about 1 million meals — for time your volunteers already give.</a:t>
            </a:r>
          </a:p>
          <a:p>
            <a:br>
              <a:rPr lang="en-US" dirty="0"/>
            </a:br>
            <a:r>
              <a:rPr lang="en-US" dirty="0"/>
              <a:t>So why is workplace giving the right lever? Four reasons.</a:t>
            </a:r>
          </a:p>
          <a:p>
            <a:pPr marL="0" indent="0"/>
            <a:br>
              <a:rPr lang="en-US" dirty="0"/>
            </a:br>
            <a:endParaRPr lang="en-US" dirty="0"/>
          </a:p>
        </p:txBody>
      </p:sp>
      <p:sp>
        <p:nvSpPr>
          <p:cNvPr id="75" name="Google Shape;7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dirty="0"/>
              <a:t>Lucia</a:t>
            </a:r>
          </a:p>
          <a:p>
            <a:endParaRPr lang="en-US" dirty="0"/>
          </a:p>
          <a:p>
            <a:pPr>
              <a:defRPr/>
            </a:pPr>
            <a:r>
              <a:rPr lang="en-US" dirty="0"/>
              <a:t>Reference quote from Charlene if you want </a:t>
            </a:r>
            <a:r>
              <a:rPr lang="en-US" i="1" dirty="0"/>
              <a:t>"We think that workplace giving is low-hanging fruit. We think it's the money that we could get fairly easily if we just tried. And it's not for lack of awareness.” - </a:t>
            </a:r>
            <a:r>
              <a:rPr lang="en-US" dirty="0"/>
              <a:t>Charlene, May 13th 2026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we built the missing piece: a clear play and an owner.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Transition: "Here is how it actually works."</a:t>
            </a:r>
          </a:p>
          <a:p>
            <a:pPr marL="0" indent="0"/>
            <a:br>
              <a:rPr lang="en-US" dirty="0"/>
            </a:br>
            <a:endParaRPr lang="en-US" dirty="0"/>
          </a:p>
        </p:txBody>
      </p:sp>
      <p:sp>
        <p:nvSpPr>
          <p:cNvPr id="100" name="Google Shape;10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Maria</a:t>
            </a:r>
          </a:p>
          <a:p>
            <a:endParaRPr lang="en-US" dirty="0"/>
          </a:p>
          <a:p>
            <a:r>
              <a:rPr dirty="0"/>
              <a:t>This slide explains the two ways employer money flows in. </a:t>
            </a:r>
            <a:endParaRPr lang="en-US" dirty="0"/>
          </a:p>
          <a:p>
            <a:endParaRPr lang="en-US" dirty="0"/>
          </a:p>
          <a:p>
            <a:r>
              <a:rPr dirty="0"/>
              <a:t>Volunteer grants: when an employee volunteers, their company donates based on the hours logged — Arrow's published rate is about $20 an hour — and the volunteer pays nothing.</a:t>
            </a:r>
            <a:endParaRPr lang="en-US" dirty="0"/>
          </a:p>
          <a:p>
            <a:endParaRPr lang="en-US" dirty="0"/>
          </a:p>
          <a:p>
            <a:r>
              <a:rPr dirty="0"/>
              <a:t> Donor matching: when an employee makes a gift, their employer doubles it. </a:t>
            </a:r>
            <a:endParaRPr lang="en-US" dirty="0"/>
          </a:p>
          <a:p>
            <a:endParaRPr lang="en-US" dirty="0"/>
          </a:p>
          <a:p>
            <a:r>
              <a:rPr dirty="0"/>
              <a:t>Arrow and Prologis are our first targets because they're large Denver-area employers who already volunteer with the Food Bank and already run these programs — so we're activating existing relationships, not cold outreach. </a:t>
            </a:r>
            <a:endParaRPr lang="en-US" dirty="0"/>
          </a:p>
          <a:p>
            <a:endParaRPr lang="en-US" dirty="0"/>
          </a:p>
          <a:p>
            <a:r>
              <a:rPr dirty="0"/>
              <a:t>Worked example: an Arrow employee volunteers 10 hours, Arrow sends the Food Bank $200, and it costs the employee nothing. That's employer money the Food Bank isn't currently collecting.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Maria</a:t>
            </a:r>
          </a:p>
          <a:p>
            <a:pPr marL="0" indent="0"/>
            <a:endParaRPr lang="en-US" dirty="0"/>
          </a:p>
          <a:p>
            <a:r>
              <a:rPr lang="en-US" dirty="0"/>
              <a:t>The play, left to right: win the corporate campaigns first — Arrow and Prologis have real match, grant, and payroll programs and already volunteer here, so one yes is worth thousands of forms. </a:t>
            </a:r>
          </a:p>
          <a:p>
            <a:endParaRPr lang="en-US" dirty="0"/>
          </a:p>
          <a:p>
            <a:r>
              <a:rPr lang="en-US" dirty="0"/>
              <a:t>Then reawaken existing donors with a match-finder on the donate page — in Charlene's own words, matches are not automatic, a separate request often goes uncompleted, and she wants to close the loop on match-eligible gifts made outside these platforms. </a:t>
            </a:r>
          </a:p>
          <a:p>
            <a:endParaRPr lang="en-US" dirty="0"/>
          </a:p>
          <a:p>
            <a:r>
              <a:rPr lang="en-US" dirty="0"/>
              <a:t>The ask, on the right: hire or name a workplace-giving lead by end of July, run this before fall open enrollment closes, and treat the free profiles plus Millie as plumbing — 360MatchPro only after the free play proves out.</a:t>
            </a:r>
          </a:p>
          <a:p>
            <a:endParaRPr lang="en-US" dirty="0"/>
          </a:p>
          <a:p>
            <a:r>
              <a:rPr lang="en-US" dirty="0"/>
              <a:t>Land it: this is what has been missing for three years — an owner and a play, not another tool.</a:t>
            </a:r>
          </a:p>
          <a:p>
            <a:pPr marL="0" indent="0"/>
            <a:endParaRPr lang="en-US" dirty="0"/>
          </a:p>
        </p:txBody>
      </p:sp>
      <p:sp>
        <p:nvSpPr>
          <p:cNvPr id="130" name="Google Shape;13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Fletcher</a:t>
            </a:r>
          </a:p>
          <a:p>
            <a:endParaRPr lang="en-US" dirty="0"/>
          </a:p>
          <a:p>
            <a:r>
              <a:rPr lang="en-US" dirty="0"/>
              <a:t>Who runs it: </a:t>
            </a:r>
            <a:r>
              <a:rPr dirty="0"/>
              <a:t>Today no one does — which is exactly why Charlene said it's sat undone for three years. </a:t>
            </a:r>
            <a:endParaRPr lang="en-US" dirty="0"/>
          </a:p>
          <a:p>
            <a:endParaRPr lang="en-US" dirty="0"/>
          </a:p>
          <a:p>
            <a:r>
              <a:rPr dirty="0"/>
              <a:t>We're recommending a part-time workplace-giving lead whose main job is lead generation: finding and signing employers that have match and grant programs. </a:t>
            </a:r>
            <a:endParaRPr lang="en-US" dirty="0"/>
          </a:p>
          <a:p>
            <a:endParaRPr lang="en-US" dirty="0"/>
          </a:p>
          <a:p>
            <a:r>
              <a:rPr dirty="0"/>
              <a:t>Start by anchoring with Arrow and Prologis to prove the model fast, then grow into the smaller and mid-size companies 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</a:t>
            </a:r>
            <a:r>
              <a:rPr dirty="0"/>
              <a:t> said</a:t>
            </a:r>
            <a:r>
              <a:rPr lang="en-US" dirty="0"/>
              <a:t> (say to Charlene)</a:t>
            </a:r>
            <a:r>
              <a:rPr dirty="0"/>
              <a:t> </a:t>
            </a:r>
            <a:r>
              <a:rPr lang="en-US" dirty="0"/>
              <a:t>you</a:t>
            </a:r>
            <a:r>
              <a:rPr dirty="0"/>
              <a:t> want</a:t>
            </a:r>
            <a:r>
              <a:rPr lang="en-US" dirty="0"/>
              <a:t>ed</a:t>
            </a:r>
            <a:r>
              <a:rPr dirty="0"/>
              <a:t> to reach the ones that don't have giving platforms. This should be someone experienced in corporate giving, not a green intern, because it's relationship and pipeline work.</a:t>
            </a:r>
            <a:r>
              <a:rPr lang="en-US" dirty="0"/>
              <a:t> </a:t>
            </a:r>
            <a:r>
              <a:rPr dirty="0"/>
              <a:t>it's a pipeline — every new employer signed feeds more neighbors, and it compounds year after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Fletcher</a:t>
            </a:r>
          </a:p>
          <a:p>
            <a:r>
              <a:rPr lang="en-US" dirty="0"/>
              <a:t>"At first glance, hiring a workplace-giving lead sounds like an added expense. But when we compare it to existing fundraising methods, it starts to look more like an investment."</a:t>
            </a:r>
          </a:p>
          <a:p>
            <a:r>
              <a:rPr lang="en-US" dirty="0"/>
              <a:t>"Food Bank events currently cost about 30 to 50 cents for every dollar raised. By comparison, a dedicated workplace-giving lead could potentially generate two to three million dollars in annual revenue at a cost of roughly eighty thousand dollars per year." </a:t>
            </a:r>
          </a:p>
          <a:p>
            <a:r>
              <a:rPr lang="en-US" dirty="0"/>
              <a:t>"Even under conservative assumptions, that's about a four-times return on the salary alone. And unlike a one-time fundraising event, workplace giving creates recurring revenue through employer matches, volunteer grants, and long-term corporate partnerships."</a:t>
            </a:r>
          </a:p>
          <a:p>
            <a:r>
              <a:rPr lang="en-US" dirty="0"/>
              <a:t>"The key point is that we're not recommending a new program that has to be rebuilt every year. We're recommending an owner who can activate systems and relationships that already exist and continue generating value over time."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</a:t>
            </a:r>
            <a:endParaRPr dirty="0"/>
          </a:p>
          <a:p>
            <a:endParaRPr lang="en-US" dirty="0"/>
          </a:p>
          <a:p>
            <a:r>
              <a:rPr lang="en-US" dirty="0"/>
              <a:t>At</a:t>
            </a:r>
            <a:r>
              <a:rPr dirty="0"/>
              <a:t> </a:t>
            </a:r>
            <a:r>
              <a:rPr lang="en-US" dirty="0"/>
              <a:t>the volunteer check in, you add a screening question "where do you work?", so the system can flag who's eligible for a grant. </a:t>
            </a:r>
          </a:p>
          <a:p>
            <a:endParaRPr lang="en-US" dirty="0"/>
          </a:p>
          <a:p>
            <a:r>
              <a:rPr dirty="0"/>
              <a:t>Second, we remind them: an automatic email after each shift with a link to claim it. </a:t>
            </a:r>
            <a:endParaRPr lang="en-US" dirty="0"/>
          </a:p>
          <a:p>
            <a:endParaRPr lang="en-US" dirty="0"/>
          </a:p>
          <a:p>
            <a:r>
              <a:rPr dirty="0"/>
              <a:t>Third, we add a match-finder box </a:t>
            </a:r>
            <a:r>
              <a:rPr lang="en-US" dirty="0"/>
              <a:t>like Double the Donation </a:t>
            </a:r>
            <a:r>
              <a:rPr dirty="0"/>
              <a:t>to the donation page so anyone giving online can pull up their employer's match form on the spot.</a:t>
            </a:r>
          </a:p>
          <a:p>
            <a:endParaRPr lang="en-US" dirty="0"/>
          </a:p>
          <a:p>
            <a:r>
              <a:rPr lang="en-US" dirty="0"/>
              <a:t>If not already done, fill</a:t>
            </a:r>
            <a:r>
              <a:rPr dirty="0"/>
              <a:t> in the </a:t>
            </a:r>
            <a:r>
              <a:rPr lang="en-US" dirty="0"/>
              <a:t>Employer Identification Number</a:t>
            </a:r>
            <a:r>
              <a:rPr dirty="0"/>
              <a:t>, logo, photos, and bank details so Food Bank of the Rockies shows up when employees search and the money actually lands.</a:t>
            </a:r>
          </a:p>
          <a:p>
            <a:endParaRPr lang="en-US" dirty="0"/>
          </a:p>
          <a:p>
            <a:r>
              <a:rPr dirty="0"/>
              <a:t>Three of these four cost nothing, and the first one can be live this week.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dirty="0"/>
              <a:t>Nadia – </a:t>
            </a:r>
          </a:p>
          <a:p>
            <a:pPr marL="0" indent="0"/>
            <a:endParaRPr lang="en-US" dirty="0"/>
          </a:p>
          <a:p>
            <a:r>
              <a:rPr lang="en-US" dirty="0"/>
              <a:t>Situation: up to 298,000 Coloradans may lose SNAP. Problem: $1.5M of $31M, Food Bank of the Rockies name an owner and run the corporate and donor activation play this fall — free tools are just the plumbing. Goal: prove it this fall with one employer like Arrow, then scale employer by employer, past today’s passive $1.5M.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"The facility is ready. The relationships exist. The only thing missing is activation."</a:t>
            </a:r>
          </a:p>
          <a:p>
            <a:pPr marL="0" indent="0"/>
            <a:br>
              <a:rPr lang="en-US" dirty="0"/>
            </a:br>
            <a:endParaRPr lang="en-US" dirty="0"/>
          </a:p>
        </p:txBody>
      </p:sp>
      <p:sp>
        <p:nvSpPr>
          <p:cNvPr id="143" name="Google Shape;14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dirty="0"/>
              <a:t>Nadia </a:t>
            </a:r>
            <a:endParaRPr dirty="0"/>
          </a:p>
        </p:txBody>
      </p:sp>
      <p:sp>
        <p:nvSpPr>
          <p:cNvPr id="163" name="Google Shape;1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50f443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e50f4438d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e50f4438d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1B4B"/>
        </a:solidFill>
        <a:effectLst/>
      </p:bgPr>
    </p:bg>
    <p:spTree>
      <p:nvGrpSpPr>
        <p:cNvPr id="1" name="Cover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itle"/>
          <p:cNvSpPr/>
          <p:nvPr/>
        </p:nvSpPr>
        <p:spPr>
          <a:xfrm>
            <a:off x="497950" y="1573530"/>
            <a:ext cx="813816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Activating Workplace Giving</a:t>
            </a:r>
            <a:endParaRPr sz="4000" b="0"/>
          </a:p>
        </p:txBody>
      </p:sp>
      <p:sp>
        <p:nvSpPr>
          <p:cNvPr id="301" name="Subtitle"/>
          <p:cNvSpPr/>
          <p:nvPr/>
        </p:nvSpPr>
        <p:spPr>
          <a:xfrm>
            <a:off x="497950" y="2573348"/>
            <a:ext cx="813816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buNone/>
            </a:pPr>
            <a:r>
              <a:rPr lang="en-US" sz="2000" b="0" i="1" u="none" strike="noStrike" cap="none">
                <a:solidFill>
                  <a:srgbClr val="F2E4B1"/>
                </a:solidFill>
                <a:latin typeface="Georgia"/>
                <a:ea typeface="Georgia"/>
                <a:cs typeface="Georgia"/>
                <a:sym typeface="Georgia"/>
              </a:rPr>
              <a:t>Unlocking employer dollars to feed more neighbors</a:t>
            </a:r>
            <a:endParaRPr sz="2000" b="0"/>
          </a:p>
        </p:txBody>
      </p:sp>
      <p:sp>
        <p:nvSpPr>
          <p:cNvPr id="302" name="Credits"/>
          <p:cNvSpPr/>
          <p:nvPr/>
        </p:nvSpPr>
        <p:spPr>
          <a:xfrm>
            <a:off x="502920" y="4250000"/>
            <a:ext cx="813816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Aft>
                <a:spcPts val="60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Prepared for Food Bank of the Rockies</a:t>
            </a:r>
          </a:p>
          <a:p>
            <a:pPr marL="0" marR="0" lvl="0" indent="0" algn="ctr" rtl="0">
              <a:buNone/>
            </a:pPr>
            <a:r>
              <a:rPr lang="en-US" sz="1200" b="0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Daniels College of Business, University of Denver  ·  June 2026</a:t>
            </a:r>
          </a:p>
          <a:p>
            <a:pPr marL="0" marR="0" lvl="0" indent="0" algn="ctr" rtl="0">
              <a:buNone/>
            </a:pPr>
            <a:r>
              <a:rPr lang="en-US" sz="1200" b="0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Alex Claunch · Nadia Marciniak · Fletcher Roberts · Maria DelMonte · Lucia Marquez</a:t>
            </a:r>
          </a:p>
        </p:txBody>
      </p:sp>
      <p:pic>
        <p:nvPicPr>
          <p:cNvPr id="303" name="Picture 30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470000"/>
            <a:ext cx="2926080" cy="6588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1B4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637832" y="807616"/>
            <a:ext cx="5672593" cy="28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 January 2027,</a:t>
            </a:r>
            <a:endParaRPr lang="en-US"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buClr>
                <a:srgbClr val="FFFFFF"/>
              </a:buClr>
              <a:buSzPts val="3600"/>
              <a:buFont typeface="Georgia"/>
            </a:pPr>
            <a:r>
              <a:rPr lang="en-US" sz="3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298,000 </a:t>
            </a: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Coloradans may</a:t>
            </a:r>
            <a:r>
              <a:rPr lang="en-US" sz="3600">
                <a:solidFill>
                  <a:schemeClr val="dk1"/>
                </a:solidFill>
                <a:ea typeface="Georgia"/>
              </a:rPr>
              <a:t> </a:t>
            </a: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lose</a:t>
            </a:r>
            <a:r>
              <a:rPr lang="en-US" sz="3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their food</a:t>
            </a:r>
            <a:endParaRPr lang="en-US" sz="3600">
              <a:ea typeface="Georgia"/>
              <a:sym typeface="Georgia"/>
            </a:endParaRPr>
          </a:p>
          <a:p>
            <a:pPr>
              <a:buSzPts val="3600"/>
              <a:buFont typeface="Georgia"/>
            </a:pPr>
            <a:r>
              <a:rPr lang="en-US" sz="3600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assistance</a:t>
            </a:r>
            <a:r>
              <a:rPr lang="en-US" sz="3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lang="en-US"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2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CutNum"/>
          <p:cNvSpPr/>
          <p:nvPr/>
        </p:nvSpPr>
        <p:spPr>
          <a:xfrm>
            <a:off x="5900000" y="1250000"/>
            <a:ext cx="240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sz="3600" b="1">
                <a:solidFill>
                  <a:srgbClr val="F2E4B1"/>
                </a:solidFill>
                <a:latin typeface="Georgia"/>
                <a:ea typeface="Georgia"/>
                <a:cs typeface="Georgia"/>
                <a:sym typeface="Georgia"/>
              </a:rPr>
              <a:t>$200B</a:t>
            </a:r>
          </a:p>
        </p:txBody>
      </p:sp>
      <p:sp>
        <p:nvSpPr>
          <p:cNvPr id="30" name="CutArrow"/>
          <p:cNvSpPr/>
          <p:nvPr/>
        </p:nvSpPr>
        <p:spPr>
          <a:xfrm>
            <a:off x="6550000" y="2020000"/>
            <a:ext cx="1100000" cy="1450000"/>
          </a:xfrm>
          <a:prstGeom prst="downArrow">
            <a:avLst/>
          </a:prstGeom>
          <a:solidFill>
            <a:srgbClr val="F2E4B1"/>
          </a:solidFill>
          <a:ln>
            <a:noFill/>
          </a:ln>
        </p:spPr>
        <p:txBody>
          <a:bodyPr spcFirstLastPara="1" wrap="square" lIns="45700" tIns="137160" rIns="45700" bIns="45700" anchor="t" anchorCtr="1">
            <a:noAutofit/>
          </a:bodyPr>
          <a:lstStyle/>
          <a:p>
            <a:pPr marL="0" indent="0" algn="ctr">
              <a:buNone/>
            </a:pPr>
            <a:endParaRPr/>
          </a:p>
        </p:txBody>
      </p:sp>
      <p:sp>
        <p:nvSpPr>
          <p:cNvPr id="31" name="CutCaption"/>
          <p:cNvSpPr/>
          <p:nvPr/>
        </p:nvSpPr>
        <p:spPr>
          <a:xfrm>
            <a:off x="5800000" y="3600000"/>
            <a:ext cx="2550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sz="1600" b="0" i="1">
                <a:solidFill>
                  <a:srgbClr val="F2E4B1"/>
                </a:solidFill>
                <a:latin typeface="Georgia"/>
                <a:ea typeface="Georgia"/>
                <a:cs typeface="Georgia"/>
                <a:sym typeface="Georgia"/>
              </a:rPr>
              <a:t>cut from SNAP nationally</a:t>
            </a:r>
          </a:p>
        </p:txBody>
      </p:sp>
      <p:pic>
        <p:nvPicPr>
          <p:cNvPr id="33" name="Picture 3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36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61B4B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Agenda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286000" y="1207008"/>
            <a:ext cx="54864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61B4B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961B4B"/>
                </a:solidFill>
                <a:latin typeface="Arial"/>
                <a:ea typeface="Arial"/>
                <a:cs typeface="Arial"/>
                <a:sym typeface="Arial"/>
              </a:rPr>
              <a:t>01 — The Situation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Clr>
                <a:srgbClr val="6F7C7C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02 — The Problem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400"/>
              </a:spcBef>
              <a:buSzPts val="2600"/>
            </a:pPr>
            <a:r>
              <a:rPr lang="en-US" sz="2600">
                <a:solidFill>
                  <a:srgbClr val="6F7C7C"/>
                </a:solidFill>
              </a:rPr>
              <a:t>03 — The Opportunity</a:t>
            </a:r>
            <a:endParaRPr lang="en-US"/>
          </a:p>
          <a:p>
            <a:pPr marL="0" marR="0" lvl="0" indent="0" algn="l">
              <a:spcBef>
                <a:spcPts val="1400"/>
              </a:spcBef>
              <a:spcAft>
                <a:spcPts val="0"/>
              </a:spcAft>
              <a:buClr>
                <a:srgbClr val="961B4B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961B4B"/>
                </a:solidFill>
              </a:rPr>
              <a:t>04</a:t>
            </a:r>
            <a:r>
              <a:rPr lang="en-US" sz="2600" b="0" i="0" u="none" strike="noStrike" cap="none">
                <a:solidFill>
                  <a:srgbClr val="961B4B"/>
                </a:solidFill>
                <a:latin typeface="Arial"/>
                <a:ea typeface="Arial"/>
                <a:cs typeface="Arial"/>
                <a:sym typeface="Arial"/>
              </a:rPr>
              <a:t> — The Case for Workplace Giving</a:t>
            </a:r>
            <a:endParaRPr lang="en-US"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Clr>
                <a:srgbClr val="6F7C7C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r>
              <a:rPr lang="en-US" sz="26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 — Our Recommendation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Clr>
                <a:srgbClr val="961B4B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961B4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r>
              <a:rPr lang="en-US" sz="2600" b="0" i="0" u="none" strike="noStrike" cap="none">
                <a:solidFill>
                  <a:srgbClr val="961B4B"/>
                </a:solidFill>
                <a:latin typeface="Arial"/>
                <a:ea typeface="Arial"/>
                <a:cs typeface="Arial"/>
                <a:sym typeface="Arial"/>
              </a:rPr>
              <a:t> — Summary &amp; Q&amp;A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3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Picture 32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961B4B"/>
          </a:solidFill>
          <a:ln w="12700" cap="flat" cmpd="sng">
            <a:solidFill>
              <a:srgbClr val="96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228600" y="1554480"/>
            <a:ext cx="274320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SITUATION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228600" y="3200400"/>
            <a:ext cx="1463040" cy="50292"/>
          </a:xfrm>
          <a:prstGeom prst="rect">
            <a:avLst/>
          </a:prstGeom>
          <a:solidFill>
            <a:srgbClr val="F2E4B1"/>
          </a:solidFill>
          <a:ln w="12700" cap="flat" cmpd="sng">
            <a:solidFill>
              <a:srgbClr val="F2E4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228600" y="335584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1300"/>
              <a:buFont typeface="Arial"/>
              <a:buNone/>
            </a:pPr>
            <a:r>
              <a:rPr lang="en-US" sz="1300" b="0" i="1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May 2026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337560" y="192005"/>
            <a:ext cx="53949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61B4B"/>
              </a:buClr>
              <a:buSzPts val="7600"/>
              <a:buFont typeface="Georgia"/>
              <a:buNone/>
            </a:pPr>
            <a:r>
              <a:rPr lang="en-US" sz="70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298,000</a:t>
            </a:r>
            <a:endParaRPr lang="en-US" sz="7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337560" y="1581933"/>
            <a:ext cx="52122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Coloradans at risk of losing SNAP by January 2027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337560" y="2176272"/>
            <a:ext cx="5212080" cy="45720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3337560" y="2304288"/>
            <a:ext cx="521208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30200" algn="l" rtl="0">
              <a:spcBef>
                <a:spcPts val="0"/>
              </a:spcBef>
              <a:spcAft>
                <a:spcPts val="0"/>
              </a:spcAft>
              <a:buClr>
                <a:srgbClr val="522C3A"/>
              </a:buClr>
              <a:buSzPts val="22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Federal SNAP cuts, July 2025</a:t>
            </a:r>
            <a:endParaRPr lang="en-US"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30200" algn="l" rtl="0">
              <a:spcBef>
                <a:spcPts val="800"/>
              </a:spcBef>
              <a:spcAft>
                <a:spcPts val="0"/>
              </a:spcAft>
              <a:buClr>
                <a:srgbClr val="522C3A"/>
              </a:buClr>
              <a:buSzPts val="22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$200B cut from SNAP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30200" algn="l" rtl="0">
              <a:spcBef>
                <a:spcPts val="800"/>
              </a:spcBef>
              <a:spcAft>
                <a:spcPts val="0"/>
              </a:spcAft>
              <a:buClr>
                <a:srgbClr val="522C3A"/>
              </a:buClr>
              <a:buSzPts val="22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3,400+ local workers on SNAP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02920" y="4828032"/>
            <a:ext cx="7818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1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Sources: Colorado Newsline, May 1, 2026  ·  9News Colorado  ·  Food Bank of the Rockies FY2025 Annual Report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4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Picture 47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961B4B"/>
              </a:buClr>
              <a:buSzPts val="3200"/>
            </a:pPr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lang="en-US" sz="3200" b="1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Challenge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76621FF-CF70-2578-C1D4-6211ADC1D71F}"/>
              </a:ext>
            </a:extLst>
          </p:cNvPr>
          <p:cNvGrpSpPr/>
          <p:nvPr/>
        </p:nvGrpSpPr>
        <p:grpSpPr>
          <a:xfrm>
            <a:off x="3267971" y="1143000"/>
            <a:ext cx="2606040" cy="3063240"/>
            <a:chOff x="502920" y="1143000"/>
            <a:chExt cx="2606040" cy="3063240"/>
          </a:xfrm>
        </p:grpSpPr>
        <p:sp>
          <p:nvSpPr>
            <p:cNvPr id="54" name="Google Shape;54;p6"/>
            <p:cNvSpPr/>
            <p:nvPr/>
          </p:nvSpPr>
          <p:spPr>
            <a:xfrm>
              <a:off x="502920" y="1143000"/>
              <a:ext cx="2606040" cy="3063240"/>
            </a:xfrm>
            <a:prstGeom prst="rect">
              <a:avLst/>
            </a:prstGeom>
            <a:solidFill>
              <a:srgbClr val="961B4B"/>
            </a:solidFill>
            <a:ln w="12700" cap="flat" cmpd="sng">
              <a:solidFill>
                <a:srgbClr val="961B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502920" y="1325880"/>
              <a:ext cx="26060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E4B1"/>
                </a:buClr>
                <a:buSzPts val="4400"/>
                <a:buFont typeface="Georgia"/>
                <a:buNone/>
              </a:pPr>
              <a:r>
                <a:rPr lang="en-US" sz="4400" b="1" i="0" u="none" strike="noStrike" cap="none">
                  <a:solidFill>
                    <a:srgbClr val="F2E4B1"/>
                  </a:solidFill>
                  <a:latin typeface="Georgia"/>
                  <a:ea typeface="Georgia"/>
                  <a:cs typeface="Georgia"/>
                  <a:sym typeface="Georgia"/>
                </a:rPr>
                <a:t>$1.5M</a:t>
              </a:r>
              <a:endPara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612648" y="2331720"/>
              <a:ext cx="2386584" cy="749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Workplace Giving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960120" y="3172968"/>
              <a:ext cx="1691640" cy="45720"/>
            </a:xfrm>
            <a:prstGeom prst="rect">
              <a:avLst/>
            </a:prstGeom>
            <a:solidFill>
              <a:srgbClr val="F2E4B1"/>
            </a:solidFill>
            <a:ln w="12700" cap="flat" cmpd="sng">
              <a:solidFill>
                <a:srgbClr val="F2E4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594360" y="3291840"/>
              <a:ext cx="2423160" cy="658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E4B1"/>
                </a:buClr>
                <a:buSzPts val="1100"/>
                <a:buFont typeface="Arial"/>
                <a:buNone/>
              </a:pPr>
              <a:r>
                <a:rPr lang="en-US" sz="1100" b="0" i="1" u="none" strike="noStrike" cap="none">
                  <a:solidFill>
                    <a:srgbClr val="F2E4B1"/>
                  </a:solidFill>
                  <a:latin typeface="Arial"/>
                  <a:ea typeface="Arial"/>
                  <a:cs typeface="Arial"/>
                  <a:sym typeface="Arial"/>
                </a:rPr>
                <a:t>&lt; 5% of total budget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74995FE-DFC6-B75F-DB26-5F90C02F951D}"/>
              </a:ext>
            </a:extLst>
          </p:cNvPr>
          <p:cNvGrpSpPr/>
          <p:nvPr/>
        </p:nvGrpSpPr>
        <p:grpSpPr>
          <a:xfrm>
            <a:off x="503929" y="1143000"/>
            <a:ext cx="2606040" cy="3063240"/>
            <a:chOff x="3268980" y="1143000"/>
            <a:chExt cx="2606040" cy="3063240"/>
          </a:xfrm>
        </p:grpSpPr>
        <p:sp>
          <p:nvSpPr>
            <p:cNvPr id="59" name="Google Shape;59;p6"/>
            <p:cNvSpPr/>
            <p:nvPr/>
          </p:nvSpPr>
          <p:spPr>
            <a:xfrm>
              <a:off x="3268980" y="1143000"/>
              <a:ext cx="2606040" cy="3063240"/>
            </a:xfrm>
            <a:prstGeom prst="rect">
              <a:avLst/>
            </a:prstGeom>
            <a:solidFill>
              <a:srgbClr val="961B4B"/>
            </a:solidFill>
            <a:ln w="12700" cap="flat" cmpd="sng">
              <a:solidFill>
                <a:srgbClr val="961B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3268980" y="1325880"/>
              <a:ext cx="26060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E4B1"/>
                </a:buClr>
                <a:buSzPts val="4400"/>
                <a:buFont typeface="Georgia"/>
                <a:buNone/>
              </a:pPr>
              <a:r>
                <a:rPr lang="en-US" sz="4400" b="1" i="0" u="none" strike="noStrike" cap="none">
                  <a:solidFill>
                    <a:srgbClr val="F2E4B1"/>
                  </a:solidFill>
                  <a:latin typeface="Georgia"/>
                  <a:ea typeface="Georgia"/>
                  <a:cs typeface="Georgia"/>
                  <a:sym typeface="Georgia"/>
                </a:rPr>
                <a:t>$31M</a:t>
              </a:r>
              <a:endPara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3378708" y="2331720"/>
              <a:ext cx="2386584" cy="749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Total Philanthropic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Budget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3726180" y="3172968"/>
              <a:ext cx="1691640" cy="45720"/>
            </a:xfrm>
            <a:prstGeom prst="rect">
              <a:avLst/>
            </a:prstGeom>
            <a:solidFill>
              <a:srgbClr val="F2E4B1"/>
            </a:solidFill>
            <a:ln w="12700" cap="flat" cmpd="sng">
              <a:solidFill>
                <a:srgbClr val="F2E4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3360420" y="3291840"/>
              <a:ext cx="2423160" cy="658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E4B1"/>
                </a:buClr>
                <a:buSzPts val="1100"/>
                <a:buFont typeface="Arial"/>
                <a:buNone/>
              </a:pPr>
              <a:r>
                <a:rPr lang="en-US" sz="1100" b="0" i="1" u="none" strike="noStrike" cap="none">
                  <a:solidFill>
                    <a:srgbClr val="F2E4B1"/>
                  </a:solidFill>
                  <a:latin typeface="Arial"/>
                  <a:ea typeface="Arial"/>
                  <a:cs typeface="Arial"/>
                  <a:sym typeface="Arial"/>
                </a:rPr>
                <a:t>Coming in through other channels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9CBE253-73D3-DEA2-80B2-2B9569A79D55}"/>
              </a:ext>
            </a:extLst>
          </p:cNvPr>
          <p:cNvGrpSpPr/>
          <p:nvPr/>
        </p:nvGrpSpPr>
        <p:grpSpPr>
          <a:xfrm>
            <a:off x="6035040" y="1143000"/>
            <a:ext cx="2606040" cy="3063240"/>
            <a:chOff x="6035040" y="1143000"/>
            <a:chExt cx="2606040" cy="3063240"/>
          </a:xfrm>
        </p:grpSpPr>
        <p:sp>
          <p:nvSpPr>
            <p:cNvPr id="64" name="Google Shape;64;p6"/>
            <p:cNvSpPr/>
            <p:nvPr/>
          </p:nvSpPr>
          <p:spPr>
            <a:xfrm>
              <a:off x="6035040" y="1143000"/>
              <a:ext cx="2606040" cy="3063240"/>
            </a:xfrm>
            <a:prstGeom prst="rect">
              <a:avLst/>
            </a:prstGeom>
            <a:solidFill>
              <a:srgbClr val="961B4B"/>
            </a:solidFill>
            <a:ln w="12700" cap="flat" cmpd="sng">
              <a:solidFill>
                <a:srgbClr val="961B4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6035040" y="1325880"/>
              <a:ext cx="260604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E4B1"/>
                </a:buClr>
                <a:buSzPts val="4400"/>
                <a:buFont typeface="Georgia"/>
                <a:buNone/>
              </a:pPr>
              <a:r>
                <a:rPr lang="en-US" sz="4400" b="1" i="0" u="none" strike="noStrike" cap="none">
                  <a:solidFill>
                    <a:srgbClr val="F2E4B1"/>
                  </a:solidFill>
                  <a:latin typeface="Georgia"/>
                  <a:ea typeface="Georgia"/>
                  <a:cs typeface="Georgia"/>
                  <a:sym typeface="Georgia"/>
                </a:rPr>
                <a:t>Zero</a:t>
              </a:r>
              <a:endPara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6"/>
            <p:cNvSpPr/>
            <p:nvPr/>
          </p:nvSpPr>
          <p:spPr>
            <a:xfrm>
              <a:off x="6144768" y="2331720"/>
              <a:ext cx="2386584" cy="749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Dedicated Staff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or Strategy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6492240" y="3172968"/>
              <a:ext cx="1691640" cy="45720"/>
            </a:xfrm>
            <a:prstGeom prst="rect">
              <a:avLst/>
            </a:prstGeom>
            <a:solidFill>
              <a:srgbClr val="F2E4B1"/>
            </a:solidFill>
            <a:ln w="12700" cap="flat" cmpd="sng">
              <a:solidFill>
                <a:srgbClr val="F2E4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6126480" y="3291840"/>
              <a:ext cx="2423160" cy="658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2E4B1"/>
                </a:buClr>
                <a:buSzPts val="1100"/>
                <a:buFont typeface="Arial"/>
                <a:buNone/>
              </a:pPr>
              <a:r>
                <a:rPr lang="en-US" sz="1100" b="0" i="1" u="none" strike="noStrike" cap="none">
                  <a:solidFill>
                    <a:srgbClr val="F2E4B1"/>
                  </a:solidFill>
                  <a:latin typeface="Arial"/>
                  <a:ea typeface="Arial"/>
                  <a:cs typeface="Arial"/>
                  <a:sym typeface="Arial"/>
                </a:rPr>
                <a:t>Food Bank of the Rockies Speaker Session, May 13, 2026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" name="Google Shape;69;p6"/>
          <p:cNvSpPr/>
          <p:nvPr/>
        </p:nvSpPr>
        <p:spPr>
          <a:xfrm>
            <a:off x="502920" y="4315968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350"/>
              <a:buFont typeface="Georgia"/>
              <a:buNone/>
            </a:pPr>
            <a:r>
              <a:rPr lang="en-US" sz="1350" b="0" i="1" u="none" strike="noStrike" cap="none">
                <a:solidFill>
                  <a:srgbClr val="6F7C7C"/>
                </a:solidFill>
                <a:latin typeface="Georgia"/>
                <a:ea typeface="Georgia"/>
                <a:cs typeface="Georgia"/>
                <a:sym typeface="Georgia"/>
              </a:rPr>
              <a:t>Food Bank of the Rockies already receives through Benevity, YourCause, Bonterra &amp; more — the gap is activation, not enrollment.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02920" y="4828032"/>
            <a:ext cx="78181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1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Source: Food Bank of the Rockies Guest Speaker Session, May 13, 2026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5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Picture 72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/>
          <p:nvPr/>
        </p:nvSpPr>
        <p:spPr>
          <a:xfrm>
            <a:off x="502920" y="546255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The </a:t>
            </a:r>
            <a:r>
              <a:rPr lang="en-US" sz="3200" b="1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Opportunity: Employer Money</a:t>
            </a:r>
            <a:endParaRPr lang="en-US">
              <a:sym typeface="Georgia"/>
            </a:endParaRPr>
          </a:p>
          <a:p>
            <a:br>
              <a:rPr lang="en-US">
                <a:sym typeface="Georgia"/>
              </a:rPr>
            </a:br>
            <a:endParaRPr lang="en-US"/>
          </a:p>
        </p:txBody>
      </p:sp>
      <p:sp>
        <p:nvSpPr>
          <p:cNvPr id="78" name="Google Shape;78;p7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502920" y="1143000"/>
            <a:ext cx="3977640" cy="1737360"/>
          </a:xfrm>
          <a:prstGeom prst="rect">
            <a:avLst/>
          </a:prstGeom>
          <a:solidFill>
            <a:srgbClr val="F5F0E8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725651" y="1234450"/>
            <a:ext cx="37548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ctr" anchorCtr="0">
            <a:noAutofit/>
          </a:bodyPr>
          <a:lstStyle/>
          <a:p>
            <a:r>
              <a:rPr lang="en-US" sz="4200" b="1">
                <a:solidFill>
                  <a:srgbClr val="006649"/>
                </a:solidFill>
                <a:latin typeface="Georgia"/>
                <a:sym typeface="Georgia"/>
              </a:rPr>
              <a:t>24,000</a:t>
            </a:r>
            <a:endParaRPr lang="en-US">
              <a:sym typeface="Georgia"/>
            </a:endParaRPr>
          </a:p>
          <a:p>
            <a:endParaRPr lang="en-US"/>
          </a:p>
        </p:txBody>
      </p:sp>
      <p:sp>
        <p:nvSpPr>
          <p:cNvPr id="81" name="Google Shape;81;p7"/>
          <p:cNvSpPr/>
          <p:nvPr/>
        </p:nvSpPr>
        <p:spPr>
          <a:xfrm>
            <a:off x="725650" y="2057400"/>
            <a:ext cx="359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000" b="1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Volunteers every year</a:t>
            </a:r>
            <a:endParaRPr lang="en-US">
              <a:sym typeface="Arial"/>
            </a:endParaRPr>
          </a:p>
          <a:p>
            <a:endParaRPr lang="en-US"/>
          </a:p>
        </p:txBody>
      </p:sp>
      <p:sp>
        <p:nvSpPr>
          <p:cNvPr id="82" name="Google Shape;82;p7"/>
          <p:cNvSpPr/>
          <p:nvPr/>
        </p:nvSpPr>
        <p:spPr>
          <a:xfrm>
            <a:off x="667512" y="2478024"/>
            <a:ext cx="36484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20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140,000 hours already logged</a:t>
            </a:r>
            <a:endParaRPr lang="en-US"/>
          </a:p>
        </p:txBody>
      </p:sp>
      <p:sp>
        <p:nvSpPr>
          <p:cNvPr id="83" name="Google Shape;83;p7"/>
          <p:cNvSpPr/>
          <p:nvPr/>
        </p:nvSpPr>
        <p:spPr>
          <a:xfrm>
            <a:off x="4663440" y="1143000"/>
            <a:ext cx="3977640" cy="1737360"/>
          </a:xfrm>
          <a:prstGeom prst="rect">
            <a:avLst/>
          </a:prstGeom>
          <a:solidFill>
            <a:srgbClr val="F5F0E8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4828075" y="1234450"/>
            <a:ext cx="3813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ctr" anchorCtr="0">
            <a:noAutofit/>
          </a:bodyPr>
          <a:lstStyle/>
          <a:p>
            <a:r>
              <a:rPr lang="en-US" sz="4200" b="1" i="0" u="none" strike="noStrike" cap="none">
                <a:solidFill>
                  <a:srgbClr val="006649"/>
                </a:solidFill>
                <a:latin typeface="Georgia"/>
                <a:ea typeface="Georgia"/>
                <a:cs typeface="Georgia"/>
                <a:sym typeface="Georgia"/>
              </a:rPr>
              <a:t>$</a:t>
            </a:r>
            <a:r>
              <a:rPr lang="en-US" sz="4200" b="1">
                <a:solidFill>
                  <a:srgbClr val="006649"/>
                </a:solidFill>
                <a:latin typeface="Georgia"/>
                <a:ea typeface="Georgia"/>
                <a:cs typeface="Georgia"/>
                <a:sym typeface="Georgia"/>
              </a:rPr>
              <a:t>20/hr</a:t>
            </a:r>
            <a:endParaRPr lang="en-US"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85" name="Google Shape;85;p7"/>
          <p:cNvSpPr/>
          <p:nvPr/>
        </p:nvSpPr>
        <p:spPr>
          <a:xfrm>
            <a:off x="4886100" y="2057400"/>
            <a:ext cx="359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000" b="1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Employer-funded grants</a:t>
            </a:r>
            <a:endParaRPr lang="en-US">
              <a:sym typeface="Arial"/>
            </a:endParaRPr>
          </a:p>
          <a:p>
            <a:endParaRPr lang="en-US"/>
          </a:p>
        </p:txBody>
      </p:sp>
      <p:sp>
        <p:nvSpPr>
          <p:cNvPr id="86" name="Google Shape;86;p7"/>
          <p:cNvSpPr/>
          <p:nvPr/>
        </p:nvSpPr>
        <p:spPr>
          <a:xfrm>
            <a:off x="4828032" y="2478024"/>
            <a:ext cx="36484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20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Arrow’s published rate — volunteers pay $0</a:t>
            </a:r>
          </a:p>
        </p:txBody>
      </p:sp>
      <p:sp>
        <p:nvSpPr>
          <p:cNvPr id="87" name="Google Shape;87;p7"/>
          <p:cNvSpPr/>
          <p:nvPr/>
        </p:nvSpPr>
        <p:spPr>
          <a:xfrm>
            <a:off x="502920" y="2999232"/>
            <a:ext cx="3977640" cy="1737360"/>
          </a:xfrm>
          <a:prstGeom prst="rect">
            <a:avLst/>
          </a:prstGeom>
          <a:solidFill>
            <a:srgbClr val="F5F0E8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96550" y="3017525"/>
            <a:ext cx="3813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ctr" anchorCtr="0">
            <a:noAutofit/>
          </a:bodyPr>
          <a:lstStyle/>
          <a:p>
            <a:r>
              <a:rPr lang="en-US" sz="4200" b="1">
                <a:solidFill>
                  <a:srgbClr val="006649"/>
                </a:solidFill>
                <a:latin typeface="Georgia"/>
                <a:sym typeface="Georgia"/>
              </a:rPr>
              <a:t>$0</a:t>
            </a:r>
            <a:endParaRPr lang="en-US">
              <a:sym typeface="Georgia"/>
            </a:endParaRPr>
          </a:p>
          <a:p>
            <a:endParaRPr lang="en-US"/>
          </a:p>
        </p:txBody>
      </p:sp>
      <p:sp>
        <p:nvSpPr>
          <p:cNvPr id="89" name="Google Shape;89;p7"/>
          <p:cNvSpPr/>
          <p:nvPr/>
        </p:nvSpPr>
        <p:spPr>
          <a:xfrm>
            <a:off x="667500" y="3913625"/>
            <a:ext cx="36486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000" b="1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Asked of your volunteers</a:t>
            </a:r>
            <a:endParaRPr lang="en-US"/>
          </a:p>
        </p:txBody>
      </p:sp>
      <p:sp>
        <p:nvSpPr>
          <p:cNvPr id="90" name="Google Shape;90;p7"/>
          <p:cNvSpPr/>
          <p:nvPr/>
        </p:nvSpPr>
        <p:spPr>
          <a:xfrm>
            <a:off x="667512" y="4334256"/>
            <a:ext cx="36484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20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Employers fund the grants, not them</a:t>
            </a:r>
            <a:endParaRPr lang="en-US"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663440" y="2999232"/>
            <a:ext cx="3977640" cy="1737360"/>
          </a:xfrm>
          <a:prstGeom prst="rect">
            <a:avLst/>
          </a:prstGeom>
          <a:solidFill>
            <a:srgbClr val="F5F0E8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4828075" y="3090675"/>
            <a:ext cx="3813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ctr" anchorCtr="0">
            <a:noAutofit/>
          </a:bodyPr>
          <a:lstStyle/>
          <a:p>
            <a:r>
              <a:rPr lang="en-US" sz="4200" b="1">
                <a:solidFill>
                  <a:srgbClr val="006649"/>
                </a:solidFill>
                <a:latin typeface="Georgia"/>
                <a:sym typeface="Georgia"/>
              </a:rPr>
              <a:t>2×</a:t>
            </a:r>
            <a:endParaRPr lang="en-US">
              <a:sym typeface="Georgia"/>
            </a:endParaRPr>
          </a:p>
          <a:p>
            <a:endParaRPr lang="en-US"/>
          </a:p>
        </p:txBody>
      </p:sp>
      <p:sp>
        <p:nvSpPr>
          <p:cNvPr id="93" name="Google Shape;93;p7"/>
          <p:cNvSpPr/>
          <p:nvPr/>
        </p:nvSpPr>
        <p:spPr>
          <a:xfrm>
            <a:off x="4881130" y="3844051"/>
            <a:ext cx="35904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en-US" sz="2000" b="1">
              <a:solidFill>
                <a:srgbClr val="522C3A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2000" b="1">
              <a:solidFill>
                <a:srgbClr val="522C3A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2000" b="1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Match on existing donors</a:t>
            </a:r>
            <a:endParaRPr lang="en-US"/>
          </a:p>
          <a:p>
            <a:br>
              <a:rPr lang="en-US">
                <a:sym typeface="Arial"/>
              </a:rPr>
            </a:br>
            <a:endParaRPr lang="en-US"/>
          </a:p>
        </p:txBody>
      </p:sp>
      <p:sp>
        <p:nvSpPr>
          <p:cNvPr id="94" name="Google Shape;94;p7"/>
          <p:cNvSpPr/>
          <p:nvPr/>
        </p:nvSpPr>
        <p:spPr>
          <a:xfrm>
            <a:off x="4828032" y="4334256"/>
            <a:ext cx="36484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20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Employers double gifts already made</a:t>
            </a:r>
          </a:p>
        </p:txBody>
      </p:sp>
      <p:sp>
        <p:nvSpPr>
          <p:cNvPr id="95" name="Google Shape;95;p7"/>
          <p:cNvSpPr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100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~140,000 volunteer hours (68 FTE) per Food Bank of the Rockies FY2025  ·  Illustrative — Arrow pays $20/</a:t>
            </a:r>
            <a:r>
              <a:rPr lang="en-US" sz="1000" i="1" err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hr</a:t>
            </a:r>
            <a:r>
              <a:rPr lang="en-US" sz="100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  ·  pilot to confirm</a:t>
            </a:r>
            <a:r>
              <a:rPr lang="en-US" sz="1000" b="0" i="1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en-US"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6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Picture 97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buNone/>
            </a:pPr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As You Already Know</a:t>
            </a:r>
            <a:endParaRPr sz="3200" b="0"/>
          </a:p>
        </p:txBody>
      </p:sp>
      <p:sp>
        <p:nvSpPr>
          <p:cNvPr id="103" name="Bar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buNone/>
            </a:pPr>
            <a:endParaRPr/>
          </a:p>
        </p:txBody>
      </p:sp>
      <p:sp>
        <p:nvSpPr>
          <p:cNvPr id="104" name="Body"/>
          <p:cNvSpPr/>
          <p:nvPr/>
        </p:nvSpPr>
        <p:spPr>
          <a:xfrm>
            <a:off x="502920" y="1500000"/>
            <a:ext cx="8138160" cy="2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4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Workplace giving is low-hanging fruit</a:t>
            </a:r>
          </a:p>
          <a:p>
            <a:pPr>
              <a:spcAft>
                <a:spcPts val="1600"/>
              </a:spcAft>
            </a:pPr>
            <a:r>
              <a:rPr lang="en-US" sz="24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Already receiving through these platforms</a:t>
            </a:r>
            <a:r>
              <a:rPr lang="en-US" sz="2400">
                <a:solidFill>
                  <a:srgbClr val="522C3A"/>
                </a:solidFill>
              </a:rPr>
              <a:t> </a:t>
            </a:r>
            <a:endParaRPr lang="en-US" sz="2400" b="0" i="0" u="none" strike="noStrike" cap="none">
              <a:solidFill>
                <a:srgbClr val="522C3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The gap is activation, not awareness</a:t>
            </a:r>
          </a:p>
        </p:txBody>
      </p:sp>
      <p:sp>
        <p:nvSpPr>
          <p:cNvPr id="105" name="Closing"/>
          <p:cNvSpPr/>
          <p:nvPr/>
        </p:nvSpPr>
        <p:spPr>
          <a:xfrm>
            <a:off x="502920" y="4250000"/>
            <a:ext cx="813816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buNone/>
            </a:pPr>
            <a:r>
              <a:rPr lang="en-US" sz="1800" b="0" i="1" u="none" strike="noStrike" cap="none">
                <a:solidFill>
                  <a:srgbClr val="006649"/>
                </a:solidFill>
                <a:latin typeface="Georgia"/>
                <a:ea typeface="Georgia"/>
                <a:cs typeface="Georgia"/>
                <a:sym typeface="Georgia"/>
              </a:rPr>
              <a:t>So we built the missing piece — a play, and an owner.</a:t>
            </a:r>
            <a:endParaRPr sz="1800" b="0"/>
          </a:p>
        </p:txBody>
      </p:sp>
      <p:sp>
        <p:nvSpPr>
          <p:cNvPr id="106" name="PageNum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buNone/>
            </a:pPr>
            <a:r>
              <a:rPr lang="en-US" sz="900" b="0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7 / 16</a:t>
            </a:r>
          </a:p>
        </p:txBody>
      </p:sp>
      <p:pic>
        <p:nvPicPr>
          <p:cNvPr id="107" name="Picture 107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OrangeBar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buNone/>
            </a:pPr>
            <a:endParaRPr/>
          </a:p>
        </p:txBody>
      </p:sp>
      <p:sp>
        <p:nvSpPr>
          <p:cNvPr id="202" name="Label1"/>
          <p:cNvSpPr/>
          <p:nvPr/>
        </p:nvSpPr>
        <p:spPr>
          <a:xfrm>
            <a:off x="502920" y="1230000"/>
            <a:ext cx="2011680" cy="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Volunteer grants</a:t>
            </a:r>
            <a:endParaRPr sz="2000" b="0"/>
          </a:p>
        </p:txBody>
      </p:sp>
      <p:sp>
        <p:nvSpPr>
          <p:cNvPr id="203" name="Desc1"/>
          <p:cNvSpPr/>
          <p:nvPr/>
        </p:nvSpPr>
        <p:spPr>
          <a:xfrm>
            <a:off x="2606040" y="1230000"/>
            <a:ext cx="6126480" cy="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buNone/>
            </a:pPr>
            <a:r>
              <a:rPr lang="en-US" sz="16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Employers pay for staff volunteer hours</a:t>
            </a:r>
            <a:endParaRPr sz="1600" b="0"/>
          </a:p>
        </p:txBody>
      </p:sp>
      <p:sp>
        <p:nvSpPr>
          <p:cNvPr id="204" name="Divider1"/>
          <p:cNvSpPr/>
          <p:nvPr/>
        </p:nvSpPr>
        <p:spPr>
          <a:xfrm>
            <a:off x="502920" y="2090000"/>
            <a:ext cx="8138160" cy="27432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buNone/>
            </a:pPr>
            <a:endParaRPr/>
          </a:p>
        </p:txBody>
      </p:sp>
      <p:sp>
        <p:nvSpPr>
          <p:cNvPr id="205" name="Label2"/>
          <p:cNvSpPr/>
          <p:nvPr/>
        </p:nvSpPr>
        <p:spPr>
          <a:xfrm>
            <a:off x="502920" y="2230000"/>
            <a:ext cx="2011680" cy="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Donor matching</a:t>
            </a:r>
            <a:endParaRPr sz="2000" b="0"/>
          </a:p>
        </p:txBody>
      </p:sp>
      <p:sp>
        <p:nvSpPr>
          <p:cNvPr id="206" name="Desc2"/>
          <p:cNvSpPr/>
          <p:nvPr/>
        </p:nvSpPr>
        <p:spPr>
          <a:xfrm>
            <a:off x="2606040" y="2230000"/>
            <a:ext cx="6126480" cy="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buNone/>
            </a:pPr>
            <a:r>
              <a:rPr lang="en-US" sz="16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Employers double gifts staff already give</a:t>
            </a:r>
            <a:endParaRPr sz="1600" b="0"/>
          </a:p>
        </p:txBody>
      </p:sp>
      <p:sp>
        <p:nvSpPr>
          <p:cNvPr id="207" name="Divider2"/>
          <p:cNvSpPr/>
          <p:nvPr/>
        </p:nvSpPr>
        <p:spPr>
          <a:xfrm>
            <a:off x="502920" y="3090000"/>
            <a:ext cx="8138160" cy="27432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buNone/>
            </a:pPr>
            <a:endParaRPr/>
          </a:p>
        </p:txBody>
      </p:sp>
      <p:sp>
        <p:nvSpPr>
          <p:cNvPr id="208" name="Label3"/>
          <p:cNvSpPr/>
          <p:nvPr/>
        </p:nvSpPr>
        <p:spPr>
          <a:xfrm>
            <a:off x="502920" y="3230000"/>
            <a:ext cx="2011680" cy="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Arrow &amp; Prologis</a:t>
            </a:r>
            <a:endParaRPr sz="2000" b="0"/>
          </a:p>
        </p:txBody>
      </p:sp>
      <p:sp>
        <p:nvSpPr>
          <p:cNvPr id="209" name="Desc3"/>
          <p:cNvSpPr/>
          <p:nvPr/>
        </p:nvSpPr>
        <p:spPr>
          <a:xfrm>
            <a:off x="2606040" y="3230000"/>
            <a:ext cx="6126480" cy="7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buNone/>
            </a:pPr>
            <a:r>
              <a:rPr lang="en-US" sz="16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Denver employers already volunteering here</a:t>
            </a:r>
            <a:endParaRPr sz="1600" b="0"/>
          </a:p>
        </p:txBody>
      </p:sp>
      <p:sp>
        <p:nvSpPr>
          <p:cNvPr id="211" name="PageNum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buNone/>
            </a:pPr>
            <a:r>
              <a:rPr lang="en-US" sz="900" b="0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8 / 16</a:t>
            </a:r>
          </a:p>
        </p:txBody>
      </p:sp>
      <p:pic>
        <p:nvPicPr>
          <p:cNvPr id="212" name="Picture 212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61B4B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The Recommendation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4617720" y="1097280"/>
            <a:ext cx="36576" cy="3749040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502920" y="1069848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THE PLAY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02920" y="1417320"/>
            <a:ext cx="3886200" cy="324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2C3A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Win Arrow &amp; Prologis campaigns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522C3A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Reawaken donors with a match-finder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522C3A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Pilot volunteer grants with Arrow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846320" y="106984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THE ASK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846320" y="1417320"/>
            <a:ext cx="3931920" cy="324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2C3A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Name a workplace-giving lead by July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522C3A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Run it before fall enrollment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522C3A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•  Free tools first, paid tool later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9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Picture 140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WhoRunsI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itle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sz="3200" b="1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Who Runs It</a:t>
            </a:r>
            <a:endParaRPr sz="3200" b="0"/>
          </a:p>
        </p:txBody>
      </p:sp>
      <p:sp>
        <p:nvSpPr>
          <p:cNvPr id="401" name="Bar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10" name="L1"/>
          <p:cNvSpPr/>
          <p:nvPr/>
        </p:nvSpPr>
        <p:spPr>
          <a:xfrm>
            <a:off x="502920" y="1180000"/>
            <a:ext cx="2011680" cy="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The role</a:t>
            </a:r>
          </a:p>
        </p:txBody>
      </p:sp>
      <p:sp>
        <p:nvSpPr>
          <p:cNvPr id="411" name="D1"/>
          <p:cNvSpPr/>
          <p:nvPr/>
        </p:nvSpPr>
        <p:spPr>
          <a:xfrm>
            <a:off x="2606040" y="1180000"/>
            <a:ext cx="6126480" cy="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A part-time lead who owns workplace giving end to end</a:t>
            </a:r>
          </a:p>
        </p:txBody>
      </p:sp>
      <p:sp>
        <p:nvSpPr>
          <p:cNvPr id="412" name="Div1"/>
          <p:cNvSpPr/>
          <p:nvPr/>
        </p:nvSpPr>
        <p:spPr>
          <a:xfrm>
            <a:off x="502920" y="1820000"/>
            <a:ext cx="8138160" cy="27432"/>
          </a:xfrm>
          <a:prstGeom prst="rect">
            <a:avLst/>
          </a:prstGeom>
          <a:solidFill>
            <a:srgbClr val="D1C9BC"/>
          </a:solidFill>
          <a:ln w="12700">
            <a:solidFill>
              <a:srgbClr val="D1C9BC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20" name="L2"/>
          <p:cNvSpPr/>
          <p:nvPr/>
        </p:nvSpPr>
        <p:spPr>
          <a:xfrm>
            <a:off x="502920" y="1900000"/>
            <a:ext cx="2011680" cy="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What they do</a:t>
            </a:r>
          </a:p>
        </p:txBody>
      </p:sp>
      <p:sp>
        <p:nvSpPr>
          <p:cNvPr id="421" name="D2"/>
          <p:cNvSpPr/>
          <p:nvPr/>
        </p:nvSpPr>
        <p:spPr>
          <a:xfrm>
            <a:off x="2606040" y="1900000"/>
            <a:ext cx="6126480" cy="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Lead generation — find and sign employers with match and grant programs</a:t>
            </a:r>
          </a:p>
        </p:txBody>
      </p:sp>
      <p:sp>
        <p:nvSpPr>
          <p:cNvPr id="422" name="Div2"/>
          <p:cNvSpPr/>
          <p:nvPr/>
        </p:nvSpPr>
        <p:spPr>
          <a:xfrm>
            <a:off x="502920" y="2540000"/>
            <a:ext cx="8138160" cy="27432"/>
          </a:xfrm>
          <a:prstGeom prst="rect">
            <a:avLst/>
          </a:prstGeom>
          <a:solidFill>
            <a:srgbClr val="D1C9BC"/>
          </a:solidFill>
          <a:ln w="12700">
            <a:solidFill>
              <a:srgbClr val="D1C9BC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30" name="L3"/>
          <p:cNvSpPr/>
          <p:nvPr/>
        </p:nvSpPr>
        <p:spPr>
          <a:xfrm>
            <a:off x="502920" y="2620000"/>
            <a:ext cx="2011680" cy="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Start, then grow</a:t>
            </a:r>
          </a:p>
        </p:txBody>
      </p:sp>
      <p:sp>
        <p:nvSpPr>
          <p:cNvPr id="431" name="D3"/>
          <p:cNvSpPr/>
          <p:nvPr/>
        </p:nvSpPr>
        <p:spPr>
          <a:xfrm>
            <a:off x="2606040" y="2620000"/>
            <a:ext cx="6126480" cy="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Anchor with Arrow &amp; Prologis; grow into smaller companies without giving platforms</a:t>
            </a:r>
          </a:p>
        </p:txBody>
      </p:sp>
      <p:sp>
        <p:nvSpPr>
          <p:cNvPr id="432" name="Div3"/>
          <p:cNvSpPr/>
          <p:nvPr/>
        </p:nvSpPr>
        <p:spPr>
          <a:xfrm>
            <a:off x="502920" y="3260000"/>
            <a:ext cx="8138160" cy="27432"/>
          </a:xfrm>
          <a:prstGeom prst="rect">
            <a:avLst/>
          </a:prstGeom>
          <a:solidFill>
            <a:srgbClr val="D1C9BC"/>
          </a:solidFill>
          <a:ln w="12700">
            <a:solidFill>
              <a:srgbClr val="D1C9BC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40" name="L4"/>
          <p:cNvSpPr/>
          <p:nvPr/>
        </p:nvSpPr>
        <p:spPr>
          <a:xfrm>
            <a:off x="502920" y="3340000"/>
            <a:ext cx="2011680" cy="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2000" b="1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The hire</a:t>
            </a:r>
          </a:p>
        </p:txBody>
      </p:sp>
      <p:sp>
        <p:nvSpPr>
          <p:cNvPr id="441" name="D4"/>
          <p:cNvSpPr/>
          <p:nvPr/>
        </p:nvSpPr>
        <p:spPr>
          <a:xfrm>
            <a:off x="2606040" y="3340000"/>
            <a:ext cx="6126480" cy="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1600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Experienced in corporate giving — not a green intern</a:t>
            </a:r>
          </a:p>
        </p:txBody>
      </p:sp>
      <p:sp>
        <p:nvSpPr>
          <p:cNvPr id="450" name="Closing"/>
          <p:cNvSpPr/>
          <p:nvPr/>
        </p:nvSpPr>
        <p:spPr>
          <a:xfrm>
            <a:off x="502920" y="4150000"/>
            <a:ext cx="8138160" cy="5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1500" i="1">
                <a:solidFill>
                  <a:srgbClr val="006649"/>
                </a:solidFill>
                <a:latin typeface="Georgia"/>
                <a:ea typeface="Georgia"/>
                <a:cs typeface="Georgia"/>
                <a:sym typeface="Georgia"/>
              </a:rPr>
              <a:t>It’s a pipeline: every new employer feeds more neighbors.</a:t>
            </a:r>
          </a:p>
        </p:txBody>
      </p:sp>
      <p:sp>
        <p:nvSpPr>
          <p:cNvPr id="460" name="PageNum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</a:pPr>
            <a:r>
              <a:rPr lang="en-US" sz="900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10 / 16</a:t>
            </a:r>
          </a:p>
        </p:txBody>
      </p:sp>
      <p:pic>
        <p:nvPicPr>
          <p:cNvPr id="461" name="Picture 461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24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Investmen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itle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3200" b="1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An Investment, Not a Cost</a:t>
            </a:r>
          </a:p>
        </p:txBody>
      </p:sp>
      <p:sp>
        <p:nvSpPr>
          <p:cNvPr id="501" name="Bar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>
            <a:solidFill>
              <a:srgbClr val="006649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10" name="Num1"/>
          <p:cNvSpPr/>
          <p:nvPr/>
        </p:nvSpPr>
        <p:spPr>
          <a:xfrm>
            <a:off x="502920" y="1280000"/>
            <a:ext cx="3900000" cy="9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6000" b="1">
                <a:solidFill>
                  <a:srgbClr val="522C3A"/>
                </a:solidFill>
                <a:latin typeface="Georgia"/>
                <a:ea typeface="Georgia"/>
                <a:cs typeface="Georgia"/>
                <a:sym typeface="Georgia"/>
              </a:rPr>
              <a:t>30–50¢</a:t>
            </a:r>
          </a:p>
        </p:txBody>
      </p:sp>
      <p:sp>
        <p:nvSpPr>
          <p:cNvPr id="511" name="Lbl1"/>
          <p:cNvSpPr/>
          <p:nvPr/>
        </p:nvSpPr>
        <p:spPr>
          <a:xfrm>
            <a:off x="502920" y="2230000"/>
            <a:ext cx="3900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Events — cost per $1 raised</a:t>
            </a:r>
          </a:p>
        </p:txBody>
      </p:sp>
      <p:sp>
        <p:nvSpPr>
          <p:cNvPr id="512" name="Cap1"/>
          <p:cNvSpPr/>
          <p:nvPr/>
        </p:nvSpPr>
        <p:spPr>
          <a:xfrm>
            <a:off x="502920" y="268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30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the Food Bank’s own figure</a:t>
            </a:r>
          </a:p>
        </p:txBody>
      </p:sp>
      <p:sp>
        <p:nvSpPr>
          <p:cNvPr id="520" name="Num2"/>
          <p:cNvSpPr/>
          <p:nvPr/>
        </p:nvSpPr>
        <p:spPr>
          <a:xfrm>
            <a:off x="4740000" y="1280000"/>
            <a:ext cx="3900000" cy="9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6000" b="1">
                <a:solidFill>
                  <a:srgbClr val="006649"/>
                </a:solidFill>
                <a:latin typeface="Georgia"/>
                <a:ea typeface="Georgia"/>
                <a:cs typeface="Georgia"/>
                <a:sym typeface="Georgia"/>
              </a:rPr>
              <a:t>~4¢</a:t>
            </a:r>
          </a:p>
        </p:txBody>
      </p:sp>
      <p:sp>
        <p:nvSpPr>
          <p:cNvPr id="521" name="Lbl2"/>
          <p:cNvSpPr/>
          <p:nvPr/>
        </p:nvSpPr>
        <p:spPr>
          <a:xfrm>
            <a:off x="4740000" y="2230000"/>
            <a:ext cx="3900000" cy="4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800" b="1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A giving owner — per $1, at scale</a:t>
            </a:r>
          </a:p>
        </p:txBody>
      </p:sp>
      <p:sp>
        <p:nvSpPr>
          <p:cNvPr id="522" name="Cap2"/>
          <p:cNvSpPr/>
          <p:nvPr/>
        </p:nvSpPr>
        <p:spPr>
          <a:xfrm>
            <a:off x="4740000" y="2680000"/>
            <a:ext cx="3900000" cy="4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130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~$80K salary vs $2–3M raised</a:t>
            </a:r>
          </a:p>
        </p:txBody>
      </p:sp>
      <p:sp>
        <p:nvSpPr>
          <p:cNvPr id="530" name="Div"/>
          <p:cNvSpPr/>
          <p:nvPr/>
        </p:nvSpPr>
        <p:spPr>
          <a:xfrm>
            <a:off x="502920" y="3260000"/>
            <a:ext cx="8138160" cy="27432"/>
          </a:xfrm>
          <a:prstGeom prst="rect">
            <a:avLst/>
          </a:prstGeom>
          <a:solidFill>
            <a:srgbClr val="D1C9BC"/>
          </a:solidFill>
          <a:ln w="12700">
            <a:solidFill>
              <a:srgbClr val="D1C9BC"/>
            </a:solidFill>
          </a:ln>
        </p:spPr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540" name="Return"/>
          <p:cNvSpPr/>
          <p:nvPr/>
        </p:nvSpPr>
        <p:spPr>
          <a:xfrm>
            <a:off x="502920" y="3380000"/>
            <a:ext cx="8138160" cy="7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1700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Even a conservative lift returns ~4× the salary — and unlike events, it renews every year.</a:t>
            </a:r>
          </a:p>
        </p:txBody>
      </p:sp>
      <p:sp>
        <p:nvSpPr>
          <p:cNvPr id="560" name="PageNum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</a:pPr>
            <a:r>
              <a:rPr lang="en-US" sz="900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11 / 16</a:t>
            </a:r>
          </a:p>
        </p:txBody>
      </p:sp>
      <p:sp>
        <p:nvSpPr>
          <p:cNvPr id="570" name="Source"/>
          <p:cNvSpPr/>
          <p:nvPr/>
        </p:nvSpPr>
        <p:spPr>
          <a:xfrm>
            <a:off x="502920" y="4800000"/>
            <a:ext cx="7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r>
              <a:rPr lang="en-US" sz="85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Sources: Food Bank of the Rockies guest session (events 30–50¢/$1; $1.5M of $31M); Denver nonprofit salary, ZipRecruiter / </a:t>
            </a:r>
            <a:r>
              <a:rPr lang="en-US" sz="850" i="1" err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Salary.com</a:t>
            </a:r>
            <a:r>
              <a:rPr lang="en-US" sz="850" i="1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 2026.</a:t>
            </a:r>
          </a:p>
        </p:txBody>
      </p:sp>
      <p:pic>
        <p:nvPicPr>
          <p:cNvPr id="571" name="Picture 571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33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61B4B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The First 90 Days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502920" y="11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1. Capture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2606040" y="118872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2C3A"/>
              </a:buClr>
              <a:buSzPts val="2000"/>
              <a:buFont typeface="Arial"/>
              <a:buNone/>
            </a:pPr>
            <a:r>
              <a:rPr lang="en-US" sz="16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Add employer at check-in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02920" y="1755648"/>
            <a:ext cx="8138160" cy="27432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502920" y="20116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2. Remind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2606040" y="201168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2C3A"/>
              </a:buClr>
              <a:buSzPts val="2000"/>
              <a:buFont typeface="Arial"/>
              <a:buNone/>
            </a:pPr>
            <a:r>
              <a:rPr lang="en-US" sz="16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Auto-email the grant claim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02920" y="2578608"/>
            <a:ext cx="8138160" cy="27432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502920" y="28346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3. Match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2606040" y="283464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2C3A"/>
              </a:buClr>
              <a:buSzPts val="2000"/>
              <a:buFont typeface="Arial"/>
              <a:buNone/>
            </a:pPr>
            <a:r>
              <a:rPr lang="en-US" sz="16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Match-finder on donate page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02920" y="3401568"/>
            <a:ext cx="8138160" cy="27432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02920" y="3657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4. Finish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2606040" y="36576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2C3A"/>
              </a:buClr>
              <a:buSzPts val="2000"/>
              <a:buFont typeface="Arial"/>
              <a:buNone/>
            </a:pPr>
            <a:r>
              <a:rPr lang="en-US" sz="16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Complete the platform profiles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02920" y="4480560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1500"/>
              <a:buFont typeface="Georgia"/>
              <a:buNone/>
            </a:pPr>
            <a:r>
              <a:rPr lang="en-US" sz="1500" b="0" i="1" u="none" strike="noStrike" cap="none">
                <a:solidFill>
                  <a:srgbClr val="006649"/>
                </a:solidFill>
                <a:latin typeface="Georgia"/>
                <a:ea typeface="Georgia"/>
                <a:cs typeface="Georgia"/>
                <a:sym typeface="Georgia"/>
              </a:rPr>
              <a:t>Most cost nothing; start now.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12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Picture 160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56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/>
          <p:nvPr/>
        </p:nvSpPr>
        <p:spPr>
          <a:xfrm>
            <a:off x="502920" y="347472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61B4B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Summary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502920" y="987552"/>
            <a:ext cx="8138160" cy="50292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502920" y="118872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The Situation: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2606040" y="118872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22C3A"/>
              </a:buClr>
              <a:buSzPts val="2000"/>
            </a:pPr>
            <a:r>
              <a:rPr lang="en-US" sz="2000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298,000 lose SNAP by 2027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02920" y="1755648"/>
            <a:ext cx="8138160" cy="27432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502920" y="20116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The Problem: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2606040" y="201168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2C3A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$1.5M of $31M, no strategy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02920" y="2578608"/>
            <a:ext cx="8138160" cy="27432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502920" y="28346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The Plan: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2606040" y="283464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Name a lead, run the play</a:t>
            </a:r>
            <a:endParaRPr lang="en-US"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02920" y="3401568"/>
            <a:ext cx="8138160" cy="27432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02920" y="36576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6649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6649"/>
                </a:solidFill>
                <a:latin typeface="Arial"/>
                <a:ea typeface="Arial"/>
                <a:cs typeface="Arial"/>
                <a:sym typeface="Arial"/>
              </a:rPr>
              <a:t>The Goal: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2606040" y="365760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2000" b="0" i="0" u="none" strike="noStrike" cap="none">
                <a:solidFill>
                  <a:srgbClr val="522C3A"/>
                </a:solidFill>
                <a:latin typeface="Arial"/>
                <a:ea typeface="Arial"/>
                <a:cs typeface="Arial"/>
                <a:sym typeface="Arial"/>
              </a:rPr>
              <a:t>Prove with Arrow, then scale</a:t>
            </a:r>
            <a:endParaRPr lang="en-US"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13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Picture 160" descr="logo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1B4B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7726680" y="0"/>
            <a:ext cx="1417320" cy="5143500"/>
          </a:xfrm>
          <a:prstGeom prst="rect">
            <a:avLst/>
          </a:prstGeom>
          <a:solidFill>
            <a:srgbClr val="6E1530"/>
          </a:solidFill>
          <a:ln w="12700" cap="flat" cmpd="sng">
            <a:solidFill>
              <a:srgbClr val="6E1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7699248" y="0"/>
            <a:ext cx="50292" cy="5143500"/>
          </a:xfrm>
          <a:prstGeom prst="rect">
            <a:avLst/>
          </a:prstGeom>
          <a:solidFill>
            <a:srgbClr val="F2E4B1"/>
          </a:solidFill>
          <a:ln w="12700" cap="flat" cmpd="sng">
            <a:solidFill>
              <a:srgbClr val="F2E4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502920" y="475488"/>
            <a:ext cx="7040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FOOD BANK OF THE ROCKIES  ·  INTERNAL STRATEGY SESSION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502920" y="1005840"/>
            <a:ext cx="68580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Georgia"/>
              <a:buNone/>
            </a:pPr>
            <a:r>
              <a:rPr lang="en-US" sz="5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You.</a:t>
            </a:r>
            <a:endParaRPr sz="5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502920" y="2331720"/>
            <a:ext cx="3840480" cy="50292"/>
          </a:xfrm>
          <a:prstGeom prst="rect">
            <a:avLst/>
          </a:prstGeom>
          <a:solidFill>
            <a:srgbClr val="F2E4B1"/>
          </a:solidFill>
          <a:ln w="12700" cap="flat" cmpd="sng">
            <a:solidFill>
              <a:srgbClr val="F2E4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502920" y="251460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2400"/>
              <a:buFont typeface="Georgia"/>
              <a:buNone/>
            </a:pPr>
            <a:r>
              <a:rPr lang="en-US" sz="2400" b="1" i="0" u="none" strike="noStrike" cap="none">
                <a:solidFill>
                  <a:srgbClr val="F2E4B1"/>
                </a:solidFill>
                <a:latin typeface="Georgia"/>
                <a:ea typeface="Georgia"/>
                <a:cs typeface="Georgia"/>
                <a:sym typeface="Georgia"/>
              </a:rPr>
              <a:t>Assign. Activate. Authorize.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02920" y="315468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Daniels College of Business  ·  University of Denver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502920" y="4526280"/>
            <a:ext cx="7178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1530"/>
              </a:buClr>
              <a:buSzPts val="900"/>
              <a:buFont typeface="Arial"/>
              <a:buNone/>
            </a:pPr>
            <a:r>
              <a:rPr lang="en-US" sz="900" b="0" i="1" u="none" strike="noStrike" cap="none">
                <a:solidFill>
                  <a:srgbClr val="6E1530"/>
                </a:solidFill>
                <a:latin typeface="Arial"/>
                <a:ea typeface="Arial"/>
                <a:cs typeface="Arial"/>
                <a:sym typeface="Arial"/>
              </a:rPr>
              <a:t>Sources: Colorado Newsline (May 1, 2026)  ·  Food Bank of the Rockies FY2025 Annual Report  ·  Food Bank of the Rockies Guest Speaker Session (May 13, 2026)  ·  ColoradoGives Foundation  ·  9News Colorado  ·  Double the Donation / 360MatchPro  ·  Millie (millie.com)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14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Picture 17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/>
          <p:nvPr/>
        </p:nvSpPr>
        <p:spPr>
          <a:xfrm>
            <a:off x="502920" y="347472"/>
            <a:ext cx="8138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61B4B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The Team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02920" y="987552"/>
            <a:ext cx="8138100" cy="50400"/>
          </a:xfrm>
          <a:prstGeom prst="rect">
            <a:avLst/>
          </a:prstGeom>
          <a:solidFill>
            <a:srgbClr val="006649"/>
          </a:solidFill>
          <a:ln w="12700" cap="flat" cmpd="sng">
            <a:solidFill>
              <a:srgbClr val="0066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503000" y="1275238"/>
            <a:ext cx="1212000" cy="1652100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502925" y="1275238"/>
            <a:ext cx="1212000" cy="16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-55825" y="3183075"/>
            <a:ext cx="2329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61B4B"/>
              </a:buClr>
              <a:buSzPts val="2600"/>
              <a:buFont typeface="Georgia"/>
              <a:buNone/>
            </a:pPr>
            <a:r>
              <a:rPr lang="en-US" b="1" i="0" u="none" strike="noStrike" cap="none">
                <a:solidFill>
                  <a:srgbClr val="961B4B"/>
                </a:solidFill>
                <a:latin typeface="Georgia"/>
                <a:ea typeface="Georgia"/>
                <a:cs typeface="Georgia"/>
                <a:sym typeface="Georgia"/>
              </a:rPr>
              <a:t>Alex Claunch</a:t>
            </a:r>
            <a:endParaRPr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03000" y="3366075"/>
            <a:ext cx="13893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4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BSBA Marketing, Minoring in BIA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4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Leadership in Sigma Chi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4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Chess Club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4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Outdoor Enthusiast</a:t>
            </a: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8321040" y="4892040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15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2234575" y="1275238"/>
            <a:ext cx="1212000" cy="1652100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2234500" y="1275238"/>
            <a:ext cx="1212000" cy="16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3966075" y="1275238"/>
            <a:ext cx="1212000" cy="1652100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3966000" y="1275238"/>
            <a:ext cx="1212000" cy="16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5697600" y="1256788"/>
            <a:ext cx="1212000" cy="1652100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5697525" y="1256788"/>
            <a:ext cx="1212000" cy="16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7429075" y="1275238"/>
            <a:ext cx="1212000" cy="1652100"/>
          </a:xfrm>
          <a:prstGeom prst="rect">
            <a:avLst/>
          </a:prstGeom>
          <a:solidFill>
            <a:srgbClr val="D1C9BC"/>
          </a:solidFill>
          <a:ln w="12700" cap="flat" cmpd="sng">
            <a:solidFill>
              <a:srgbClr val="D1C9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7429075" y="1275238"/>
            <a:ext cx="1212000" cy="16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F7C7C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6F7C7C"/>
                </a:solidFill>
                <a:latin typeface="Arial"/>
                <a:ea typeface="Arial"/>
                <a:cs typeface="Arial"/>
                <a:sym typeface="Arial"/>
              </a:rPr>
              <a:t>[ Photo ]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83;p12">
            <a:extLst>
              <a:ext uri="{FF2B5EF4-FFF2-40B4-BE49-F238E27FC236}">
                <a16:creationId xmlns:a16="http://schemas.microsoft.com/office/drawing/2014/main" id="{49FACC6A-CB19-F84E-5FB0-43DB2FB620FE}"/>
              </a:ext>
            </a:extLst>
          </p:cNvPr>
          <p:cNvSpPr/>
          <p:nvPr/>
        </p:nvSpPr>
        <p:spPr>
          <a:xfrm>
            <a:off x="1637310" y="3183075"/>
            <a:ext cx="2329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b="1">
                <a:solidFill>
                  <a:srgbClr val="961B4B"/>
                </a:solidFill>
                <a:latin typeface="Georgia"/>
                <a:sym typeface="Georgia"/>
              </a:rPr>
              <a:t>Maria </a:t>
            </a:r>
            <a:r>
              <a:rPr lang="en-US" b="1" err="1">
                <a:solidFill>
                  <a:srgbClr val="961B4B"/>
                </a:solidFill>
                <a:latin typeface="Georgia"/>
                <a:sym typeface="Georgia"/>
              </a:rPr>
              <a:t>DelMonte</a:t>
            </a:r>
            <a:endParaRPr lang="en-US" err="1"/>
          </a:p>
        </p:txBody>
      </p:sp>
      <p:sp>
        <p:nvSpPr>
          <p:cNvPr id="4" name="Google Shape;184;p12">
            <a:extLst>
              <a:ext uri="{FF2B5EF4-FFF2-40B4-BE49-F238E27FC236}">
                <a16:creationId xmlns:a16="http://schemas.microsoft.com/office/drawing/2014/main" id="{61927655-5F9B-59CC-3DD5-89B6562EF28B}"/>
              </a:ext>
            </a:extLst>
          </p:cNvPr>
          <p:cNvSpPr/>
          <p:nvPr/>
        </p:nvSpPr>
        <p:spPr>
          <a:xfrm>
            <a:off x="2105336" y="3366075"/>
            <a:ext cx="13893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F7C7C"/>
              </a:buCl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 Estate and Built Environment, </a:t>
            </a: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Minoring in Management</a:t>
            </a: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buClr>
                <a:srgbClr val="6F7C7C"/>
              </a:buCl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D1 Athlete- Swim and Dive team</a:t>
            </a:r>
            <a:endParaRPr lang="en-US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Google Shape;183;p12">
            <a:extLst>
              <a:ext uri="{FF2B5EF4-FFF2-40B4-BE49-F238E27FC236}">
                <a16:creationId xmlns:a16="http://schemas.microsoft.com/office/drawing/2014/main" id="{32365A25-B1B6-86A1-B9A8-AD336719AAEE}"/>
              </a:ext>
            </a:extLst>
          </p:cNvPr>
          <p:cNvSpPr/>
          <p:nvPr/>
        </p:nvSpPr>
        <p:spPr>
          <a:xfrm>
            <a:off x="3430637" y="3176506"/>
            <a:ext cx="2329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b="1">
                <a:solidFill>
                  <a:srgbClr val="961B4B"/>
                </a:solidFill>
                <a:latin typeface="Georgia"/>
                <a:sym typeface="Georgia"/>
              </a:rPr>
              <a:t>Nadia Marciniak</a:t>
            </a:r>
            <a:endParaRPr lang="en-US"/>
          </a:p>
        </p:txBody>
      </p:sp>
      <p:sp>
        <p:nvSpPr>
          <p:cNvPr id="5" name="Google Shape;184;p12">
            <a:extLst>
              <a:ext uri="{FF2B5EF4-FFF2-40B4-BE49-F238E27FC236}">
                <a16:creationId xmlns:a16="http://schemas.microsoft.com/office/drawing/2014/main" id="{9C9CB917-7BF3-ECB9-5C52-44644AE00718}"/>
              </a:ext>
            </a:extLst>
          </p:cNvPr>
          <p:cNvSpPr/>
          <p:nvPr/>
        </p:nvSpPr>
        <p:spPr>
          <a:xfrm>
            <a:off x="3898663" y="3359506"/>
            <a:ext cx="13893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F7C7C"/>
              </a:buCl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BSBA Hospitality Management</a:t>
            </a: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Figure Skating Club</a:t>
            </a: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LEAD Mentorship Program</a:t>
            </a: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Fritz Ambassadors</a:t>
            </a:r>
          </a:p>
        </p:txBody>
      </p:sp>
      <p:sp>
        <p:nvSpPr>
          <p:cNvPr id="6" name="Google Shape;183;p12">
            <a:extLst>
              <a:ext uri="{FF2B5EF4-FFF2-40B4-BE49-F238E27FC236}">
                <a16:creationId xmlns:a16="http://schemas.microsoft.com/office/drawing/2014/main" id="{8A919F56-5173-CFEF-3F91-3573C152429C}"/>
              </a:ext>
            </a:extLst>
          </p:cNvPr>
          <p:cNvSpPr/>
          <p:nvPr/>
        </p:nvSpPr>
        <p:spPr>
          <a:xfrm>
            <a:off x="5097513" y="3176506"/>
            <a:ext cx="2329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b="1">
                <a:solidFill>
                  <a:srgbClr val="961B4B"/>
                </a:solidFill>
                <a:latin typeface="Georgia"/>
              </a:rPr>
              <a:t>Lucia Marquez</a:t>
            </a:r>
          </a:p>
        </p:txBody>
      </p:sp>
      <p:pic>
        <p:nvPicPr>
          <p:cNvPr id="8" name="Picture 7" descr="A person smiling at camera  AI-generated content may be incorrect.">
            <a:extLst>
              <a:ext uri="{FF2B5EF4-FFF2-40B4-BE49-F238E27FC236}">
                <a16:creationId xmlns:a16="http://schemas.microsoft.com/office/drawing/2014/main" id="{3348D896-BD3D-89DC-6D97-6432CE760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" t="304" r="644" b="12983"/>
          <a:stretch>
            <a:fillRect/>
          </a:stretch>
        </p:blipFill>
        <p:spPr>
          <a:xfrm>
            <a:off x="3962961" y="1261819"/>
            <a:ext cx="1233596" cy="1673182"/>
          </a:xfrm>
          <a:prstGeom prst="rect">
            <a:avLst/>
          </a:prstGeom>
        </p:spPr>
      </p:pic>
      <p:sp>
        <p:nvSpPr>
          <p:cNvPr id="7" name="Google Shape;183;p12">
            <a:extLst>
              <a:ext uri="{FF2B5EF4-FFF2-40B4-BE49-F238E27FC236}">
                <a16:creationId xmlns:a16="http://schemas.microsoft.com/office/drawing/2014/main" id="{5084233C-5395-6E99-355D-0FA23B17C8B8}"/>
              </a:ext>
            </a:extLst>
          </p:cNvPr>
          <p:cNvSpPr/>
          <p:nvPr/>
        </p:nvSpPr>
        <p:spPr>
          <a:xfrm>
            <a:off x="6813061" y="3188518"/>
            <a:ext cx="2329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b="1">
                <a:solidFill>
                  <a:srgbClr val="961B4B"/>
                </a:solidFill>
                <a:latin typeface="Georgia"/>
                <a:sym typeface="Georgia"/>
              </a:rPr>
              <a:t>Fletcher Roberts</a:t>
            </a:r>
            <a:endParaRPr lang="en-US"/>
          </a:p>
        </p:txBody>
      </p:sp>
      <p:sp>
        <p:nvSpPr>
          <p:cNvPr id="9" name="Google Shape;184;p12">
            <a:extLst>
              <a:ext uri="{FF2B5EF4-FFF2-40B4-BE49-F238E27FC236}">
                <a16:creationId xmlns:a16="http://schemas.microsoft.com/office/drawing/2014/main" id="{AA900212-D71D-D78C-F699-539A3FE5F5D1}"/>
              </a:ext>
            </a:extLst>
          </p:cNvPr>
          <p:cNvSpPr/>
          <p:nvPr/>
        </p:nvSpPr>
        <p:spPr>
          <a:xfrm>
            <a:off x="7426314" y="3262660"/>
            <a:ext cx="13893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F7C7C"/>
              </a:buCl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BSBA Business Information Analytics, </a:t>
            </a: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buClr>
                <a:srgbClr val="6F7C7C"/>
              </a:buClr>
              <a:buSzPts val="1400"/>
              <a:buFont typeface="Arial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Minor in Finance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Alpine Club</a:t>
            </a: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6F7C7C"/>
              </a:buCl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Finance Club</a:t>
            </a:r>
            <a:endParaRPr lang="en-US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Google Shape;184;p12">
            <a:extLst>
              <a:ext uri="{FF2B5EF4-FFF2-40B4-BE49-F238E27FC236}">
                <a16:creationId xmlns:a16="http://schemas.microsoft.com/office/drawing/2014/main" id="{9F77A490-76CD-8136-AE0E-599389F2D4A2}"/>
              </a:ext>
            </a:extLst>
          </p:cNvPr>
          <p:cNvSpPr/>
          <p:nvPr/>
        </p:nvSpPr>
        <p:spPr>
          <a:xfrm>
            <a:off x="5700475" y="3526192"/>
            <a:ext cx="1389300" cy="14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6F7C7C"/>
              </a:buClr>
              <a:buSzPts val="1400"/>
            </a:pP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BS in Accounting </a:t>
            </a: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Minoring in Business Analytics </a:t>
            </a: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Treasurer in Pi Lambda Chi</a:t>
            </a:r>
          </a:p>
          <a:p>
            <a:pPr>
              <a:buSzPts val="1400"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</a:rPr>
              <a:t>ALPHA Member </a:t>
            </a:r>
          </a:p>
          <a:p>
            <a:pPr>
              <a:buSzPts val="1400"/>
            </a:pP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buSzPts val="1400"/>
            </a:pP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buSzPts val="1400"/>
            </a:pP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>
              <a:buSzPts val="1400"/>
            </a:pPr>
            <a:endParaRPr lang="en-US" sz="12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5B7F90-5533-971E-6A3F-D22F3E9E2E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4812" t="-414" r="78" b="-25084"/>
          <a:stretch>
            <a:fillRect/>
          </a:stretch>
        </p:blipFill>
        <p:spPr>
          <a:xfrm>
            <a:off x="2046032" y="1280684"/>
            <a:ext cx="1392236" cy="2059638"/>
          </a:xfrm>
          <a:prstGeom prst="rect">
            <a:avLst/>
          </a:prstGeom>
        </p:spPr>
      </p:pic>
      <p:pic>
        <p:nvPicPr>
          <p:cNvPr id="10" name="Picture 9" descr="A person in a suit and tie  AI-generated content may be incorrect.">
            <a:extLst>
              <a:ext uri="{FF2B5EF4-FFF2-40B4-BE49-F238E27FC236}">
                <a16:creationId xmlns:a16="http://schemas.microsoft.com/office/drawing/2014/main" id="{74FD7DC3-B130-370D-CBEF-32F79FEB1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0166" y="1268186"/>
            <a:ext cx="1304951" cy="1670958"/>
          </a:xfrm>
          <a:prstGeom prst="rect">
            <a:avLst/>
          </a:prstGeom>
        </p:spPr>
      </p:pic>
      <p:pic>
        <p:nvPicPr>
          <p:cNvPr id="13" name="Picture 12" descr="A child in a suit and tie  AI-generated content may be incorrect.">
            <a:extLst>
              <a:ext uri="{FF2B5EF4-FFF2-40B4-BE49-F238E27FC236}">
                <a16:creationId xmlns:a16="http://schemas.microsoft.com/office/drawing/2014/main" id="{30B20651-046E-842C-3E84-F54EA1FC9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28" y="1257299"/>
            <a:ext cx="1424333" cy="17443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EC849A-A58F-CB6E-C2DF-E16F44682B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647" y="1233757"/>
            <a:ext cx="1298954" cy="1687543"/>
          </a:xfrm>
          <a:prstGeom prst="rect">
            <a:avLst/>
          </a:prstGeom>
        </p:spPr>
      </p:pic>
      <p:pic>
        <p:nvPicPr>
          <p:cNvPr id="194" name="Picture 194" descr="logo_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61B4B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/>
          <p:nvPr/>
        </p:nvSpPr>
        <p:spPr>
          <a:xfrm>
            <a:off x="7726680" y="0"/>
            <a:ext cx="1417320" cy="5143500"/>
          </a:xfrm>
          <a:prstGeom prst="rect">
            <a:avLst/>
          </a:prstGeom>
          <a:solidFill>
            <a:srgbClr val="6E1530"/>
          </a:solidFill>
          <a:ln w="12700" cap="flat" cmpd="sng">
            <a:solidFill>
              <a:srgbClr val="6E15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"/>
          <p:cNvSpPr/>
          <p:nvPr/>
        </p:nvSpPr>
        <p:spPr>
          <a:xfrm>
            <a:off x="7699248" y="0"/>
            <a:ext cx="50292" cy="5143500"/>
          </a:xfrm>
          <a:prstGeom prst="rect">
            <a:avLst/>
          </a:prstGeom>
          <a:solidFill>
            <a:srgbClr val="F2E4B1"/>
          </a:solidFill>
          <a:ln w="12700" cap="flat" cmpd="sng">
            <a:solidFill>
              <a:srgbClr val="F2E4B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3"/>
          <p:cNvSpPr/>
          <p:nvPr/>
        </p:nvSpPr>
        <p:spPr>
          <a:xfrm>
            <a:off x="502920" y="41148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02920" y="822960"/>
            <a:ext cx="68580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sz="5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02920" y="22402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2000"/>
              <a:buFont typeface="Georgia"/>
              <a:buNone/>
            </a:pPr>
            <a:r>
              <a:rPr lang="en-US" sz="2000" b="0" i="1" u="none" strike="noStrike" cap="none">
                <a:solidFill>
                  <a:srgbClr val="F2E4B1"/>
                </a:solidFill>
                <a:latin typeface="Georgia"/>
                <a:ea typeface="Georgia"/>
                <a:cs typeface="Georgia"/>
                <a:sym typeface="Georgia"/>
              </a:rPr>
              <a:t>5 minutes — we welcome your pushback.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02920" y="466344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alex.claunch@du.edu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2E4B1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2E4B1"/>
                </a:solidFill>
                <a:latin typeface="Arial"/>
                <a:ea typeface="Arial"/>
                <a:cs typeface="Arial"/>
                <a:sym typeface="Arial"/>
              </a:rPr>
              <a:t>16 / 16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Picture 206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50000"/>
            <a:ext cx="1234440" cy="2779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2043</Words>
  <Application>Microsoft Macintosh PowerPoint</Application>
  <PresentationFormat>On-screen Show (16:9)</PresentationFormat>
  <Paragraphs>275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 Claunch</cp:lastModifiedBy>
  <cp:revision>4</cp:revision>
  <dcterms:modified xsi:type="dcterms:W3CDTF">2026-06-03T19:39:40Z</dcterms:modified>
</cp:coreProperties>
</file>